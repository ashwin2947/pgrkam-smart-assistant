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19F1827-E80C-4683-8062-0652B03CA6A6}">
  <a:tblStyle styleId="{D19F1827-E80C-4683-8062-0652B03CA6A6}" styleName="Table_0">
    <a:wholeTbl>
      <a:tcTxStyle b="off" i="off">
        <a:font>
          <a:latin typeface="Bookman Old Style"/>
          <a:ea typeface="Bookman Old Style"/>
          <a:cs typeface="Bookman Old Style"/>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EC26F6B7-E662-446D-8B86-2B5A1A38D9BE}"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FB14CE63-8882-4D26-89C2-C2BAD8E8DE73}" styleName="Table_2">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 name="Google Shape;8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847793970e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g3847793970e_0_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847793970e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 name="Google Shape;114;g3847793970e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847793970e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g3847793970e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847793970e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g3847793970e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847793970e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g3847793970e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847793970e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g3847793970e_0_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847793970e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0" name="Google Shape;150;g3847793970e_0_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847793970e_0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g3847793970e_0_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847793970e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g3847793970e_0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847793970e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g3847793970e_0_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847793970e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3847793970e_0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847793970e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g3847793970e_0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88a884f50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g388a884f50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847793970e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g3847793970e_0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847793970e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g3847793970e_0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847793970e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3847793970e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8605cea3a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g38605cea3a2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8605cea3a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g38605cea3a2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8605cea3a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g38605cea3a2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8605cea3a2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g38605cea3a2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8605cea3a2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g38605cea3a2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8605cea3a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g38605cea3a2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8605cea3a2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g38605cea3a2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8605cea3a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38605cea3a2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8605cea3a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g38605cea3a2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8605cea3a2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g38605cea3a2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8605cea3a2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g38605cea3a2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8605cea3a2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g38605cea3a2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8605cea3a2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g38605cea3a2_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8" name="Google Shape;31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847793970e_0_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g3847793970e_0_1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847793970e_0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0" name="Google Shape;330;g3847793970e_0_1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6" name="Google Shape;336;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847793970e_0_1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4" name="Google Shape;344;g3847793970e_0_1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847793970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0" name="Google Shape;350;g3847793970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847793970e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6" name="Google Shape;356;g3847793970e_0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847793970e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2" name="Google Shape;362;g3847793970e_0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8" name="Google Shape;36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1050877" y="1322386"/>
            <a:ext cx="10363200" cy="1470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 type="subTitle"/>
          </p:nvPr>
        </p:nvSpPr>
        <p:spPr>
          <a:xfrm>
            <a:off x="2032000" y="3326641"/>
            <a:ext cx="85344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400"/>
              </a:spcBef>
              <a:spcAft>
                <a:spcPts val="0"/>
              </a:spcAft>
              <a:buClr>
                <a:srgbClr val="17365D"/>
              </a:buClr>
              <a:buSzPts val="2000"/>
              <a:buNone/>
              <a:defRPr b="1" sz="2000">
                <a:solidFill>
                  <a:srgbClr val="17365D"/>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6" name="Google Shape;16;p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a:solidFill>
                  <a:schemeClr val="dk1"/>
                </a:solidFill>
              </a:defRPr>
            </a:lvl1pPr>
            <a:lvl2pPr indent="-355600" lvl="1" marL="914400" algn="l">
              <a:lnSpc>
                <a:spcPct val="100000"/>
              </a:lnSpc>
              <a:spcBef>
                <a:spcPts val="400"/>
              </a:spcBef>
              <a:spcAft>
                <a:spcPts val="0"/>
              </a:spcAft>
              <a:buClr>
                <a:schemeClr val="dk1"/>
              </a:buClr>
              <a:buSzPts val="2000"/>
              <a:buChar char="–"/>
              <a:defRPr>
                <a:solidFill>
                  <a:schemeClr val="dk1"/>
                </a:solidFill>
              </a:defRPr>
            </a:lvl2pPr>
            <a:lvl3pPr indent="-342900" lvl="2" marL="1371600" algn="l">
              <a:lnSpc>
                <a:spcPct val="100000"/>
              </a:lnSpc>
              <a:spcBef>
                <a:spcPts val="360"/>
              </a:spcBef>
              <a:spcAft>
                <a:spcPts val="0"/>
              </a:spcAft>
              <a:buClr>
                <a:schemeClr val="dk1"/>
              </a:buClr>
              <a:buSzPts val="1800"/>
              <a:buChar char="•"/>
              <a:defRPr>
                <a:solidFill>
                  <a:schemeClr val="dk1"/>
                </a:solidFill>
              </a:defRPr>
            </a:lvl3pPr>
            <a:lvl4pPr indent="-330200" lvl="3" marL="1828800" algn="l">
              <a:lnSpc>
                <a:spcPct val="100000"/>
              </a:lnSpc>
              <a:spcBef>
                <a:spcPts val="320"/>
              </a:spcBef>
              <a:spcAft>
                <a:spcPts val="0"/>
              </a:spcAft>
              <a:buClr>
                <a:schemeClr val="dk1"/>
              </a:buClr>
              <a:buSzPts val="1600"/>
              <a:buChar char="–"/>
              <a:defRPr>
                <a:solidFill>
                  <a:schemeClr val="dk1"/>
                </a:solidFill>
              </a:defRPr>
            </a:lvl4pPr>
            <a:lvl5pPr indent="-330200" lvl="4" marL="2286000" algn="l">
              <a:lnSpc>
                <a:spcPct val="100000"/>
              </a:lnSpc>
              <a:spcBef>
                <a:spcPts val="320"/>
              </a:spcBef>
              <a:spcAft>
                <a:spcPts val="0"/>
              </a:spcAft>
              <a:buClr>
                <a:schemeClr val="dk1"/>
              </a:buClr>
              <a:buSzPts val="1600"/>
              <a:buChar char="»"/>
              <a:defRPr>
                <a:solidFill>
                  <a:schemeClr val="dk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 name="Google Shape;22;p3"/>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4"/>
          <p:cNvSpPr txBox="1"/>
          <p:nvPr>
            <p:ph type="title"/>
          </p:nvPr>
        </p:nvSpPr>
        <p:spPr>
          <a:xfrm>
            <a:off x="963084" y="4406903"/>
            <a:ext cx="10363200" cy="13620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FF0000"/>
              </a:buClr>
              <a:buSzPts val="4000"/>
              <a:buFont typeface="Verdana"/>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 type="body"/>
          </p:nvPr>
        </p:nvSpPr>
        <p:spPr>
          <a:xfrm>
            <a:off x="963084" y="2906713"/>
            <a:ext cx="103632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8" name="Google Shape;28;p4"/>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 type="body"/>
          </p:nvPr>
        </p:nvSpPr>
        <p:spPr>
          <a:xfrm>
            <a:off x="609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4" name="Google Shape;34;p5"/>
          <p:cNvSpPr txBox="1"/>
          <p:nvPr>
            <p:ph idx="2" type="body"/>
          </p:nvPr>
        </p:nvSpPr>
        <p:spPr>
          <a:xfrm>
            <a:off x="6197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5" name="Google Shape;35;p5"/>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6"/>
          <p:cNvSpPr txBox="1"/>
          <p:nvPr>
            <p:ph type="title"/>
          </p:nvPr>
        </p:nvSpPr>
        <p:spPr>
          <a:xfrm>
            <a:off x="859368" y="304800"/>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 type="body"/>
          </p:nvPr>
        </p:nvSpPr>
        <p:spPr>
          <a:xfrm>
            <a:off x="609600" y="1535113"/>
            <a:ext cx="53868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6"/>
          <p:cNvSpPr txBox="1"/>
          <p:nvPr>
            <p:ph idx="2" type="body"/>
          </p:nvPr>
        </p:nvSpPr>
        <p:spPr>
          <a:xfrm>
            <a:off x="609600" y="2174875"/>
            <a:ext cx="53868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6"/>
          <p:cNvSpPr txBox="1"/>
          <p:nvPr>
            <p:ph idx="3" type="body"/>
          </p:nvPr>
        </p:nvSpPr>
        <p:spPr>
          <a:xfrm>
            <a:off x="6193369" y="1535113"/>
            <a:ext cx="5388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6"/>
          <p:cNvSpPr txBox="1"/>
          <p:nvPr>
            <p:ph idx="4" type="body"/>
          </p:nvPr>
        </p:nvSpPr>
        <p:spPr>
          <a:xfrm>
            <a:off x="6193369" y="2174875"/>
            <a:ext cx="5388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6"/>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7"/>
          <p:cNvSpPr txBox="1"/>
          <p:nvPr>
            <p:ph type="title"/>
          </p:nvPr>
        </p:nvSpPr>
        <p:spPr>
          <a:xfrm>
            <a:off x="3860800" y="274638"/>
            <a:ext cx="77217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7"/>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pic>
        <p:nvPicPr>
          <p:cNvPr descr="C:\Users\AMMU\Desktop\Border.png" id="52" name="Google Shape;52;p7"/>
          <p:cNvPicPr preferRelativeResize="0"/>
          <p:nvPr/>
        </p:nvPicPr>
        <p:blipFill rotWithShape="1">
          <a:blip r:embed="rId2">
            <a:alphaModFix/>
          </a:blip>
          <a:srcRect b="0" l="0" r="0" t="0"/>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8"/>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9"/>
          <p:cNvSpPr txBox="1"/>
          <p:nvPr>
            <p:ph type="title"/>
          </p:nvPr>
        </p:nvSpPr>
        <p:spPr>
          <a:xfrm>
            <a:off x="609602" y="273050"/>
            <a:ext cx="4011000" cy="1162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 type="body"/>
          </p:nvPr>
        </p:nvSpPr>
        <p:spPr>
          <a:xfrm>
            <a:off x="4766733" y="273053"/>
            <a:ext cx="6815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0" name="Google Shape;60;p9"/>
          <p:cNvSpPr txBox="1"/>
          <p:nvPr>
            <p:ph idx="2" type="body"/>
          </p:nvPr>
        </p:nvSpPr>
        <p:spPr>
          <a:xfrm>
            <a:off x="609602" y="1435103"/>
            <a:ext cx="40110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1" name="Google Shape;61;p9"/>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9"/>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10"/>
          <p:cNvSpPr txBox="1"/>
          <p:nvPr>
            <p:ph type="title"/>
          </p:nvPr>
        </p:nvSpPr>
        <p:spPr>
          <a:xfrm>
            <a:off x="2389717" y="4800600"/>
            <a:ext cx="7315200" cy="5667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p:nvPr>
            <p:ph idx="2" type="pic"/>
          </p:nvPr>
        </p:nvSpPr>
        <p:spPr>
          <a:xfrm>
            <a:off x="2389717" y="612775"/>
            <a:ext cx="7315200" cy="4114800"/>
          </a:xfrm>
          <a:prstGeom prst="rect">
            <a:avLst/>
          </a:prstGeom>
          <a:noFill/>
          <a:ln>
            <a:noFill/>
          </a:ln>
        </p:spPr>
      </p:sp>
      <p:sp>
        <p:nvSpPr>
          <p:cNvPr id="67" name="Google Shape;67;p10"/>
          <p:cNvSpPr txBox="1"/>
          <p:nvPr>
            <p:ph idx="1" type="body"/>
          </p:nvPr>
        </p:nvSpPr>
        <p:spPr>
          <a:xfrm>
            <a:off x="2389717" y="5367338"/>
            <a:ext cx="73152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8" name="Google Shape;68;p10"/>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0"/>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1" name="Shape 71"/>
        <p:cNvGrpSpPr/>
        <p:nvPr/>
      </p:nvGrpSpPr>
      <p:grpSpPr>
        <a:xfrm>
          <a:off x="0" y="0"/>
          <a:ext cx="0" cy="0"/>
          <a:chOff x="0" y="0"/>
          <a:chExt cx="0" cy="0"/>
        </a:xfrm>
      </p:grpSpPr>
      <p:sp>
        <p:nvSpPr>
          <p:cNvPr id="72" name="Google Shape;72;p1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 type="body"/>
          </p:nvPr>
        </p:nvSpPr>
        <p:spPr>
          <a:xfrm rot="5400000">
            <a:off x="3670300" y="-1714499"/>
            <a:ext cx="4953000" cy="106680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4" name="Google Shape;74;p11"/>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1"/>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7" name="Shape 77"/>
        <p:cNvGrpSpPr/>
        <p:nvPr/>
      </p:nvGrpSpPr>
      <p:grpSpPr>
        <a:xfrm>
          <a:off x="0" y="0"/>
          <a:ext cx="0" cy="0"/>
          <a:chOff x="0" y="0"/>
          <a:chExt cx="0" cy="0"/>
        </a:xfrm>
      </p:grpSpPr>
      <p:sp>
        <p:nvSpPr>
          <p:cNvPr id="78" name="Google Shape;78;p12"/>
          <p:cNvSpPr txBox="1"/>
          <p:nvPr>
            <p:ph type="title"/>
          </p:nvPr>
        </p:nvSpPr>
        <p:spPr>
          <a:xfrm rot="5400000">
            <a:off x="7285050" y="1828791"/>
            <a:ext cx="5851500" cy="2743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 type="body"/>
          </p:nvPr>
        </p:nvSpPr>
        <p:spPr>
          <a:xfrm rot="5400000">
            <a:off x="1697000" y="-812859"/>
            <a:ext cx="5851500" cy="80265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0" name="Google Shape;80;p1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FF0000"/>
              </a:buClr>
              <a:buSzPts val="2800"/>
              <a:buFont typeface="Verdana"/>
              <a:buNone/>
              <a:defRPr b="1" i="0" sz="2800" u="none" cap="none" strike="noStrike">
                <a:solidFill>
                  <a:srgbClr val="FF0000"/>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Verdana"/>
                <a:ea typeface="Verdana"/>
                <a:cs typeface="Verdana"/>
                <a:sym typeface="Verdana"/>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9pPr>
          </a:lstStyle>
          <a:p/>
        </p:txBody>
      </p:sp>
      <p:sp>
        <p:nvSpPr>
          <p:cNvPr id="8" name="Google Shape;8;p1"/>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9" name="Google Shape;9;p1"/>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10" name="Google Shape;10;p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cxnSp>
        <p:nvCxnSpPr>
          <p:cNvPr id="11" name="Google Shape;11;p1"/>
          <p:cNvCxnSpPr/>
          <p:nvPr/>
        </p:nvCxnSpPr>
        <p:spPr>
          <a:xfrm>
            <a:off x="812800" y="914400"/>
            <a:ext cx="10668000" cy="0"/>
          </a:xfrm>
          <a:prstGeom prst="straightConnector1">
            <a:avLst/>
          </a:prstGeom>
          <a:noFill/>
          <a:ln cap="flat" cmpd="thickThin" w="57150">
            <a:solidFill>
              <a:schemeClr val="dk1"/>
            </a:solidFill>
            <a:prstDash val="solid"/>
            <a:round/>
            <a:headEnd len="sm" w="sm" type="none"/>
            <a:tailEnd len="sm" w="sm" type="none"/>
          </a:ln>
        </p:spPr>
      </p:cxnSp>
      <p:pic>
        <p:nvPicPr>
          <p:cNvPr id="12" name="Google Shape;12;p1"/>
          <p:cNvPicPr preferRelativeResize="0"/>
          <p:nvPr/>
        </p:nvPicPr>
        <p:blipFill rotWithShape="1">
          <a:blip r:embed="rId1">
            <a:alphaModFix/>
          </a:blip>
          <a:srcRect b="18045" l="0" r="0" t="0"/>
          <a:stretch/>
        </p:blipFill>
        <p:spPr>
          <a:xfrm>
            <a:off x="0" y="5991366"/>
            <a:ext cx="12192001" cy="86663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hyperlink" Target="https://github.com/ashwin2947/PGRKAM-Smart-Assistant"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3"/>
          <p:cNvSpPr txBox="1"/>
          <p:nvPr>
            <p:ph type="ctrTitle"/>
          </p:nvPr>
        </p:nvSpPr>
        <p:spPr>
          <a:xfrm>
            <a:off x="790469" y="1069102"/>
            <a:ext cx="10363200" cy="96289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17365D"/>
              </a:buClr>
              <a:buSzPts val="2800"/>
              <a:buFont typeface="Verdana"/>
              <a:buNone/>
            </a:pPr>
            <a:r>
              <a:rPr lang="en-US" sz="2400">
                <a:solidFill>
                  <a:schemeClr val="dk1"/>
                </a:solidFill>
                <a:latin typeface="Cambria"/>
                <a:ea typeface="Cambria"/>
                <a:cs typeface="Cambria"/>
                <a:sym typeface="Cambria"/>
              </a:rPr>
              <a:t>PGRKAM Smart Assistant: An LLM-Powered Conversational Platform for Job Seekers</a:t>
            </a:r>
            <a:endParaRPr sz="2400">
              <a:solidFill>
                <a:schemeClr val="dk1"/>
              </a:solidFill>
              <a:latin typeface="Cambria"/>
              <a:ea typeface="Cambria"/>
              <a:cs typeface="Cambria"/>
              <a:sym typeface="Cambria"/>
            </a:endParaRPr>
          </a:p>
        </p:txBody>
      </p:sp>
      <p:sp>
        <p:nvSpPr>
          <p:cNvPr id="88" name="Google Shape;88;p13"/>
          <p:cNvSpPr txBox="1"/>
          <p:nvPr>
            <p:ph idx="1" type="subTitle"/>
          </p:nvPr>
        </p:nvSpPr>
        <p:spPr>
          <a:xfrm>
            <a:off x="790468" y="2045352"/>
            <a:ext cx="4391131" cy="552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17365D"/>
              </a:buClr>
              <a:buSzPts val="2000"/>
              <a:buNone/>
            </a:pPr>
            <a:r>
              <a:rPr lang="en-US" sz="1800">
                <a:latin typeface="Cambria"/>
                <a:ea typeface="Cambria"/>
                <a:cs typeface="Cambria"/>
                <a:sym typeface="Cambria"/>
              </a:rPr>
              <a:t>Batch Number: CAI_36</a:t>
            </a:r>
            <a:endParaRPr sz="1800">
              <a:latin typeface="Cambria"/>
              <a:ea typeface="Cambria"/>
              <a:cs typeface="Cambria"/>
              <a:sym typeface="Cambria"/>
            </a:endParaRPr>
          </a:p>
        </p:txBody>
      </p:sp>
      <p:sp>
        <p:nvSpPr>
          <p:cNvPr id="89" name="Google Shape;89;p13"/>
          <p:cNvSpPr txBox="1"/>
          <p:nvPr/>
        </p:nvSpPr>
        <p:spPr>
          <a:xfrm>
            <a:off x="6480195" y="2513340"/>
            <a:ext cx="5514300" cy="2020560"/>
          </a:xfrm>
          <a:prstGeom prst="rect">
            <a:avLst/>
          </a:prstGeom>
          <a:noFill/>
          <a:ln>
            <a:noFill/>
          </a:ln>
        </p:spPr>
        <p:txBody>
          <a:bodyPr anchorCtr="0" anchor="t" bIns="45700" lIns="91425" spcFirstLastPara="1" rIns="91425" wrap="square" tIns="45700">
            <a:normAutofit lnSpcReduction="20000"/>
          </a:bodyPr>
          <a:lstStyle/>
          <a:p>
            <a:pPr indent="0" lvl="0" marL="0" marR="0" rtl="0" algn="ctr">
              <a:lnSpc>
                <a:spcPct val="100000"/>
              </a:lnSpc>
              <a:spcBef>
                <a:spcPts val="0"/>
              </a:spcBef>
              <a:spcAft>
                <a:spcPts val="0"/>
              </a:spcAft>
              <a:buClr>
                <a:srgbClr val="17365D"/>
              </a:buClr>
              <a:buSzPts val="2000"/>
              <a:buFont typeface="Arial"/>
              <a:buNone/>
            </a:pPr>
            <a:r>
              <a:rPr b="1" i="0" lang="en-US" sz="1800" u="none" cap="none" strike="noStrike">
                <a:solidFill>
                  <a:srgbClr val="17365D"/>
                </a:solidFill>
                <a:latin typeface="Cambria"/>
                <a:ea typeface="Cambria"/>
                <a:cs typeface="Cambria"/>
                <a:sym typeface="Cambria"/>
              </a:rPr>
              <a:t>Under the Supervision of,</a:t>
            </a:r>
            <a:endParaRPr b="0" i="0" sz="1800" u="none" cap="none" strike="noStrike">
              <a:solidFill>
                <a:srgbClr val="000000"/>
              </a:solidFill>
              <a:latin typeface="Cambria"/>
              <a:ea typeface="Cambria"/>
              <a:cs typeface="Cambria"/>
              <a:sym typeface="Cambria"/>
            </a:endParaRPr>
          </a:p>
          <a:p>
            <a:pPr indent="0" lvl="0" marL="0" marR="0" rtl="0" algn="ctr">
              <a:lnSpc>
                <a:spcPct val="100000"/>
              </a:lnSpc>
              <a:spcBef>
                <a:spcPts val="400"/>
              </a:spcBef>
              <a:spcAft>
                <a:spcPts val="0"/>
              </a:spcAft>
              <a:buClr>
                <a:srgbClr val="17365D"/>
              </a:buClr>
              <a:buSzPts val="2000"/>
              <a:buFont typeface="Arial"/>
              <a:buNone/>
            </a:pPr>
            <a:r>
              <a:t/>
            </a:r>
            <a:endParaRPr b="1" i="0" sz="2000" u="none" cap="none" strike="noStrike">
              <a:solidFill>
                <a:srgbClr val="17365D"/>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800" u="none" cap="none" strike="noStrike">
                <a:solidFill>
                  <a:srgbClr val="17365D"/>
                </a:solidFill>
                <a:latin typeface="Cambria"/>
                <a:ea typeface="Cambria"/>
                <a:cs typeface="Cambria"/>
                <a:sym typeface="Cambria"/>
              </a:rPr>
              <a:t>Mr. Jai Kumar B</a:t>
            </a:r>
            <a:endParaRPr b="0" i="0" sz="18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800" u="none" cap="none" strike="noStrike">
                <a:solidFill>
                  <a:srgbClr val="17365D"/>
                </a:solidFill>
                <a:latin typeface="Cambria"/>
                <a:ea typeface="Cambria"/>
                <a:cs typeface="Cambria"/>
                <a:sym typeface="Cambria"/>
              </a:rPr>
              <a:t>Assistant Professor</a:t>
            </a:r>
            <a:endParaRPr b="0" i="0" sz="18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800" u="none" cap="none" strike="noStrike">
                <a:solidFill>
                  <a:srgbClr val="17365D"/>
                </a:solidFill>
                <a:latin typeface="Cambria"/>
                <a:ea typeface="Cambria"/>
                <a:cs typeface="Cambria"/>
                <a:sym typeface="Cambria"/>
              </a:rPr>
              <a:t>School of Computer Science and Engineering</a:t>
            </a:r>
            <a:endParaRPr b="0" i="0" sz="18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800" u="none" cap="none" strike="noStrike">
                <a:solidFill>
                  <a:srgbClr val="17365D"/>
                </a:solidFill>
                <a:latin typeface="Cambria"/>
                <a:ea typeface="Cambria"/>
                <a:cs typeface="Cambria"/>
                <a:sym typeface="Cambria"/>
              </a:rPr>
              <a:t>Presidency University</a:t>
            </a:r>
            <a:endParaRPr b="0" i="0" sz="1800" u="none" cap="none" strike="noStrike">
              <a:solidFill>
                <a:srgbClr val="000000"/>
              </a:solidFill>
              <a:latin typeface="Cambria"/>
              <a:ea typeface="Cambria"/>
              <a:cs typeface="Cambria"/>
              <a:sym typeface="Cambria"/>
            </a:endParaRPr>
          </a:p>
          <a:p>
            <a:pPr indent="0" lvl="0" marL="0" marR="0" rtl="0" algn="l">
              <a:lnSpc>
                <a:spcPct val="100000"/>
              </a:lnSpc>
              <a:spcBef>
                <a:spcPts val="400"/>
              </a:spcBef>
              <a:spcAft>
                <a:spcPts val="0"/>
              </a:spcAft>
              <a:buClr>
                <a:srgbClr val="17365D"/>
              </a:buClr>
              <a:buSzPts val="2000"/>
              <a:buFont typeface="Arial"/>
              <a:buNone/>
            </a:pPr>
            <a:r>
              <a:t/>
            </a:r>
            <a:endParaRPr b="1" i="0" sz="2000" u="none" cap="none" strike="noStrike">
              <a:solidFill>
                <a:srgbClr val="17365D"/>
              </a:solidFill>
              <a:latin typeface="Cambria"/>
              <a:ea typeface="Cambria"/>
              <a:cs typeface="Cambria"/>
              <a:sym typeface="Cambria"/>
            </a:endParaRPr>
          </a:p>
        </p:txBody>
      </p:sp>
      <p:graphicFrame>
        <p:nvGraphicFramePr>
          <p:cNvPr id="90" name="Google Shape;90;p13"/>
          <p:cNvGraphicFramePr/>
          <p:nvPr/>
        </p:nvGraphicFramePr>
        <p:xfrm>
          <a:off x="553347" y="2721840"/>
          <a:ext cx="3000000" cy="3000000"/>
        </p:xfrm>
        <a:graphic>
          <a:graphicData uri="http://schemas.openxmlformats.org/drawingml/2006/table">
            <a:tbl>
              <a:tblPr bandRow="1" firstRow="1">
                <a:noFill/>
                <a:tableStyleId>{D19F1827-E80C-4683-8062-0652B03CA6A6}</a:tableStyleId>
              </a:tblPr>
              <a:tblGrid>
                <a:gridCol w="2085000"/>
                <a:gridCol w="3333675"/>
              </a:tblGrid>
              <a:tr h="306250">
                <a:tc>
                  <a:txBody>
                    <a:bodyPr/>
                    <a:lstStyle/>
                    <a:p>
                      <a:pPr indent="0" lvl="1"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17365D"/>
                          </a:solidFill>
                        </a:rPr>
                        <a:t>Roll Number</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17365D"/>
                          </a:solidFill>
                        </a:rPr>
                        <a:t>Student Name</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91" name="Google Shape;91;p13"/>
          <p:cNvSpPr txBox="1"/>
          <p:nvPr/>
        </p:nvSpPr>
        <p:spPr>
          <a:xfrm>
            <a:off x="2832225" y="136441"/>
            <a:ext cx="5498973" cy="7293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17365D"/>
              </a:buClr>
              <a:buSzPts val="1800"/>
              <a:buFont typeface="Arial"/>
              <a:buNone/>
            </a:pPr>
            <a:r>
              <a:rPr b="1" i="0" lang="en-US" sz="1800" u="none" cap="none" strike="noStrike">
                <a:solidFill>
                  <a:srgbClr val="17365D"/>
                </a:solidFill>
                <a:latin typeface="Cambria"/>
                <a:ea typeface="Cambria"/>
                <a:cs typeface="Cambria"/>
                <a:sym typeface="Cambria"/>
              </a:rPr>
              <a:t>CSE7101- Capstone Project</a:t>
            </a:r>
            <a:endParaRPr b="0" i="0" sz="1800" u="none" cap="none" strike="noStrike">
              <a:solidFill>
                <a:srgbClr val="000000"/>
              </a:solidFill>
              <a:latin typeface="Cambria"/>
              <a:ea typeface="Cambria"/>
              <a:cs typeface="Cambria"/>
              <a:sym typeface="Cambria"/>
            </a:endParaRPr>
          </a:p>
          <a:p>
            <a:pPr indent="0" lvl="0" marL="0" marR="0" rtl="0" algn="ctr">
              <a:lnSpc>
                <a:spcPct val="100000"/>
              </a:lnSpc>
              <a:spcBef>
                <a:spcPts val="310"/>
              </a:spcBef>
              <a:spcAft>
                <a:spcPts val="0"/>
              </a:spcAft>
              <a:buClr>
                <a:srgbClr val="17365D"/>
              </a:buClr>
              <a:buSzPts val="1800"/>
              <a:buFont typeface="Arial"/>
              <a:buNone/>
            </a:pPr>
            <a:r>
              <a:rPr b="1" i="0" lang="en-US" sz="1800" u="none" cap="none" strike="noStrike">
                <a:solidFill>
                  <a:srgbClr val="17365D"/>
                </a:solidFill>
                <a:latin typeface="Cambria"/>
                <a:ea typeface="Cambria"/>
                <a:cs typeface="Cambria"/>
                <a:sym typeface="Cambria"/>
              </a:rPr>
              <a:t>Review-</a:t>
            </a:r>
            <a:r>
              <a:rPr b="1" lang="en-US" sz="1800">
                <a:solidFill>
                  <a:srgbClr val="17365D"/>
                </a:solidFill>
                <a:latin typeface="Cambria"/>
                <a:ea typeface="Cambria"/>
                <a:cs typeface="Cambria"/>
                <a:sym typeface="Cambria"/>
              </a:rPr>
              <a:t>3</a:t>
            </a:r>
            <a:endParaRPr b="1" i="0" sz="1800" u="none" cap="none" strike="noStrike">
              <a:solidFill>
                <a:srgbClr val="17365D"/>
              </a:solidFill>
              <a:latin typeface="Cambria"/>
              <a:ea typeface="Cambria"/>
              <a:cs typeface="Cambria"/>
              <a:sym typeface="Cambria"/>
            </a:endParaRPr>
          </a:p>
        </p:txBody>
      </p:sp>
      <p:sp>
        <p:nvSpPr>
          <p:cNvPr id="92" name="Google Shape;92;p13"/>
          <p:cNvSpPr txBox="1"/>
          <p:nvPr/>
        </p:nvSpPr>
        <p:spPr>
          <a:xfrm>
            <a:off x="790474" y="4533900"/>
            <a:ext cx="11459400" cy="156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7365D"/>
              </a:buClr>
              <a:buSzPts val="1800"/>
              <a:buFont typeface="Arial"/>
              <a:buNone/>
            </a:pPr>
            <a:r>
              <a:rPr b="1" i="0" lang="en-US" sz="1800" u="none" cap="none" strike="noStrike">
                <a:solidFill>
                  <a:schemeClr val="accent1"/>
                </a:solidFill>
                <a:latin typeface="Cambria"/>
                <a:ea typeface="Cambria"/>
                <a:cs typeface="Cambria"/>
                <a:sym typeface="Cambria"/>
              </a:rPr>
              <a:t>Name of the Program: </a:t>
            </a:r>
            <a:r>
              <a:rPr b="1" i="0" lang="en-US" sz="1800" u="none" cap="none" strike="noStrike">
                <a:solidFill>
                  <a:srgbClr val="FF0000"/>
                </a:solidFill>
                <a:latin typeface="Cambria"/>
                <a:ea typeface="Cambria"/>
                <a:cs typeface="Cambria"/>
                <a:sym typeface="Cambria"/>
              </a:rPr>
              <a:t>B.Tech CAI</a:t>
            </a:r>
            <a:endParaRPr b="0" i="0" sz="1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17365D"/>
              </a:buClr>
              <a:buSzPts val="1800"/>
              <a:buFont typeface="Arial"/>
              <a:buNone/>
            </a:pPr>
            <a:r>
              <a:rPr b="1" i="0" lang="en-US" sz="1800" u="none" cap="none" strike="noStrike">
                <a:solidFill>
                  <a:schemeClr val="accent1"/>
                </a:solidFill>
                <a:latin typeface="Cambria"/>
                <a:ea typeface="Cambria"/>
                <a:cs typeface="Cambria"/>
                <a:sym typeface="Cambria"/>
              </a:rPr>
              <a:t>Name of the HoD: </a:t>
            </a:r>
            <a:r>
              <a:rPr b="1" i="0" lang="en-US" sz="1800" u="none" cap="none" strike="noStrike">
                <a:solidFill>
                  <a:srgbClr val="FF0000"/>
                </a:solidFill>
                <a:latin typeface="Cambria"/>
                <a:ea typeface="Cambria"/>
                <a:cs typeface="Cambria"/>
                <a:sym typeface="Cambria"/>
              </a:rPr>
              <a:t>Dr. Zafar Ali Khan 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accent1"/>
                </a:solidFill>
                <a:latin typeface="Cambria"/>
                <a:ea typeface="Cambria"/>
                <a:cs typeface="Cambria"/>
                <a:sym typeface="Cambria"/>
              </a:rPr>
              <a:t>Name of the Program Project Coordinator: </a:t>
            </a:r>
            <a:r>
              <a:rPr b="1" i="0" lang="en-US" sz="1800" u="none" cap="none" strike="noStrike">
                <a:solidFill>
                  <a:srgbClr val="FF0000"/>
                </a:solidFill>
                <a:latin typeface="Cambria"/>
                <a:ea typeface="Cambria"/>
                <a:cs typeface="Cambria"/>
                <a:sym typeface="Cambria"/>
              </a:rPr>
              <a:t>Dr. Afroz Pasha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accent1"/>
                </a:solidFill>
                <a:latin typeface="Cambria"/>
                <a:ea typeface="Cambria"/>
                <a:cs typeface="Cambria"/>
                <a:sym typeface="Cambria"/>
              </a:rPr>
              <a:t>Name of the School Project Coordinators: </a:t>
            </a:r>
            <a:r>
              <a:rPr b="1" i="0" lang="en-US" sz="1800" u="none" cap="none" strike="noStrike">
                <a:solidFill>
                  <a:schemeClr val="dk1"/>
                </a:solidFill>
                <a:latin typeface="Cambria"/>
                <a:ea typeface="Cambria"/>
                <a:cs typeface="Cambria"/>
                <a:sym typeface="Cambria"/>
              </a:rPr>
              <a:t>Dr. Sampath A K , Dr. Geetha A </a:t>
            </a:r>
            <a:endParaRPr b="1" i="0" sz="1800" u="none" cap="none" strike="noStrike">
              <a:solidFill>
                <a:schemeClr val="dk1"/>
              </a:solidFill>
              <a:latin typeface="Cambria"/>
              <a:ea typeface="Cambria"/>
              <a:cs typeface="Cambria"/>
              <a:sym typeface="Cambria"/>
            </a:endParaRPr>
          </a:p>
        </p:txBody>
      </p:sp>
      <p:graphicFrame>
        <p:nvGraphicFramePr>
          <p:cNvPr id="93" name="Google Shape;93;p13"/>
          <p:cNvGraphicFramePr/>
          <p:nvPr/>
        </p:nvGraphicFramePr>
        <p:xfrm>
          <a:off x="790450" y="3163375"/>
          <a:ext cx="3000000" cy="3000000"/>
        </p:xfrm>
        <a:graphic>
          <a:graphicData uri="http://schemas.openxmlformats.org/drawingml/2006/table">
            <a:tbl>
              <a:tblPr>
                <a:noFill/>
                <a:tableStyleId>{EC26F6B7-E662-446D-8B86-2B5A1A38D9BE}</a:tableStyleId>
              </a:tblPr>
              <a:tblGrid>
                <a:gridCol w="2590800"/>
                <a:gridCol w="25908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20221CAI0042</a:t>
                      </a:r>
                      <a:endParaRPr b="1" sz="14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ASHWIN R</a:t>
                      </a:r>
                      <a:endParaRPr b="1" sz="1400" u="none" cap="none" strike="noStrike">
                        <a:latin typeface="Cambria"/>
                        <a:ea typeface="Cambria"/>
                        <a:cs typeface="Cambria"/>
                        <a:sym typeface="Cambria"/>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Cambria"/>
                          <a:ea typeface="Cambria"/>
                          <a:cs typeface="Cambria"/>
                          <a:sym typeface="Cambria"/>
                        </a:rPr>
                        <a:t>20221CAI0026</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SACHIN S</a:t>
                      </a:r>
                      <a:endParaRPr b="1" sz="1400" u="none" cap="none" strike="noStrike">
                        <a:latin typeface="Cambria"/>
                        <a:ea typeface="Cambria"/>
                        <a:cs typeface="Cambria"/>
                        <a:sym typeface="Cambria"/>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Cambria"/>
                          <a:ea typeface="Cambria"/>
                          <a:cs typeface="Cambria"/>
                          <a:sym typeface="Cambria"/>
                        </a:rPr>
                        <a:t>20221CAI0017</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HARSHIT B</a:t>
                      </a:r>
                      <a:endParaRPr b="1" sz="1400" u="none" cap="none" strike="noStrike">
                        <a:latin typeface="Cambria"/>
                        <a:ea typeface="Cambria"/>
                        <a:cs typeface="Cambria"/>
                        <a:sym typeface="Cambria"/>
                      </a:endParaRPr>
                    </a:p>
                  </a:txBody>
                  <a:tcPr marT="91425" marB="91425" marR="91425" marL="91425"/>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Problem Statement Number: PSCS_17</a:t>
            </a:r>
            <a:endParaRPr>
              <a:latin typeface="Cambria"/>
              <a:ea typeface="Cambria"/>
              <a:cs typeface="Cambria"/>
              <a:sym typeface="Cambria"/>
            </a:endParaRPr>
          </a:p>
        </p:txBody>
      </p:sp>
      <p:sp>
        <p:nvSpPr>
          <p:cNvPr id="99" name="Google Shape;99;p14"/>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80000"/>
              </a:lnSpc>
              <a:spcBef>
                <a:spcPts val="0"/>
              </a:spcBef>
              <a:spcAft>
                <a:spcPts val="0"/>
              </a:spcAft>
              <a:buSzPts val="1680"/>
              <a:buNone/>
            </a:pPr>
            <a:r>
              <a:rPr b="1" lang="en-US" sz="1600">
                <a:latin typeface="Arial"/>
                <a:ea typeface="Arial"/>
                <a:cs typeface="Arial"/>
                <a:sym typeface="Arial"/>
              </a:rPr>
              <a:t>Organization:</a:t>
            </a:r>
            <a:r>
              <a:rPr lang="en-US" sz="1600">
                <a:latin typeface="Arial"/>
                <a:ea typeface="Arial"/>
                <a:cs typeface="Arial"/>
                <a:sym typeface="Arial"/>
              </a:rPr>
              <a:t> “Government of Punjab”</a:t>
            </a:r>
            <a:endParaRPr sz="1600">
              <a:latin typeface="Arial"/>
              <a:ea typeface="Arial"/>
              <a:cs typeface="Arial"/>
              <a:sym typeface="Arial"/>
            </a:endParaRPr>
          </a:p>
          <a:p>
            <a:pPr indent="-190500" lvl="0" marL="342900" rtl="0" algn="just">
              <a:lnSpc>
                <a:spcPct val="80000"/>
              </a:lnSpc>
              <a:spcBef>
                <a:spcPts val="0"/>
              </a:spcBef>
              <a:spcAft>
                <a:spcPts val="0"/>
              </a:spcAft>
              <a:buSzPts val="1680"/>
              <a:buNone/>
            </a:pPr>
            <a:r>
              <a:t/>
            </a:r>
            <a:endParaRPr b="1" sz="1600">
              <a:latin typeface="Arial"/>
              <a:ea typeface="Arial"/>
              <a:cs typeface="Arial"/>
              <a:sym typeface="Arial"/>
            </a:endParaRPr>
          </a:p>
          <a:p>
            <a:pPr indent="-190500" lvl="0" marL="342900" rtl="0" algn="just">
              <a:lnSpc>
                <a:spcPct val="180000"/>
              </a:lnSpc>
              <a:spcBef>
                <a:spcPts val="0"/>
              </a:spcBef>
              <a:spcAft>
                <a:spcPts val="0"/>
              </a:spcAft>
              <a:buSzPts val="1680"/>
              <a:buNone/>
            </a:pPr>
            <a:r>
              <a:rPr b="1" lang="en-US" sz="1600">
                <a:latin typeface="Arial"/>
                <a:ea typeface="Arial"/>
                <a:cs typeface="Arial"/>
                <a:sym typeface="Arial"/>
              </a:rPr>
              <a:t>Category (Hardware / Software / Both) :</a:t>
            </a:r>
            <a:r>
              <a:rPr lang="en-US" sz="1600">
                <a:latin typeface="Arial"/>
                <a:ea typeface="Arial"/>
                <a:cs typeface="Arial"/>
                <a:sym typeface="Arial"/>
              </a:rPr>
              <a:t> “Software”</a:t>
            </a:r>
            <a:endParaRPr sz="1600">
              <a:latin typeface="Arial"/>
              <a:ea typeface="Arial"/>
              <a:cs typeface="Arial"/>
              <a:sym typeface="Arial"/>
            </a:endParaRPr>
          </a:p>
          <a:p>
            <a:pPr indent="-190500" lvl="0" marL="342900" rtl="0" algn="just">
              <a:lnSpc>
                <a:spcPct val="180000"/>
              </a:lnSpc>
              <a:spcBef>
                <a:spcPts val="0"/>
              </a:spcBef>
              <a:spcAft>
                <a:spcPts val="0"/>
              </a:spcAft>
              <a:buSzPts val="1680"/>
              <a:buNone/>
            </a:pPr>
            <a:r>
              <a:rPr b="1" lang="en-US" sz="1600">
                <a:latin typeface="Arial"/>
                <a:ea typeface="Arial"/>
                <a:cs typeface="Arial"/>
                <a:sym typeface="Arial"/>
              </a:rPr>
              <a:t>Problem Description:</a:t>
            </a:r>
            <a:r>
              <a:rPr lang="en-US" sz="1600">
                <a:latin typeface="Arial"/>
                <a:ea typeface="Arial"/>
                <a:cs typeface="Arial"/>
                <a:sym typeface="Arial"/>
              </a:rPr>
              <a:t> “The Employment Department at present has a digital platform www.pgrkam.com and its mobile application to provide almost all services offered to job seekers and employers through digital means. The portal has multiple modules like private sector jobs, government jobs, self-employment avenues, foreign jobs, foreign study, counseling, guidance, induction into armed forces, job melas, etc. Currently, when a user visits the portal/app, there is no hand-holding mechanism to help the user get to the part of the digital platform which will resolve his queries. The user is required to navigate across multiple modules on the portal/ app to search for answers.”</a:t>
            </a:r>
            <a:endParaRPr sz="16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Abstract</a:t>
            </a:r>
            <a:endParaRPr>
              <a:latin typeface="Cambria"/>
              <a:ea typeface="Cambria"/>
              <a:cs typeface="Cambria"/>
              <a:sym typeface="Cambria"/>
            </a:endParaRPr>
          </a:p>
        </p:txBody>
      </p:sp>
      <p:sp>
        <p:nvSpPr>
          <p:cNvPr id="105" name="Google Shape;105;p15"/>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180000"/>
              </a:lnSpc>
              <a:spcBef>
                <a:spcPts val="0"/>
              </a:spcBef>
              <a:spcAft>
                <a:spcPts val="0"/>
              </a:spcAft>
              <a:buSzPts val="1680"/>
              <a:buNone/>
            </a:pPr>
            <a:r>
              <a:rPr lang="en-US" sz="1600">
                <a:latin typeface="Arial"/>
                <a:ea typeface="Arial"/>
                <a:cs typeface="Arial"/>
                <a:sym typeface="Arial"/>
              </a:rPr>
              <a:t>The PGRKAM platform lacks an effective guidance system, making it difficult for users to find job notifications, skill programs, and career resources. This project develops an </a:t>
            </a:r>
            <a:r>
              <a:rPr b="1" lang="en-US" sz="1600">
                <a:latin typeface="Arial"/>
                <a:ea typeface="Arial"/>
                <a:cs typeface="Arial"/>
                <a:sym typeface="Arial"/>
              </a:rPr>
              <a:t>AI-powered conversational assistant</a:t>
            </a:r>
            <a:r>
              <a:rPr lang="en-US" sz="1600">
                <a:latin typeface="Arial"/>
                <a:ea typeface="Arial"/>
                <a:cs typeface="Arial"/>
                <a:sym typeface="Arial"/>
              </a:rPr>
              <a:t> to provide intelligent, task-oriented guidance. Using </a:t>
            </a:r>
            <a:r>
              <a:rPr b="1" lang="en-US" sz="1600">
                <a:latin typeface="Arial"/>
                <a:ea typeface="Arial"/>
                <a:cs typeface="Arial"/>
                <a:sym typeface="Arial"/>
              </a:rPr>
              <a:t>LLMs with retrieval-augmented generation (RAG)</a:t>
            </a:r>
            <a:r>
              <a:rPr lang="en-US" sz="1600">
                <a:latin typeface="Arial"/>
                <a:ea typeface="Arial"/>
                <a:cs typeface="Arial"/>
                <a:sym typeface="Arial"/>
              </a:rPr>
              <a:t>, the system delivers accurate, context-aware, and multilingual responses. The assistant integrates </a:t>
            </a:r>
            <a:r>
              <a:rPr b="1" lang="en-US" sz="1600">
                <a:latin typeface="Arial"/>
                <a:ea typeface="Arial"/>
                <a:cs typeface="Arial"/>
                <a:sym typeface="Arial"/>
              </a:rPr>
              <a:t>intent recognition, entity extraction, dialogue management, and knowledge retrieval</a:t>
            </a:r>
            <a:r>
              <a:rPr lang="en-US" sz="1600">
                <a:latin typeface="Arial"/>
                <a:ea typeface="Arial"/>
                <a:cs typeface="Arial"/>
                <a:sym typeface="Arial"/>
              </a:rPr>
              <a:t> to streamline information discovery and enhance user experience.</a:t>
            </a:r>
            <a:endParaRPr sz="160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Literature Survey </a:t>
            </a:r>
            <a:endParaRPr>
              <a:latin typeface="Cambria"/>
              <a:ea typeface="Cambria"/>
              <a:cs typeface="Cambria"/>
              <a:sym typeface="Cambria"/>
            </a:endParaRPr>
          </a:p>
        </p:txBody>
      </p:sp>
      <p:sp>
        <p:nvSpPr>
          <p:cNvPr id="111" name="Google Shape;111;p16"/>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0" lvl="0" marL="152400" rtl="0" algn="l">
              <a:lnSpc>
                <a:spcPct val="115000"/>
              </a:lnSpc>
              <a:spcBef>
                <a:spcPts val="0"/>
              </a:spcBef>
              <a:spcAft>
                <a:spcPts val="0"/>
              </a:spcAft>
              <a:buSzPts val="2400"/>
              <a:buNone/>
            </a:pPr>
            <a:r>
              <a:rPr b="1" lang="en-US" sz="1600">
                <a:latin typeface="Arial"/>
                <a:ea typeface="Arial"/>
                <a:cs typeface="Arial"/>
                <a:sym typeface="Arial"/>
              </a:rPr>
              <a:t>Overview</a:t>
            </a:r>
            <a:endParaRPr b="1" sz="1600">
              <a:latin typeface="Arial"/>
              <a:ea typeface="Arial"/>
              <a:cs typeface="Arial"/>
              <a:sym typeface="Arial"/>
            </a:endParaRPr>
          </a:p>
          <a:p>
            <a:pPr indent="0" lvl="0" marL="152400" rtl="0" algn="l">
              <a:lnSpc>
                <a:spcPct val="115000"/>
              </a:lnSpc>
              <a:spcBef>
                <a:spcPts val="0"/>
              </a:spcBef>
              <a:spcAft>
                <a:spcPts val="0"/>
              </a:spcAft>
              <a:buSzPts val="2400"/>
              <a:buNone/>
            </a:pPr>
            <a:r>
              <a:t/>
            </a:r>
            <a:endParaRPr sz="1600">
              <a:latin typeface="Arial"/>
              <a:ea typeface="Arial"/>
              <a:cs typeface="Arial"/>
              <a:sym typeface="Arial"/>
            </a:endParaRPr>
          </a:p>
          <a:p>
            <a:pPr indent="0" lvl="0" marL="152400" rtl="0" algn="l">
              <a:lnSpc>
                <a:spcPct val="115000"/>
              </a:lnSpc>
              <a:spcBef>
                <a:spcPts val="0"/>
              </a:spcBef>
              <a:spcAft>
                <a:spcPts val="0"/>
              </a:spcAft>
              <a:buSzPts val="2400"/>
              <a:buNone/>
            </a:pPr>
            <a:r>
              <a:rPr lang="en-US" sz="1600">
                <a:latin typeface="Arial"/>
                <a:ea typeface="Arial"/>
                <a:cs typeface="Arial"/>
                <a:sym typeface="Arial"/>
              </a:rPr>
              <a:t>This section reviews existing research relevant to building intelligent conversational agents for government job portals. The focus is on document understanding, information retrieval, dialogue management, multilingual processing, and privacy—each addressing specific challenges in delivering accurate, accessible, and trustworthy services to citizens.</a:t>
            </a:r>
            <a:endParaRPr sz="1600">
              <a:latin typeface="Arial"/>
              <a:ea typeface="Arial"/>
              <a:cs typeface="Arial"/>
              <a:sym typeface="Arial"/>
            </a:endParaRPr>
          </a:p>
          <a:p>
            <a:pPr indent="0" lvl="0" marL="152400" rtl="0" algn="l">
              <a:lnSpc>
                <a:spcPct val="115000"/>
              </a:lnSpc>
              <a:spcBef>
                <a:spcPts val="0"/>
              </a:spcBef>
              <a:spcAft>
                <a:spcPts val="0"/>
              </a:spcAft>
              <a:buSzPts val="2400"/>
              <a:buNone/>
            </a:pPr>
            <a:r>
              <a:t/>
            </a:r>
            <a:endParaRPr sz="1600">
              <a:latin typeface="Arial"/>
              <a:ea typeface="Arial"/>
              <a:cs typeface="Arial"/>
              <a:sym typeface="Arial"/>
            </a:endParaRPr>
          </a:p>
          <a:p>
            <a:pPr indent="0" lvl="0" marL="152400" rtl="0" algn="l">
              <a:lnSpc>
                <a:spcPct val="115000"/>
              </a:lnSpc>
              <a:spcBef>
                <a:spcPts val="0"/>
              </a:spcBef>
              <a:spcAft>
                <a:spcPts val="0"/>
              </a:spcAft>
              <a:buSzPts val="2400"/>
              <a:buNone/>
            </a:pPr>
            <a:r>
              <a:rPr b="1" lang="en-US" sz="1600">
                <a:latin typeface="Arial"/>
                <a:ea typeface="Arial"/>
                <a:cs typeface="Arial"/>
                <a:sym typeface="Arial"/>
              </a:rPr>
              <a:t>1. Document Understanding for Job Notifications</a:t>
            </a:r>
            <a:endParaRPr b="1" sz="1600">
              <a:latin typeface="Arial"/>
              <a:ea typeface="Arial"/>
              <a:cs typeface="Arial"/>
              <a:sym typeface="Arial"/>
            </a:endParaRPr>
          </a:p>
          <a:p>
            <a:pPr indent="0" lvl="0" marL="152400" rtl="0" algn="l">
              <a:lnSpc>
                <a:spcPct val="115000"/>
              </a:lnSpc>
              <a:spcBef>
                <a:spcPts val="0"/>
              </a:spcBef>
              <a:spcAft>
                <a:spcPts val="0"/>
              </a:spcAft>
              <a:buSzPts val="2400"/>
              <a:buNone/>
            </a:pPr>
            <a:r>
              <a:t/>
            </a: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Char char="•"/>
            </a:pPr>
            <a:r>
              <a:rPr lang="en-US" sz="1600">
                <a:latin typeface="Arial"/>
                <a:ea typeface="Arial"/>
                <a:cs typeface="Arial"/>
                <a:sym typeface="Arial"/>
              </a:rPr>
              <a:t>Research on layout-aware document models (LayoutLM, TILT).</a:t>
            </a:r>
            <a:endParaRPr sz="1600">
              <a:latin typeface="Arial"/>
              <a:ea typeface="Arial"/>
              <a:cs typeface="Arial"/>
              <a:sym typeface="Arial"/>
            </a:endParaRPr>
          </a:p>
          <a:p>
            <a:pPr indent="0" lvl="0" marL="457200" rtl="0" algn="l">
              <a:lnSpc>
                <a:spcPct val="115000"/>
              </a:lnSpc>
              <a:spcBef>
                <a:spcPts val="0"/>
              </a:spcBef>
              <a:spcAft>
                <a:spcPts val="0"/>
              </a:spcAft>
              <a:buNone/>
            </a:pPr>
            <a:r>
              <a:t/>
            </a: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Char char="•"/>
            </a:pPr>
            <a:r>
              <a:rPr lang="en-US" sz="1600">
                <a:latin typeface="Arial"/>
                <a:ea typeface="Arial"/>
                <a:cs typeface="Arial"/>
                <a:sym typeface="Arial"/>
              </a:rPr>
              <a:t>Importance of OCR + table extraction for structured data from scanned PDFs.</a:t>
            </a:r>
            <a:endParaRPr sz="1600">
              <a:latin typeface="Arial"/>
              <a:ea typeface="Arial"/>
              <a:cs typeface="Arial"/>
              <a:sym typeface="Arial"/>
            </a:endParaRPr>
          </a:p>
          <a:p>
            <a:pPr indent="0" lvl="0" marL="457200" rtl="0" algn="l">
              <a:lnSpc>
                <a:spcPct val="115000"/>
              </a:lnSpc>
              <a:spcBef>
                <a:spcPts val="0"/>
              </a:spcBef>
              <a:spcAft>
                <a:spcPts val="0"/>
              </a:spcAft>
              <a:buNone/>
            </a:pPr>
            <a:r>
              <a:t/>
            </a: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Char char="•"/>
            </a:pPr>
            <a:r>
              <a:rPr lang="en-US" sz="1600">
                <a:latin typeface="Arial"/>
                <a:ea typeface="Arial"/>
                <a:cs typeface="Arial"/>
                <a:sym typeface="Arial"/>
              </a:rPr>
              <a:t>Gap: most job notices are low-quality scans requiring robust preprocessing.</a:t>
            </a:r>
            <a:endParaRPr sz="16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Literature Survey</a:t>
            </a:r>
            <a:endParaRPr>
              <a:latin typeface="Cambria"/>
              <a:ea typeface="Cambria"/>
              <a:cs typeface="Cambria"/>
              <a:sym typeface="Cambria"/>
            </a:endParaRPr>
          </a:p>
        </p:txBody>
      </p:sp>
      <p:sp>
        <p:nvSpPr>
          <p:cNvPr id="117" name="Google Shape;117;p17"/>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0" lvl="0" marL="457200" rtl="0" algn="l">
              <a:lnSpc>
                <a:spcPct val="115000"/>
              </a:lnSpc>
              <a:spcBef>
                <a:spcPts val="0"/>
              </a:spcBef>
              <a:spcAft>
                <a:spcPts val="0"/>
              </a:spcAft>
              <a:buNone/>
            </a:pPr>
            <a:r>
              <a:rPr b="1" lang="en-US" sz="1600">
                <a:latin typeface="Arial"/>
                <a:ea typeface="Arial"/>
                <a:cs typeface="Arial"/>
                <a:sym typeface="Arial"/>
              </a:rPr>
              <a:t>2. Information Retrieval and Retrieval-Augmented Generation</a:t>
            </a:r>
            <a:endParaRPr b="1" sz="1600">
              <a:latin typeface="Arial"/>
              <a:ea typeface="Arial"/>
              <a:cs typeface="Arial"/>
              <a:sym typeface="Arial"/>
            </a:endParaRPr>
          </a:p>
          <a:p>
            <a:pPr indent="0" lvl="0" marL="457200" rtl="0" algn="l">
              <a:lnSpc>
                <a:spcPct val="115000"/>
              </a:lnSpc>
              <a:spcBef>
                <a:spcPts val="0"/>
              </a:spcBef>
              <a:spcAft>
                <a:spcPts val="0"/>
              </a:spcAft>
              <a:buNone/>
            </a:pPr>
            <a:r>
              <a:t/>
            </a:r>
            <a:endParaRPr b="1"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Dense Passage Retrieval (DPR) and ColBERT for semantic matching.</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RAG framework combining retrieval + generation to reduce hallucinations.</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Application: answering user queries with precise, source-backed content.</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b="1" sz="1600">
              <a:latin typeface="Arial"/>
              <a:ea typeface="Arial"/>
              <a:cs typeface="Arial"/>
              <a:sym typeface="Arial"/>
            </a:endParaRPr>
          </a:p>
          <a:p>
            <a:pPr indent="0" lvl="0" marL="457200" rtl="0" algn="l">
              <a:lnSpc>
                <a:spcPct val="115000"/>
              </a:lnSpc>
              <a:spcBef>
                <a:spcPts val="0"/>
              </a:spcBef>
              <a:spcAft>
                <a:spcPts val="0"/>
              </a:spcAft>
              <a:buNone/>
            </a:pPr>
            <a:r>
              <a:rPr b="1" lang="en-US" sz="1600">
                <a:latin typeface="Arial"/>
                <a:ea typeface="Arial"/>
                <a:cs typeface="Arial"/>
                <a:sym typeface="Arial"/>
              </a:rPr>
              <a:t>3. Task-Oriented Dialogue and State Tracking</a:t>
            </a:r>
            <a:endParaRPr b="1" sz="1600">
              <a:latin typeface="Arial"/>
              <a:ea typeface="Arial"/>
              <a:cs typeface="Arial"/>
              <a:sym typeface="Arial"/>
            </a:endParaRPr>
          </a:p>
          <a:p>
            <a:pPr indent="0" lvl="0" marL="457200" rtl="0" algn="l">
              <a:lnSpc>
                <a:spcPct val="115000"/>
              </a:lnSpc>
              <a:spcBef>
                <a:spcPts val="0"/>
              </a:spcBef>
              <a:spcAft>
                <a:spcPts val="0"/>
              </a:spcAft>
              <a:buNone/>
            </a:pPr>
            <a:r>
              <a:t/>
            </a:r>
            <a:endParaRPr b="1"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MultiWOZ dataset as benchmark for multi-domain dialogue systems.</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Dialogue state tracking methods for intent slots (e.g., job role, deadline).</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Application: enabling multi-turn flows like “Check eligibility → Apply → Track status.”</a:t>
            </a:r>
            <a:endParaRPr sz="16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Literature Survey</a:t>
            </a:r>
            <a:endParaRPr>
              <a:latin typeface="Cambria"/>
              <a:ea typeface="Cambria"/>
              <a:cs typeface="Cambria"/>
              <a:sym typeface="Cambria"/>
            </a:endParaRPr>
          </a:p>
        </p:txBody>
      </p:sp>
      <p:sp>
        <p:nvSpPr>
          <p:cNvPr id="123" name="Google Shape;123;p18"/>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0" lvl="0" marL="457200" rtl="0" algn="l">
              <a:lnSpc>
                <a:spcPct val="115000"/>
              </a:lnSpc>
              <a:spcBef>
                <a:spcPts val="0"/>
              </a:spcBef>
              <a:spcAft>
                <a:spcPts val="0"/>
              </a:spcAft>
              <a:buNone/>
            </a:pPr>
            <a:r>
              <a:rPr b="1" lang="en-US" sz="1600">
                <a:latin typeface="Arial"/>
                <a:ea typeface="Arial"/>
                <a:cs typeface="Arial"/>
                <a:sym typeface="Arial"/>
              </a:rPr>
              <a:t>4. Intent Classification and Entity Recognition</a:t>
            </a:r>
            <a:endParaRPr b="1" sz="1600">
              <a:latin typeface="Arial"/>
              <a:ea typeface="Arial"/>
              <a:cs typeface="Arial"/>
              <a:sym typeface="Arial"/>
            </a:endParaRPr>
          </a:p>
          <a:p>
            <a:pPr indent="0" lvl="0" marL="457200" rtl="0" algn="l">
              <a:lnSpc>
                <a:spcPct val="115000"/>
              </a:lnSpc>
              <a:spcBef>
                <a:spcPts val="0"/>
              </a:spcBef>
              <a:spcAft>
                <a:spcPts val="0"/>
              </a:spcAft>
              <a:buNone/>
            </a:pPr>
            <a:r>
              <a:t/>
            </a:r>
            <a:endParaRPr b="1"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Transformer-based joint intent + slot filling models.</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NER for extracting job titles, dates, qualifications, and departments.</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Application: mapping user free-text queries into structured system actions.</a:t>
            </a:r>
            <a:endParaRPr sz="1600">
              <a:latin typeface="Arial"/>
              <a:ea typeface="Arial"/>
              <a:cs typeface="Arial"/>
              <a:sym typeface="Arial"/>
            </a:endParaRPr>
          </a:p>
          <a:p>
            <a:pPr indent="0" lvl="0" marL="457200" rtl="0" algn="l">
              <a:lnSpc>
                <a:spcPct val="115000"/>
              </a:lnSpc>
              <a:spcBef>
                <a:spcPts val="0"/>
              </a:spcBef>
              <a:spcAft>
                <a:spcPts val="0"/>
              </a:spcAft>
              <a:buNone/>
            </a:pPr>
            <a:r>
              <a:t/>
            </a:r>
            <a:endParaRPr b="1" sz="1600">
              <a:latin typeface="Arial"/>
              <a:ea typeface="Arial"/>
              <a:cs typeface="Arial"/>
              <a:sym typeface="Arial"/>
            </a:endParaRPr>
          </a:p>
          <a:p>
            <a:pPr indent="0" lvl="0" marL="457200" rtl="0" algn="l">
              <a:lnSpc>
                <a:spcPct val="115000"/>
              </a:lnSpc>
              <a:spcBef>
                <a:spcPts val="0"/>
              </a:spcBef>
              <a:spcAft>
                <a:spcPts val="0"/>
              </a:spcAft>
              <a:buNone/>
            </a:pPr>
            <a:r>
              <a:rPr b="1" lang="en-US" sz="1600">
                <a:latin typeface="Arial"/>
                <a:ea typeface="Arial"/>
                <a:cs typeface="Arial"/>
                <a:sym typeface="Arial"/>
              </a:rPr>
              <a:t>5. Question Answering Across Multiple Notices</a:t>
            </a:r>
            <a:endParaRPr b="1" sz="1600">
              <a:latin typeface="Arial"/>
              <a:ea typeface="Arial"/>
              <a:cs typeface="Arial"/>
              <a:sym typeface="Arial"/>
            </a:endParaRPr>
          </a:p>
          <a:p>
            <a:pPr indent="0" lvl="0" marL="457200" rtl="0" algn="l">
              <a:lnSpc>
                <a:spcPct val="115000"/>
              </a:lnSpc>
              <a:spcBef>
                <a:spcPts val="0"/>
              </a:spcBef>
              <a:spcAft>
                <a:spcPts val="0"/>
              </a:spcAft>
              <a:buNone/>
            </a:pPr>
            <a:r>
              <a:t/>
            </a:r>
            <a:endParaRPr b="1"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Extractive QA methods (SQuAD) vs. multi-hop QA (HotpotQA).</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Need to consolidate conflicting or scattered job information.</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Application: user asks “How many vacancies are open in Police Department 2025?”</a:t>
            </a:r>
            <a:endParaRPr sz="160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Literature Survey</a:t>
            </a:r>
            <a:endParaRPr>
              <a:latin typeface="Cambria"/>
              <a:ea typeface="Cambria"/>
              <a:cs typeface="Cambria"/>
              <a:sym typeface="Cambria"/>
            </a:endParaRPr>
          </a:p>
        </p:txBody>
      </p:sp>
      <p:sp>
        <p:nvSpPr>
          <p:cNvPr id="129" name="Google Shape;129;p19"/>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0" lvl="0" marL="457200" rtl="0" algn="l">
              <a:lnSpc>
                <a:spcPct val="115000"/>
              </a:lnSpc>
              <a:spcBef>
                <a:spcPts val="0"/>
              </a:spcBef>
              <a:spcAft>
                <a:spcPts val="0"/>
              </a:spcAft>
              <a:buNone/>
            </a:pPr>
            <a:r>
              <a:rPr b="1" lang="en-US" sz="1600">
                <a:latin typeface="Arial"/>
                <a:ea typeface="Arial"/>
                <a:cs typeface="Arial"/>
                <a:sym typeface="Arial"/>
              </a:rPr>
              <a:t>6. Multilingual and Code-Switched Queries</a:t>
            </a:r>
            <a:endParaRPr b="1" sz="1600">
              <a:latin typeface="Arial"/>
              <a:ea typeface="Arial"/>
              <a:cs typeface="Arial"/>
              <a:sym typeface="Arial"/>
            </a:endParaRPr>
          </a:p>
          <a:p>
            <a:pPr indent="0" lvl="0" marL="457200" rtl="0" algn="l">
              <a:lnSpc>
                <a:spcPct val="115000"/>
              </a:lnSpc>
              <a:spcBef>
                <a:spcPts val="0"/>
              </a:spcBef>
              <a:spcAft>
                <a:spcPts val="0"/>
              </a:spcAft>
              <a:buNone/>
            </a:pPr>
            <a:r>
              <a:t/>
            </a:r>
            <a:endParaRPr b="1" sz="1600">
              <a:latin typeface="Arial"/>
              <a:ea typeface="Arial"/>
              <a:cs typeface="Arial"/>
              <a:sym typeface="Arial"/>
            </a:endParaRPr>
          </a:p>
          <a:p>
            <a:pPr indent="-330200" lvl="0" marL="1371600" rtl="0" algn="l">
              <a:lnSpc>
                <a:spcPct val="115000"/>
              </a:lnSpc>
              <a:spcBef>
                <a:spcPts val="0"/>
              </a:spcBef>
              <a:spcAft>
                <a:spcPts val="0"/>
              </a:spcAft>
              <a:buSzPts val="1600"/>
              <a:buFont typeface="Arial"/>
              <a:buChar char="•"/>
            </a:pPr>
            <a:r>
              <a:rPr lang="en-US" sz="1600">
                <a:latin typeface="Arial"/>
                <a:ea typeface="Arial"/>
                <a:cs typeface="Arial"/>
                <a:sym typeface="Arial"/>
              </a:rPr>
              <a:t>XLM-R and cross-lingual embeddings for multi-language handling.</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1371600" rtl="0" algn="l">
              <a:lnSpc>
                <a:spcPct val="115000"/>
              </a:lnSpc>
              <a:spcBef>
                <a:spcPts val="0"/>
              </a:spcBef>
              <a:spcAft>
                <a:spcPts val="0"/>
              </a:spcAft>
              <a:buSzPts val="1600"/>
              <a:buFont typeface="Arial"/>
              <a:buChar char="•"/>
            </a:pPr>
            <a:r>
              <a:rPr lang="en-US" sz="1600">
                <a:latin typeface="Arial"/>
                <a:ea typeface="Arial"/>
                <a:cs typeface="Arial"/>
                <a:sym typeface="Arial"/>
              </a:rPr>
              <a:t>Code-switching challenges in Indian contexts (English + regional languages).</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1371600" rtl="0" algn="l">
              <a:lnSpc>
                <a:spcPct val="115000"/>
              </a:lnSpc>
              <a:spcBef>
                <a:spcPts val="0"/>
              </a:spcBef>
              <a:spcAft>
                <a:spcPts val="0"/>
              </a:spcAft>
              <a:buSzPts val="1600"/>
              <a:buFont typeface="Arial"/>
              <a:buChar char="•"/>
            </a:pPr>
            <a:r>
              <a:rPr lang="en-US" sz="1600">
                <a:latin typeface="Arial"/>
                <a:ea typeface="Arial"/>
                <a:cs typeface="Arial"/>
                <a:sym typeface="Arial"/>
              </a:rPr>
              <a:t>Application: user query like “Punjab Police ki last date kya hai?”</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0" lvl="0" marL="457200" rtl="0" algn="l">
              <a:lnSpc>
                <a:spcPct val="115000"/>
              </a:lnSpc>
              <a:spcBef>
                <a:spcPts val="0"/>
              </a:spcBef>
              <a:spcAft>
                <a:spcPts val="0"/>
              </a:spcAft>
              <a:buNone/>
            </a:pPr>
            <a:r>
              <a:rPr b="1" lang="en-US" sz="1600">
                <a:latin typeface="Arial"/>
                <a:ea typeface="Arial"/>
                <a:cs typeface="Arial"/>
                <a:sym typeface="Arial"/>
              </a:rPr>
              <a:t>7. Privacy, Explainability, and Human-in-the-Loop Approaches</a:t>
            </a:r>
            <a:endParaRPr b="1" sz="1600">
              <a:latin typeface="Arial"/>
              <a:ea typeface="Arial"/>
              <a:cs typeface="Arial"/>
              <a:sym typeface="Arial"/>
            </a:endParaRPr>
          </a:p>
          <a:p>
            <a:pPr indent="0" lvl="0" marL="457200" rtl="0" algn="l">
              <a:lnSpc>
                <a:spcPct val="115000"/>
              </a:lnSpc>
              <a:spcBef>
                <a:spcPts val="0"/>
              </a:spcBef>
              <a:spcAft>
                <a:spcPts val="0"/>
              </a:spcAft>
              <a:buNone/>
            </a:pPr>
            <a:r>
              <a:t/>
            </a:r>
            <a:endParaRPr sz="1600">
              <a:latin typeface="Arial"/>
              <a:ea typeface="Arial"/>
              <a:cs typeface="Arial"/>
              <a:sym typeface="Arial"/>
            </a:endParaRPr>
          </a:p>
          <a:p>
            <a:pPr indent="-330200" lvl="0" marL="1371600" rtl="0" algn="l">
              <a:lnSpc>
                <a:spcPct val="115000"/>
              </a:lnSpc>
              <a:spcBef>
                <a:spcPts val="0"/>
              </a:spcBef>
              <a:spcAft>
                <a:spcPts val="0"/>
              </a:spcAft>
              <a:buSzPts val="1600"/>
              <a:buFont typeface="Arial"/>
              <a:buChar char="•"/>
            </a:pPr>
            <a:r>
              <a:rPr lang="en-US" sz="1600">
                <a:latin typeface="Arial"/>
                <a:ea typeface="Arial"/>
                <a:cs typeface="Arial"/>
                <a:sym typeface="Arial"/>
              </a:rPr>
              <a:t>Differential privacy for protecting user PII.</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1371600" rtl="0" algn="l">
              <a:lnSpc>
                <a:spcPct val="115000"/>
              </a:lnSpc>
              <a:spcBef>
                <a:spcPts val="0"/>
              </a:spcBef>
              <a:spcAft>
                <a:spcPts val="0"/>
              </a:spcAft>
              <a:buSzPts val="1600"/>
              <a:buFont typeface="Arial"/>
              <a:buChar char="•"/>
            </a:pPr>
            <a:r>
              <a:rPr lang="en-US" sz="1600">
                <a:latin typeface="Arial"/>
                <a:ea typeface="Arial"/>
                <a:cs typeface="Arial"/>
                <a:sym typeface="Arial"/>
              </a:rPr>
              <a:t>Provenance and explainability (showing document sources).</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1371600" rtl="0" algn="l">
              <a:lnSpc>
                <a:spcPct val="115000"/>
              </a:lnSpc>
              <a:spcBef>
                <a:spcPts val="0"/>
              </a:spcBef>
              <a:spcAft>
                <a:spcPts val="0"/>
              </a:spcAft>
              <a:buSzPts val="1600"/>
              <a:buFont typeface="Arial"/>
              <a:buChar char="•"/>
            </a:pPr>
            <a:r>
              <a:rPr lang="en-US" sz="1600">
                <a:latin typeface="Arial"/>
                <a:ea typeface="Arial"/>
                <a:cs typeface="Arial"/>
                <a:sym typeface="Arial"/>
              </a:rPr>
              <a:t>Active learning for iterative improvements from real user queries.</a:t>
            </a:r>
            <a:endParaRPr sz="160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Literature Survey </a:t>
            </a:r>
            <a:endParaRPr>
              <a:latin typeface="Cambria"/>
              <a:ea typeface="Cambria"/>
              <a:cs typeface="Cambria"/>
              <a:sym typeface="Cambria"/>
            </a:endParaRPr>
          </a:p>
        </p:txBody>
      </p:sp>
      <p:sp>
        <p:nvSpPr>
          <p:cNvPr id="135" name="Google Shape;135;p20"/>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0" lvl="0" marL="457200" rtl="0" algn="l">
              <a:lnSpc>
                <a:spcPct val="150000"/>
              </a:lnSpc>
              <a:spcBef>
                <a:spcPts val="0"/>
              </a:spcBef>
              <a:spcAft>
                <a:spcPts val="0"/>
              </a:spcAft>
              <a:buNone/>
            </a:pPr>
            <a:r>
              <a:rPr b="1" lang="en-US" sz="1600">
                <a:latin typeface="Arial"/>
                <a:ea typeface="Arial"/>
                <a:cs typeface="Arial"/>
                <a:sym typeface="Arial"/>
              </a:rPr>
              <a:t>Summary of Gaps and Relevance</a:t>
            </a:r>
            <a:endParaRPr b="1" sz="1600">
              <a:latin typeface="Arial"/>
              <a:ea typeface="Arial"/>
              <a:cs typeface="Arial"/>
              <a:sym typeface="Arial"/>
            </a:endParaRPr>
          </a:p>
          <a:p>
            <a:pPr indent="0" lvl="0" marL="457200" rtl="0" algn="l">
              <a:lnSpc>
                <a:spcPct val="150000"/>
              </a:lnSpc>
              <a:spcBef>
                <a:spcPts val="0"/>
              </a:spcBef>
              <a:spcAft>
                <a:spcPts val="0"/>
              </a:spcAft>
              <a:buNone/>
            </a:pPr>
            <a:r>
              <a:t/>
            </a:r>
            <a:endParaRPr b="1" sz="1600">
              <a:latin typeface="Arial"/>
              <a:ea typeface="Arial"/>
              <a:cs typeface="Arial"/>
              <a:sym typeface="Arial"/>
            </a:endParaRPr>
          </a:p>
          <a:p>
            <a:pPr indent="0" lvl="0" marL="914400" rtl="0" algn="l">
              <a:lnSpc>
                <a:spcPct val="150000"/>
              </a:lnSpc>
              <a:spcBef>
                <a:spcPts val="0"/>
              </a:spcBef>
              <a:spcAft>
                <a:spcPts val="0"/>
              </a:spcAft>
              <a:buNone/>
            </a:pPr>
            <a:r>
              <a:rPr lang="en-US" sz="1600">
                <a:latin typeface="Arial"/>
                <a:ea typeface="Arial"/>
                <a:cs typeface="Arial"/>
                <a:sym typeface="Arial"/>
              </a:rPr>
              <a:t>While prior research provides strong foundations in retrieval, dialogue, and document understanding, few studies apply these techniques directly to government employment portals. Our approach builds on these methods, emphasizing factual accuracy, multilingual support, and explainability—key for citizen trust in e-governance systems.</a:t>
            </a:r>
            <a:endParaRPr sz="16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Content</a:t>
            </a:r>
            <a:endParaRPr>
              <a:latin typeface="Cambria"/>
              <a:ea typeface="Cambria"/>
              <a:cs typeface="Cambria"/>
              <a:sym typeface="Cambria"/>
            </a:endParaRPr>
          </a:p>
        </p:txBody>
      </p:sp>
      <p:sp>
        <p:nvSpPr>
          <p:cNvPr id="141" name="Google Shape;141;p21"/>
          <p:cNvSpPr txBox="1"/>
          <p:nvPr>
            <p:ph idx="1" type="body"/>
          </p:nvPr>
        </p:nvSpPr>
        <p:spPr>
          <a:xfrm>
            <a:off x="762000" y="1091025"/>
            <a:ext cx="10668000" cy="2465100"/>
          </a:xfrm>
          <a:prstGeom prst="rect">
            <a:avLst/>
          </a:prstGeom>
          <a:noFill/>
          <a:ln>
            <a:noFill/>
          </a:ln>
        </p:spPr>
        <p:txBody>
          <a:bodyPr anchorCtr="0" anchor="t" bIns="45700" lIns="91425" spcFirstLastPara="1" rIns="91425" wrap="square" tIns="45700">
            <a:noAutofit/>
          </a:bodyPr>
          <a:lstStyle/>
          <a:p>
            <a:pPr indent="0" lvl="0" marL="0" rtl="0" algn="just">
              <a:lnSpc>
                <a:spcPct val="200000"/>
              </a:lnSpc>
              <a:spcBef>
                <a:spcPts val="0"/>
              </a:spcBef>
              <a:spcAft>
                <a:spcPts val="0"/>
              </a:spcAft>
              <a:buSzPts val="523"/>
              <a:buNone/>
            </a:pPr>
            <a:r>
              <a:rPr b="1" lang="en-US" sz="1600" u="sng">
                <a:latin typeface="Arial"/>
                <a:ea typeface="Arial"/>
                <a:cs typeface="Arial"/>
                <a:sym typeface="Arial"/>
              </a:rPr>
              <a:t>Problem Statement</a:t>
            </a:r>
            <a:endParaRPr sz="1600" u="sng">
              <a:latin typeface="Arial"/>
              <a:ea typeface="Arial"/>
              <a:cs typeface="Arial"/>
              <a:sym typeface="Arial"/>
            </a:endParaRPr>
          </a:p>
          <a:p>
            <a:pPr indent="0" lvl="0" marL="457200" rtl="0" algn="just">
              <a:lnSpc>
                <a:spcPct val="150000"/>
              </a:lnSpc>
              <a:spcBef>
                <a:spcPts val="0"/>
              </a:spcBef>
              <a:spcAft>
                <a:spcPts val="0"/>
              </a:spcAft>
              <a:buSzPts val="523"/>
              <a:buNone/>
            </a:pPr>
            <a:r>
              <a:rPr lang="en-US" sz="1600">
                <a:latin typeface="Arial"/>
                <a:ea typeface="Arial"/>
                <a:cs typeface="Arial"/>
                <a:sym typeface="Arial"/>
              </a:rPr>
              <a:t>	</a:t>
            </a:r>
            <a:r>
              <a:rPr lang="en-US" sz="1600">
                <a:latin typeface="Arial"/>
                <a:ea typeface="Arial"/>
                <a:cs typeface="Arial"/>
                <a:sym typeface="Arial"/>
              </a:rPr>
              <a:t>The current PGRKAM digital platform lacks an effective intelligent guidance system, forcing users to manually navigate multiple modules to locate information. This leads to poor user experience, inefficiency, and increased cognitive load. The platform does not provide a conversational interface that can assist users in real time, understand natural language queries (including multilingual and code-switched inputs), and streamline the discovery of relevant details about government jobs, skill development, or foreign counseling. Consequently, users spend excessive time and effort searching for information, highlighting the need for an AI-driven, interactive solution.</a:t>
            </a:r>
            <a:endParaRPr sz="1600">
              <a:latin typeface="Arial"/>
              <a:ea typeface="Arial"/>
              <a:cs typeface="Arial"/>
              <a:sym typeface="Arial"/>
            </a:endParaRPr>
          </a:p>
          <a:p>
            <a:pPr indent="0" lvl="0" marL="457200" rtl="0" algn="just">
              <a:lnSpc>
                <a:spcPct val="150000"/>
              </a:lnSpc>
              <a:spcBef>
                <a:spcPts val="0"/>
              </a:spcBef>
              <a:spcAft>
                <a:spcPts val="0"/>
              </a:spcAft>
              <a:buSzPts val="523"/>
              <a:buNone/>
            </a:pPr>
            <a:r>
              <a:t/>
            </a:r>
            <a:endParaRPr sz="1600">
              <a:latin typeface="Arial"/>
              <a:ea typeface="Arial"/>
              <a:cs typeface="Arial"/>
              <a:sym typeface="Arial"/>
            </a:endParaRPr>
          </a:p>
          <a:p>
            <a:pPr indent="0" lvl="0" marL="0" rtl="0" algn="l">
              <a:spcBef>
                <a:spcPts val="0"/>
              </a:spcBef>
              <a:spcAft>
                <a:spcPts val="0"/>
              </a:spcAft>
              <a:buSzPts val="1700"/>
              <a:buNone/>
            </a:pPr>
            <a:r>
              <a:rPr b="1" lang="en-US" sz="1600" u="sng">
                <a:latin typeface="Arial"/>
                <a:ea typeface="Arial"/>
                <a:cs typeface="Arial"/>
                <a:sym typeface="Arial"/>
              </a:rPr>
              <a:t>Goal</a:t>
            </a:r>
            <a:r>
              <a:rPr b="1" lang="en-US" sz="1600">
                <a:latin typeface="Arial"/>
                <a:ea typeface="Arial"/>
                <a:cs typeface="Arial"/>
                <a:sym typeface="Arial"/>
              </a:rPr>
              <a:t>: </a:t>
            </a:r>
            <a:endParaRPr b="1" sz="1600">
              <a:latin typeface="Arial"/>
              <a:ea typeface="Arial"/>
              <a:cs typeface="Arial"/>
              <a:sym typeface="Arial"/>
            </a:endParaRPr>
          </a:p>
          <a:p>
            <a:pPr indent="0" lvl="0" marL="0" rtl="0" algn="l">
              <a:spcBef>
                <a:spcPts val="0"/>
              </a:spcBef>
              <a:spcAft>
                <a:spcPts val="0"/>
              </a:spcAft>
              <a:buClr>
                <a:schemeClr val="dk1"/>
              </a:buClr>
              <a:buSzPts val="1700"/>
              <a:buFont typeface="Arial"/>
              <a:buNone/>
            </a:pPr>
            <a:r>
              <a:rPr b="1" lang="en-US" sz="1600">
                <a:latin typeface="Arial"/>
                <a:ea typeface="Arial"/>
                <a:cs typeface="Arial"/>
                <a:sym typeface="Arial"/>
              </a:rPr>
              <a:t>		</a:t>
            </a:r>
            <a:r>
              <a:rPr lang="en-US" sz="1600">
                <a:latin typeface="Arial"/>
                <a:ea typeface="Arial"/>
                <a:cs typeface="Arial"/>
                <a:sym typeface="Arial"/>
              </a:rPr>
              <a:t>Develop an AI-driven conversational assistant for the PGRKAM portal to improve user experience, efficiency, and accessibility.</a:t>
            </a:r>
            <a:endParaRPr sz="1600">
              <a:latin typeface="Arial"/>
              <a:ea typeface="Arial"/>
              <a:cs typeface="Arial"/>
              <a:sym typeface="Arial"/>
            </a:endParaRPr>
          </a:p>
          <a:p>
            <a:pPr indent="-190500" lvl="0" marL="495300" rtl="0" algn="just">
              <a:lnSpc>
                <a:spcPct val="200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a:p>
            <a:pPr indent="-190500" lvl="0" marL="495300" rtl="0" algn="just">
              <a:lnSpc>
                <a:spcPct val="200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a:p>
            <a:pPr indent="-190500" lvl="0" marL="495300" rtl="0" algn="just">
              <a:lnSpc>
                <a:spcPct val="200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Objectives</a:t>
            </a:r>
            <a:endParaRPr>
              <a:latin typeface="Cambria"/>
              <a:ea typeface="Cambria"/>
              <a:cs typeface="Cambria"/>
              <a:sym typeface="Cambria"/>
            </a:endParaRPr>
          </a:p>
        </p:txBody>
      </p:sp>
      <p:sp>
        <p:nvSpPr>
          <p:cNvPr id="147" name="Google Shape;147;p22"/>
          <p:cNvSpPr txBox="1"/>
          <p:nvPr/>
        </p:nvSpPr>
        <p:spPr>
          <a:xfrm>
            <a:off x="855250" y="1091250"/>
            <a:ext cx="10583100" cy="24651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50000"/>
              </a:lnSpc>
              <a:spcBef>
                <a:spcPts val="0"/>
              </a:spcBef>
              <a:spcAft>
                <a:spcPts val="0"/>
              </a:spcAft>
              <a:buClr>
                <a:schemeClr val="dk1"/>
              </a:buClr>
              <a:buSzPts val="1600"/>
              <a:buAutoNum type="arabicPeriod"/>
            </a:pPr>
            <a:r>
              <a:rPr b="1" lang="en-US" sz="1600">
                <a:solidFill>
                  <a:schemeClr val="dk1"/>
                </a:solidFill>
              </a:rPr>
              <a:t>Intelligent Information Retrieval:</a:t>
            </a:r>
            <a:endParaRPr b="1" sz="1600">
              <a:solidFill>
                <a:schemeClr val="dk1"/>
              </a:solidFill>
            </a:endParaRPr>
          </a:p>
          <a:p>
            <a:pPr indent="0" lvl="0" marL="1371600" marR="0" rtl="0" algn="l">
              <a:lnSpc>
                <a:spcPct val="150000"/>
              </a:lnSpc>
              <a:spcBef>
                <a:spcPts val="0"/>
              </a:spcBef>
              <a:spcAft>
                <a:spcPts val="0"/>
              </a:spcAft>
              <a:buNone/>
            </a:pPr>
            <a:r>
              <a:rPr lang="en-US" sz="1600">
                <a:solidFill>
                  <a:schemeClr val="dk1"/>
                </a:solidFill>
              </a:rPr>
              <a:t>Implement a hybrid search system combining semantic embeddings and keyword-based search to retrieve accurate and relevant information from job notices, skill development modules, and foreign counseling resources.</a:t>
            </a:r>
            <a:endParaRPr sz="1600">
              <a:solidFill>
                <a:schemeClr val="dk1"/>
              </a:solidFill>
            </a:endParaRPr>
          </a:p>
          <a:p>
            <a:pPr indent="0" lvl="0" marL="1828800" marR="0" rtl="0" algn="l">
              <a:lnSpc>
                <a:spcPct val="150000"/>
              </a:lnSpc>
              <a:spcBef>
                <a:spcPts val="0"/>
              </a:spcBef>
              <a:spcAft>
                <a:spcPts val="0"/>
              </a:spcAft>
              <a:buNone/>
            </a:pPr>
            <a:r>
              <a:t/>
            </a:r>
            <a:endParaRPr sz="1600">
              <a:solidFill>
                <a:schemeClr val="dk1"/>
              </a:solidFill>
            </a:endParaRPr>
          </a:p>
          <a:p>
            <a:pPr indent="-330200" lvl="0" marL="457200" marR="0" rtl="0" algn="l">
              <a:lnSpc>
                <a:spcPct val="150000"/>
              </a:lnSpc>
              <a:spcBef>
                <a:spcPts val="0"/>
              </a:spcBef>
              <a:spcAft>
                <a:spcPts val="0"/>
              </a:spcAft>
              <a:buClr>
                <a:schemeClr val="dk1"/>
              </a:buClr>
              <a:buSzPts val="1600"/>
              <a:buAutoNum type="arabicPeriod"/>
            </a:pPr>
            <a:r>
              <a:rPr b="1" lang="en-US" sz="1600">
                <a:solidFill>
                  <a:schemeClr val="dk1"/>
                </a:solidFill>
              </a:rPr>
              <a:t>Conversational Guidance (Interactive Chatbot):</a:t>
            </a:r>
            <a:endParaRPr b="1" sz="1600">
              <a:solidFill>
                <a:schemeClr val="dk1"/>
              </a:solidFill>
            </a:endParaRPr>
          </a:p>
          <a:p>
            <a:pPr indent="0" lvl="0" marL="1371600" marR="0" rtl="0" algn="l">
              <a:lnSpc>
                <a:spcPct val="150000"/>
              </a:lnSpc>
              <a:spcBef>
                <a:spcPts val="0"/>
              </a:spcBef>
              <a:spcAft>
                <a:spcPts val="0"/>
              </a:spcAft>
              <a:buNone/>
            </a:pPr>
            <a:r>
              <a:rPr lang="en-US" sz="1600">
                <a:solidFill>
                  <a:schemeClr val="dk1"/>
                </a:solidFill>
              </a:rPr>
              <a:t>Design a multi-turn dialogue system that maintains context, understands natural language queries (including multilingual and code-switched inputs), and guides users through tasks such as job application tracking or resource discovery.</a:t>
            </a:r>
            <a:endParaRPr sz="1600">
              <a:solidFill>
                <a:schemeClr val="dk1"/>
              </a:solidFill>
            </a:endParaRPr>
          </a:p>
          <a:p>
            <a:pPr indent="0" lvl="0" marL="914400" marR="0" rtl="0" algn="l">
              <a:lnSpc>
                <a:spcPct val="150000"/>
              </a:lnSpc>
              <a:spcBef>
                <a:spcPts val="0"/>
              </a:spcBef>
              <a:spcAft>
                <a:spcPts val="0"/>
              </a:spcAft>
              <a:buNone/>
            </a:pPr>
            <a:r>
              <a:t/>
            </a:r>
            <a:endParaRPr sz="1600">
              <a:solidFill>
                <a:schemeClr val="dk1"/>
              </a:solidFill>
            </a:endParaRPr>
          </a:p>
          <a:p>
            <a:pPr indent="-330200" lvl="0" marL="457200" marR="0" rtl="0" algn="l">
              <a:lnSpc>
                <a:spcPct val="150000"/>
              </a:lnSpc>
              <a:spcBef>
                <a:spcPts val="0"/>
              </a:spcBef>
              <a:spcAft>
                <a:spcPts val="0"/>
              </a:spcAft>
              <a:buClr>
                <a:schemeClr val="dk1"/>
              </a:buClr>
              <a:buSzPts val="1600"/>
              <a:buAutoNum type="arabicPeriod"/>
            </a:pPr>
            <a:r>
              <a:rPr b="1" lang="en-US" sz="1600">
                <a:solidFill>
                  <a:schemeClr val="dk1"/>
                </a:solidFill>
              </a:rPr>
              <a:t>Task-Oriented Assistance:</a:t>
            </a:r>
            <a:endParaRPr sz="1600">
              <a:solidFill>
                <a:schemeClr val="dk1"/>
              </a:solidFill>
            </a:endParaRPr>
          </a:p>
          <a:p>
            <a:pPr indent="0" lvl="0" marL="1371600" marR="0" rtl="0" algn="l">
              <a:lnSpc>
                <a:spcPct val="150000"/>
              </a:lnSpc>
              <a:spcBef>
                <a:spcPts val="0"/>
              </a:spcBef>
              <a:spcAft>
                <a:spcPts val="0"/>
              </a:spcAft>
              <a:buNone/>
            </a:pPr>
            <a:r>
              <a:rPr lang="en-US" sz="1600">
                <a:solidFill>
                  <a:schemeClr val="dk1"/>
                </a:solidFill>
              </a:rPr>
              <a:t>Enable users to complete goal-directed tasks efficiently, such as finding deadlines, eligibility criteria, or skill programs, reducing manual navigation across portal modules.</a:t>
            </a:r>
            <a:endParaRPr sz="1600">
              <a:solidFill>
                <a:schemeClr val="dk1"/>
              </a:solidFill>
            </a:endParaRPr>
          </a:p>
          <a:p>
            <a:pPr indent="0" lvl="0" marL="914400" marR="0" rtl="0" algn="l">
              <a:lnSpc>
                <a:spcPct val="150000"/>
              </a:lnSpc>
              <a:spcBef>
                <a:spcPts val="0"/>
              </a:spcBef>
              <a:spcAft>
                <a:spcPts val="0"/>
              </a:spcAft>
              <a:buNone/>
            </a:pPr>
            <a:r>
              <a:t/>
            </a:r>
            <a:endParaRPr sz="1600">
              <a:solidFill>
                <a:schemeClr val="dk1"/>
              </a:solidFill>
            </a:endParaRPr>
          </a:p>
          <a:p>
            <a:pPr indent="0" lvl="0" marL="1371600" marR="0" rtl="0" algn="l">
              <a:lnSpc>
                <a:spcPct val="150000"/>
              </a:lnSpc>
              <a:spcBef>
                <a:spcPts val="0"/>
              </a:spcBef>
              <a:spcAft>
                <a:spcPts val="0"/>
              </a:spcAft>
              <a:buNone/>
            </a:pPr>
            <a:r>
              <a:t/>
            </a:r>
            <a:endParaRPr sz="16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type="title"/>
          </p:nvPr>
        </p:nvSpPr>
        <p:spPr>
          <a:xfrm>
            <a:off x="7620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Objectives</a:t>
            </a:r>
            <a:endParaRPr>
              <a:latin typeface="Cambria"/>
              <a:ea typeface="Cambria"/>
              <a:cs typeface="Cambria"/>
              <a:sym typeface="Cambria"/>
            </a:endParaRPr>
          </a:p>
        </p:txBody>
      </p:sp>
      <p:sp>
        <p:nvSpPr>
          <p:cNvPr id="153" name="Google Shape;153;p23"/>
          <p:cNvSpPr txBox="1"/>
          <p:nvPr/>
        </p:nvSpPr>
        <p:spPr>
          <a:xfrm>
            <a:off x="855250" y="1091250"/>
            <a:ext cx="10583100" cy="24651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None/>
            </a:pPr>
            <a:r>
              <a:t/>
            </a:r>
            <a:endParaRPr sz="1600">
              <a:solidFill>
                <a:schemeClr val="dk1"/>
              </a:solidFill>
            </a:endParaRPr>
          </a:p>
          <a:p>
            <a:pPr indent="0" lvl="0" marL="0" marR="0" rtl="0" algn="l">
              <a:lnSpc>
                <a:spcPct val="150000"/>
              </a:lnSpc>
              <a:spcBef>
                <a:spcPts val="0"/>
              </a:spcBef>
              <a:spcAft>
                <a:spcPts val="0"/>
              </a:spcAft>
              <a:buNone/>
            </a:pPr>
            <a:r>
              <a:rPr b="1" lang="en-US" sz="1600">
                <a:solidFill>
                  <a:schemeClr val="dk1"/>
                </a:solidFill>
              </a:rPr>
              <a:t>4. Explainability and Provenance:</a:t>
            </a:r>
            <a:endParaRPr b="1" sz="1600">
              <a:solidFill>
                <a:schemeClr val="dk1"/>
              </a:solidFill>
            </a:endParaRPr>
          </a:p>
          <a:p>
            <a:pPr indent="0" lvl="0" marL="457200" marR="0" rtl="0" algn="l">
              <a:lnSpc>
                <a:spcPct val="150000"/>
              </a:lnSpc>
              <a:spcBef>
                <a:spcPts val="0"/>
              </a:spcBef>
              <a:spcAft>
                <a:spcPts val="0"/>
              </a:spcAft>
              <a:buNone/>
            </a:pPr>
            <a:r>
              <a:t/>
            </a:r>
            <a:endParaRPr sz="1600">
              <a:solidFill>
                <a:schemeClr val="dk1"/>
              </a:solidFill>
            </a:endParaRPr>
          </a:p>
          <a:p>
            <a:pPr indent="457200" lvl="0" marL="457200" marR="0" rtl="0" algn="l">
              <a:lnSpc>
                <a:spcPct val="150000"/>
              </a:lnSpc>
              <a:spcBef>
                <a:spcPts val="0"/>
              </a:spcBef>
              <a:spcAft>
                <a:spcPts val="0"/>
              </a:spcAft>
              <a:buNone/>
            </a:pPr>
            <a:r>
              <a:rPr lang="en-US" sz="1600">
                <a:solidFill>
                  <a:schemeClr val="dk1"/>
                </a:solidFill>
              </a:rPr>
              <a:t>Provide transparent responses with references to source documents or official notifications, ensuring user trust and compliance with government standards.</a:t>
            </a:r>
            <a:endParaRPr sz="1600">
              <a:solidFill>
                <a:schemeClr val="dk1"/>
              </a:solidFill>
            </a:endParaRPr>
          </a:p>
          <a:p>
            <a:pPr indent="0" lvl="0" marL="457200" marR="0" rtl="0" algn="l">
              <a:lnSpc>
                <a:spcPct val="150000"/>
              </a:lnSpc>
              <a:spcBef>
                <a:spcPts val="0"/>
              </a:spcBef>
              <a:spcAft>
                <a:spcPts val="0"/>
              </a:spcAft>
              <a:buNone/>
            </a:pPr>
            <a:r>
              <a:t/>
            </a:r>
            <a:endParaRPr sz="1600">
              <a:solidFill>
                <a:schemeClr val="dk1"/>
              </a:solidFill>
            </a:endParaRPr>
          </a:p>
          <a:p>
            <a:pPr indent="0" lvl="0" marL="0" marR="0" rtl="0" algn="l">
              <a:lnSpc>
                <a:spcPct val="150000"/>
              </a:lnSpc>
              <a:spcBef>
                <a:spcPts val="0"/>
              </a:spcBef>
              <a:spcAft>
                <a:spcPts val="0"/>
              </a:spcAft>
              <a:buNone/>
            </a:pPr>
            <a:r>
              <a:rPr b="1" lang="en-US" sz="1600">
                <a:solidFill>
                  <a:schemeClr val="dk1"/>
                </a:solidFill>
              </a:rPr>
              <a:t>5. Continuous Learning &amp; Improvement:</a:t>
            </a:r>
            <a:endParaRPr b="1" sz="1600">
              <a:solidFill>
                <a:schemeClr val="dk1"/>
              </a:solidFill>
            </a:endParaRPr>
          </a:p>
          <a:p>
            <a:pPr indent="0" lvl="0" marL="457200" marR="0" rtl="0" algn="l">
              <a:lnSpc>
                <a:spcPct val="150000"/>
              </a:lnSpc>
              <a:spcBef>
                <a:spcPts val="0"/>
              </a:spcBef>
              <a:spcAft>
                <a:spcPts val="0"/>
              </a:spcAft>
              <a:buNone/>
            </a:pPr>
            <a:r>
              <a:t/>
            </a:r>
            <a:endParaRPr sz="1600">
              <a:solidFill>
                <a:schemeClr val="dk1"/>
              </a:solidFill>
            </a:endParaRPr>
          </a:p>
          <a:p>
            <a:pPr indent="457200" lvl="0" marL="457200" marR="0" rtl="0" algn="l">
              <a:lnSpc>
                <a:spcPct val="150000"/>
              </a:lnSpc>
              <a:spcBef>
                <a:spcPts val="0"/>
              </a:spcBef>
              <a:spcAft>
                <a:spcPts val="0"/>
              </a:spcAft>
              <a:buNone/>
            </a:pPr>
            <a:r>
              <a:rPr lang="en-US" sz="1600">
                <a:solidFill>
                  <a:schemeClr val="dk1"/>
                </a:solidFill>
              </a:rPr>
              <a:t>Integrate a feedback loop where user interactions are logged (without compromising privacy) to improve retrieval accuracy, intent classification, and dialogue fluency over time.</a:t>
            </a:r>
            <a:endParaRPr sz="16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Background and Related work for title Selection</a:t>
            </a:r>
            <a:endParaRPr>
              <a:latin typeface="Cambria"/>
              <a:ea typeface="Cambria"/>
              <a:cs typeface="Cambria"/>
              <a:sym typeface="Cambria"/>
            </a:endParaRPr>
          </a:p>
        </p:txBody>
      </p:sp>
      <p:sp>
        <p:nvSpPr>
          <p:cNvPr id="159" name="Google Shape;159;p24"/>
          <p:cNvSpPr txBox="1"/>
          <p:nvPr>
            <p:ph idx="1" type="body"/>
          </p:nvPr>
        </p:nvSpPr>
        <p:spPr>
          <a:xfrm>
            <a:off x="762000" y="1091025"/>
            <a:ext cx="10668000" cy="2465100"/>
          </a:xfrm>
          <a:prstGeom prst="rect">
            <a:avLst/>
          </a:prstGeom>
          <a:noFill/>
          <a:ln>
            <a:noFill/>
          </a:ln>
        </p:spPr>
        <p:txBody>
          <a:bodyPr anchorCtr="0" anchor="t" bIns="45700" lIns="91425" spcFirstLastPara="1" rIns="91425" wrap="square" tIns="45700">
            <a:noAutofit/>
          </a:bodyPr>
          <a:lstStyle/>
          <a:p>
            <a:pPr indent="0" lvl="0" marL="457200" rtl="0" algn="just">
              <a:lnSpc>
                <a:spcPct val="115000"/>
              </a:lnSpc>
              <a:spcBef>
                <a:spcPts val="0"/>
              </a:spcBef>
              <a:spcAft>
                <a:spcPts val="0"/>
              </a:spcAft>
              <a:buSzPts val="523"/>
              <a:buNone/>
            </a:pPr>
            <a:r>
              <a:rPr lang="en-US" sz="1600">
                <a:latin typeface="Arial"/>
                <a:ea typeface="Arial"/>
                <a:cs typeface="Arial"/>
                <a:sym typeface="Arial"/>
              </a:rPr>
              <a:t>The title, </a:t>
            </a:r>
            <a:r>
              <a:rPr b="1" lang="en-US" sz="1600">
                <a:latin typeface="Arial"/>
                <a:ea typeface="Arial"/>
                <a:cs typeface="Arial"/>
                <a:sym typeface="Arial"/>
              </a:rPr>
              <a:t>“PGRKAM Smart Assistant: An LLM-Powered Conversational Platform for Job Seekers”</a:t>
            </a:r>
            <a:r>
              <a:rPr lang="en-US" sz="1600">
                <a:latin typeface="Arial"/>
                <a:ea typeface="Arial"/>
                <a:cs typeface="Arial"/>
                <a:sym typeface="Arial"/>
              </a:rPr>
              <a:t> was carefully chosen to reflect both the technological foundation and the practical purpose of the project.</a:t>
            </a:r>
            <a:endParaRPr sz="1600">
              <a:latin typeface="Arial"/>
              <a:ea typeface="Arial"/>
              <a:cs typeface="Arial"/>
              <a:sym typeface="Arial"/>
            </a:endParaRPr>
          </a:p>
          <a:p>
            <a:pPr indent="0" lvl="0" marL="457200" rtl="0" algn="just">
              <a:lnSpc>
                <a:spcPct val="115000"/>
              </a:lnSpc>
              <a:spcBef>
                <a:spcPts val="0"/>
              </a:spcBef>
              <a:spcAft>
                <a:spcPts val="0"/>
              </a:spcAft>
              <a:buSzPts val="523"/>
              <a:buNone/>
            </a:pPr>
            <a:r>
              <a:t/>
            </a:r>
            <a:endParaRPr sz="1600">
              <a:latin typeface="Arial"/>
              <a:ea typeface="Arial"/>
              <a:cs typeface="Arial"/>
              <a:sym typeface="Arial"/>
            </a:endParaRPr>
          </a:p>
          <a:p>
            <a:pPr indent="-330200" lvl="0" marL="457200" rtl="0" algn="just">
              <a:lnSpc>
                <a:spcPct val="115000"/>
              </a:lnSpc>
              <a:spcBef>
                <a:spcPts val="0"/>
              </a:spcBef>
              <a:spcAft>
                <a:spcPts val="0"/>
              </a:spcAft>
              <a:buSzPts val="1600"/>
              <a:buFont typeface="Arial"/>
              <a:buChar char="•"/>
            </a:pPr>
            <a:r>
              <a:rPr b="1" lang="en-US" sz="1600">
                <a:latin typeface="Arial"/>
                <a:ea typeface="Arial"/>
                <a:cs typeface="Arial"/>
                <a:sym typeface="Arial"/>
              </a:rPr>
              <a:t>Platform Context (PGRKAM): </a:t>
            </a:r>
            <a:r>
              <a:rPr lang="en-US" sz="1600">
                <a:latin typeface="Arial"/>
                <a:ea typeface="Arial"/>
                <a:cs typeface="Arial"/>
                <a:sym typeface="Arial"/>
              </a:rPr>
              <a:t>The project focuses on the PGRKAM digital platform, a government portal for job seekers, skill development, and career guidance. The inclusion of the platform name emphasizes the domain-specific applicability of the solution.</a:t>
            </a:r>
            <a:endParaRPr sz="1600">
              <a:latin typeface="Arial"/>
              <a:ea typeface="Arial"/>
              <a:cs typeface="Arial"/>
              <a:sym typeface="Arial"/>
            </a:endParaRPr>
          </a:p>
          <a:p>
            <a:pPr indent="0" lvl="0" marL="457200" rtl="0" algn="just">
              <a:lnSpc>
                <a:spcPct val="115000"/>
              </a:lnSpc>
              <a:spcBef>
                <a:spcPts val="0"/>
              </a:spcBef>
              <a:spcAft>
                <a:spcPts val="0"/>
              </a:spcAft>
              <a:buSzPts val="523"/>
              <a:buNone/>
            </a:pPr>
            <a:r>
              <a:t/>
            </a:r>
            <a:endParaRPr sz="1600">
              <a:latin typeface="Arial"/>
              <a:ea typeface="Arial"/>
              <a:cs typeface="Arial"/>
              <a:sym typeface="Arial"/>
            </a:endParaRPr>
          </a:p>
          <a:p>
            <a:pPr indent="-330200" lvl="0" marL="457200" rtl="0" algn="just">
              <a:lnSpc>
                <a:spcPct val="115000"/>
              </a:lnSpc>
              <a:spcBef>
                <a:spcPts val="0"/>
              </a:spcBef>
              <a:spcAft>
                <a:spcPts val="0"/>
              </a:spcAft>
              <a:buSzPts val="1600"/>
              <a:buFont typeface="Arial"/>
              <a:buChar char="•"/>
            </a:pPr>
            <a:r>
              <a:rPr b="1" lang="en-US" sz="1600">
                <a:latin typeface="Arial"/>
                <a:ea typeface="Arial"/>
                <a:cs typeface="Arial"/>
                <a:sym typeface="Arial"/>
              </a:rPr>
              <a:t>Core Technology (LLM-Powered): </a:t>
            </a:r>
            <a:r>
              <a:rPr lang="en-US" sz="1600">
                <a:latin typeface="Arial"/>
                <a:ea typeface="Arial"/>
                <a:cs typeface="Arial"/>
                <a:sym typeface="Arial"/>
              </a:rPr>
              <a:t>The system leverages Large Language Models (LLMs), enabling natural language understanding, contextual dialogue management, and retrieval-augmented generation (RAG). This highlights the project’s reliance on state-of-the-art AI research for conversational interfaces.</a:t>
            </a:r>
            <a:endParaRPr sz="1600">
              <a:latin typeface="Arial"/>
              <a:ea typeface="Arial"/>
              <a:cs typeface="Arial"/>
              <a:sym typeface="Arial"/>
            </a:endParaRPr>
          </a:p>
          <a:p>
            <a:pPr indent="0" lvl="0" marL="457200" rtl="0" algn="just">
              <a:lnSpc>
                <a:spcPct val="115000"/>
              </a:lnSpc>
              <a:spcBef>
                <a:spcPts val="0"/>
              </a:spcBef>
              <a:spcAft>
                <a:spcPts val="0"/>
              </a:spcAft>
              <a:buSzPts val="523"/>
              <a:buNone/>
            </a:pPr>
            <a:r>
              <a:t/>
            </a:r>
            <a:endParaRPr sz="1600">
              <a:latin typeface="Arial"/>
              <a:ea typeface="Arial"/>
              <a:cs typeface="Arial"/>
              <a:sym typeface="Arial"/>
            </a:endParaRPr>
          </a:p>
          <a:p>
            <a:pPr indent="-330200" lvl="0" marL="457200" rtl="0" algn="just">
              <a:lnSpc>
                <a:spcPct val="115000"/>
              </a:lnSpc>
              <a:spcBef>
                <a:spcPts val="0"/>
              </a:spcBef>
              <a:spcAft>
                <a:spcPts val="0"/>
              </a:spcAft>
              <a:buSzPts val="1600"/>
              <a:buFont typeface="Arial"/>
              <a:buChar char="•"/>
            </a:pPr>
            <a:r>
              <a:rPr b="1" lang="en-US" sz="1600">
                <a:latin typeface="Arial"/>
                <a:ea typeface="Arial"/>
                <a:cs typeface="Arial"/>
                <a:sym typeface="Arial"/>
              </a:rPr>
              <a:t>Purpose (Conversational Platform for Job Seekers): </a:t>
            </a:r>
            <a:r>
              <a:rPr lang="en-US" sz="1600">
                <a:latin typeface="Arial"/>
                <a:ea typeface="Arial"/>
                <a:cs typeface="Arial"/>
                <a:sym typeface="Arial"/>
              </a:rPr>
              <a:t>The solution is designed to provide task-oriented guidance, streamline information discovery, and enhance user experience for individuals navigating complex government resources.</a:t>
            </a:r>
            <a:endParaRPr sz="1600">
              <a:latin typeface="Arial"/>
              <a:ea typeface="Arial"/>
              <a:cs typeface="Arial"/>
              <a:sym typeface="Arial"/>
            </a:endParaRPr>
          </a:p>
          <a:p>
            <a:pPr indent="0" lvl="0" marL="457200" rtl="0" algn="just">
              <a:lnSpc>
                <a:spcPct val="115000"/>
              </a:lnSpc>
              <a:spcBef>
                <a:spcPts val="0"/>
              </a:spcBef>
              <a:spcAft>
                <a:spcPts val="0"/>
              </a:spcAft>
              <a:buSzPts val="523"/>
              <a:buNone/>
            </a:pPr>
            <a:r>
              <a:t/>
            </a:r>
            <a:endParaRPr sz="1600">
              <a:latin typeface="Arial"/>
              <a:ea typeface="Arial"/>
              <a:cs typeface="Arial"/>
              <a:sym typeface="Arial"/>
            </a:endParaRPr>
          </a:p>
          <a:p>
            <a:pPr indent="-190500" lvl="0" marL="495300" rtl="0" algn="just">
              <a:lnSpc>
                <a:spcPct val="115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a:p>
            <a:pPr indent="-190500" lvl="0" marL="495300" rtl="0" algn="just">
              <a:lnSpc>
                <a:spcPct val="115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a:p>
            <a:pPr indent="-190500" lvl="0" marL="495300" rtl="0" algn="just">
              <a:lnSpc>
                <a:spcPct val="115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Background and Related work for title Selection</a:t>
            </a:r>
            <a:endParaRPr>
              <a:latin typeface="Cambria"/>
              <a:ea typeface="Cambria"/>
              <a:cs typeface="Cambria"/>
              <a:sym typeface="Cambria"/>
            </a:endParaRPr>
          </a:p>
        </p:txBody>
      </p:sp>
      <p:sp>
        <p:nvSpPr>
          <p:cNvPr id="165" name="Google Shape;165;p25"/>
          <p:cNvSpPr txBox="1"/>
          <p:nvPr>
            <p:ph idx="1" type="body"/>
          </p:nvPr>
        </p:nvSpPr>
        <p:spPr>
          <a:xfrm>
            <a:off x="762000" y="1091025"/>
            <a:ext cx="10668000" cy="2465100"/>
          </a:xfrm>
          <a:prstGeom prst="rect">
            <a:avLst/>
          </a:prstGeom>
          <a:noFill/>
          <a:ln>
            <a:noFill/>
          </a:ln>
        </p:spPr>
        <p:txBody>
          <a:bodyPr anchorCtr="0" anchor="t" bIns="45700" lIns="91425" spcFirstLastPara="1" rIns="91425" wrap="square" tIns="45700">
            <a:noAutofit/>
          </a:bodyPr>
          <a:lstStyle/>
          <a:p>
            <a:pPr indent="457200" lvl="0" marL="0" rtl="0" algn="just">
              <a:lnSpc>
                <a:spcPct val="100000"/>
              </a:lnSpc>
              <a:spcBef>
                <a:spcPts val="0"/>
              </a:spcBef>
              <a:spcAft>
                <a:spcPts val="0"/>
              </a:spcAft>
              <a:buSzPts val="523"/>
              <a:buNone/>
            </a:pPr>
            <a:r>
              <a:rPr b="1" lang="en-US" sz="1600">
                <a:latin typeface="Arial"/>
                <a:ea typeface="Arial"/>
                <a:cs typeface="Arial"/>
                <a:sym typeface="Arial"/>
              </a:rPr>
              <a:t>Relation to Existing Work:</a:t>
            </a:r>
            <a:endParaRPr b="1" sz="1600">
              <a:latin typeface="Arial"/>
              <a:ea typeface="Arial"/>
              <a:cs typeface="Arial"/>
              <a:sym typeface="Arial"/>
            </a:endParaRPr>
          </a:p>
          <a:p>
            <a:pPr indent="0" lvl="0" marL="457200" rtl="0" algn="just">
              <a:lnSpc>
                <a:spcPct val="100000"/>
              </a:lnSpc>
              <a:spcBef>
                <a:spcPts val="0"/>
              </a:spcBef>
              <a:spcAft>
                <a:spcPts val="0"/>
              </a:spcAft>
              <a:buSzPts val="523"/>
              <a:buNone/>
            </a:pPr>
            <a:r>
              <a:t/>
            </a:r>
            <a:endParaRPr sz="1600">
              <a:latin typeface="Arial"/>
              <a:ea typeface="Arial"/>
              <a:cs typeface="Arial"/>
              <a:sym typeface="Arial"/>
            </a:endParaRPr>
          </a:p>
          <a:p>
            <a:pPr indent="0" lvl="0" marL="914400" rtl="0" algn="just">
              <a:lnSpc>
                <a:spcPct val="100000"/>
              </a:lnSpc>
              <a:spcBef>
                <a:spcPts val="0"/>
              </a:spcBef>
              <a:spcAft>
                <a:spcPts val="0"/>
              </a:spcAft>
              <a:buSzPts val="523"/>
              <a:buNone/>
            </a:pPr>
            <a:r>
              <a:rPr lang="en-US" sz="1600">
                <a:latin typeface="Arial"/>
                <a:ea typeface="Arial"/>
                <a:cs typeface="Arial"/>
                <a:sym typeface="Arial"/>
              </a:rPr>
              <a:t>The title situates the project within current trends in AI-powered public service assistants, distinguishing it from traditional rule-based chatbots or general-purpose AI assistants like Siri and Alexa.</a:t>
            </a:r>
            <a:endParaRPr sz="1600">
              <a:latin typeface="Arial"/>
              <a:ea typeface="Arial"/>
              <a:cs typeface="Arial"/>
              <a:sym typeface="Arial"/>
            </a:endParaRPr>
          </a:p>
          <a:p>
            <a:pPr indent="0" lvl="0" marL="914400" rtl="0" algn="just">
              <a:lnSpc>
                <a:spcPct val="100000"/>
              </a:lnSpc>
              <a:spcBef>
                <a:spcPts val="0"/>
              </a:spcBef>
              <a:spcAft>
                <a:spcPts val="0"/>
              </a:spcAft>
              <a:buSzPts val="523"/>
              <a:buNone/>
            </a:pPr>
            <a:r>
              <a:t/>
            </a:r>
            <a:endParaRPr sz="1600">
              <a:latin typeface="Arial"/>
              <a:ea typeface="Arial"/>
              <a:cs typeface="Arial"/>
              <a:sym typeface="Arial"/>
            </a:endParaRPr>
          </a:p>
          <a:p>
            <a:pPr indent="0" lvl="0" marL="914400" rtl="0" algn="just">
              <a:lnSpc>
                <a:spcPct val="100000"/>
              </a:lnSpc>
              <a:spcBef>
                <a:spcPts val="0"/>
              </a:spcBef>
              <a:spcAft>
                <a:spcPts val="0"/>
              </a:spcAft>
              <a:buSzPts val="523"/>
              <a:buNone/>
            </a:pPr>
            <a:r>
              <a:rPr lang="en-US" sz="1600">
                <a:latin typeface="Arial"/>
                <a:ea typeface="Arial"/>
                <a:cs typeface="Arial"/>
                <a:sym typeface="Arial"/>
              </a:rPr>
              <a:t>It also reflects insights from prior research on domain-specific, multilingual, and task-oriented conversational agents, which emphasize accuracy, personalization, and accessibility for users in specialized domains.</a:t>
            </a:r>
            <a:endParaRPr sz="1600">
              <a:latin typeface="Arial"/>
              <a:ea typeface="Arial"/>
              <a:cs typeface="Arial"/>
              <a:sym typeface="Arial"/>
            </a:endParaRPr>
          </a:p>
          <a:p>
            <a:pPr indent="-190500" lvl="0" marL="952500" rtl="0" algn="just">
              <a:lnSpc>
                <a:spcPct val="100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a:p>
            <a:pPr indent="-190500" lvl="0" marL="952500" rtl="0" algn="just">
              <a:lnSpc>
                <a:spcPct val="100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a:p>
            <a:pPr indent="-190500" lvl="0" marL="952500" rtl="0" algn="just">
              <a:lnSpc>
                <a:spcPct val="100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Related works</a:t>
            </a:r>
            <a:endParaRPr>
              <a:latin typeface="Cambria"/>
              <a:ea typeface="Cambria"/>
              <a:cs typeface="Cambria"/>
              <a:sym typeface="Cambria"/>
            </a:endParaRPr>
          </a:p>
        </p:txBody>
      </p:sp>
      <p:sp>
        <p:nvSpPr>
          <p:cNvPr id="171" name="Google Shape;171;p26"/>
          <p:cNvSpPr txBox="1"/>
          <p:nvPr>
            <p:ph idx="1" type="body"/>
          </p:nvPr>
        </p:nvSpPr>
        <p:spPr>
          <a:xfrm>
            <a:off x="762000" y="1091025"/>
            <a:ext cx="10668000" cy="5283600"/>
          </a:xfrm>
          <a:prstGeom prst="rect">
            <a:avLst/>
          </a:prstGeom>
          <a:noFill/>
          <a:ln>
            <a:noFill/>
          </a:ln>
        </p:spPr>
        <p:txBody>
          <a:bodyPr anchorCtr="0" anchor="t" bIns="45700" lIns="342900" spcFirstLastPara="1" rIns="91425" wrap="square" tIns="45700">
            <a:noAutofit/>
          </a:bodyPr>
          <a:lstStyle/>
          <a:p>
            <a:pPr indent="-330200" lvl="0" marL="457200" rtl="0" algn="just">
              <a:lnSpc>
                <a:spcPct val="150000"/>
              </a:lnSpc>
              <a:spcBef>
                <a:spcPts val="0"/>
              </a:spcBef>
              <a:spcAft>
                <a:spcPts val="0"/>
              </a:spcAft>
              <a:buSzPts val="1600"/>
              <a:buFont typeface="Arial"/>
              <a:buAutoNum type="arabicPeriod"/>
            </a:pPr>
            <a:r>
              <a:rPr b="1" lang="en-US" sz="1600">
                <a:latin typeface="Arial"/>
                <a:ea typeface="Arial"/>
                <a:cs typeface="Arial"/>
                <a:sym typeface="Arial"/>
              </a:rPr>
              <a:t>Rule-Based Chatbots</a:t>
            </a:r>
            <a:endParaRPr b="1"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Early FAQ or scripted bots.</a:t>
            </a:r>
            <a:br>
              <a:rPr lang="en-US" sz="1600">
                <a:latin typeface="Arial"/>
                <a:ea typeface="Arial"/>
                <a:cs typeface="Arial"/>
                <a:sym typeface="Arial"/>
              </a:rPr>
            </a:b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b="1" lang="en-US" sz="1600">
                <a:latin typeface="Arial"/>
                <a:ea typeface="Arial"/>
                <a:cs typeface="Arial"/>
                <a:sym typeface="Arial"/>
              </a:rPr>
              <a:t>Limitations</a:t>
            </a:r>
            <a:r>
              <a:rPr lang="en-US" sz="1600">
                <a:latin typeface="Arial"/>
                <a:ea typeface="Arial"/>
                <a:cs typeface="Arial"/>
                <a:sym typeface="Arial"/>
              </a:rPr>
              <a:t>: cannot handle multi-turn dialogues or unseen queries.</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AutoNum type="arabicPeriod"/>
            </a:pPr>
            <a:r>
              <a:rPr b="1" lang="en-US" sz="1600">
                <a:latin typeface="Arial"/>
                <a:ea typeface="Arial"/>
                <a:cs typeface="Arial"/>
                <a:sym typeface="Arial"/>
              </a:rPr>
              <a:t>AI Assistants (Siri, Alexa, Google Assistant)</a:t>
            </a:r>
            <a:br>
              <a:rPr b="1" lang="en-US" sz="1600">
                <a:latin typeface="Arial"/>
                <a:ea typeface="Arial"/>
                <a:cs typeface="Arial"/>
                <a:sym typeface="Arial"/>
              </a:rPr>
            </a:br>
            <a:endParaRPr b="1"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General-purpose conversational AI.</a:t>
            </a:r>
            <a:br>
              <a:rPr lang="en-US" sz="1600">
                <a:latin typeface="Arial"/>
                <a:ea typeface="Arial"/>
                <a:cs typeface="Arial"/>
                <a:sym typeface="Arial"/>
              </a:rPr>
            </a:b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b="1" lang="en-US" sz="1600">
                <a:latin typeface="Arial"/>
                <a:ea typeface="Arial"/>
                <a:cs typeface="Arial"/>
                <a:sym typeface="Arial"/>
              </a:rPr>
              <a:t>Limitations</a:t>
            </a:r>
            <a:r>
              <a:rPr lang="en-US" sz="1600">
                <a:latin typeface="Arial"/>
                <a:ea typeface="Arial"/>
                <a:cs typeface="Arial"/>
                <a:sym typeface="Arial"/>
              </a:rPr>
              <a:t>: not domain-specific, may provide inaccurate answers for specialized content.</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AutoNum type="arabicPeriod"/>
            </a:pPr>
            <a:r>
              <a:rPr b="1" lang="en-US" sz="1600">
                <a:latin typeface="Arial"/>
                <a:ea typeface="Arial"/>
                <a:cs typeface="Arial"/>
                <a:sym typeface="Arial"/>
              </a:rPr>
              <a:t>Large Language Models (GPT-3, GPT-4, LLaMA)</a:t>
            </a:r>
            <a:br>
              <a:rPr b="1" lang="en-US" sz="1600">
                <a:latin typeface="Arial"/>
                <a:ea typeface="Arial"/>
                <a:cs typeface="Arial"/>
                <a:sym typeface="Arial"/>
              </a:rPr>
            </a:br>
            <a:endParaRPr b="1"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Human-like responses, summarization, semantic understanding.</a:t>
            </a:r>
            <a:br>
              <a:rPr lang="en-US" sz="1600">
                <a:latin typeface="Arial"/>
                <a:ea typeface="Arial"/>
                <a:cs typeface="Arial"/>
                <a:sym typeface="Arial"/>
              </a:rPr>
            </a:b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b="1" lang="en-US" sz="1600">
                <a:latin typeface="Arial"/>
                <a:ea typeface="Arial"/>
                <a:cs typeface="Arial"/>
                <a:sym typeface="Arial"/>
              </a:rPr>
              <a:t>Limitations</a:t>
            </a:r>
            <a:r>
              <a:rPr lang="en-US" sz="1600">
                <a:latin typeface="Arial"/>
                <a:ea typeface="Arial"/>
                <a:cs typeface="Arial"/>
                <a:sym typeface="Arial"/>
              </a:rPr>
              <a:t>: hallucinations; need grounding in official documents.</a:t>
            </a:r>
            <a:br>
              <a:rPr lang="en-US" sz="1600">
                <a:latin typeface="Arial"/>
                <a:ea typeface="Arial"/>
                <a:cs typeface="Arial"/>
                <a:sym typeface="Arial"/>
              </a:rPr>
            </a:br>
            <a:endParaRPr sz="1600">
              <a:latin typeface="Arial"/>
              <a:ea typeface="Arial"/>
              <a:cs typeface="Arial"/>
              <a:sym typeface="Arial"/>
            </a:endParaRPr>
          </a:p>
          <a:p>
            <a:pPr indent="0" lvl="0" marL="304800" rtl="0" algn="just">
              <a:lnSpc>
                <a:spcPct val="115000"/>
              </a:lnSpc>
              <a:spcBef>
                <a:spcPts val="1200"/>
              </a:spcBef>
              <a:spcAft>
                <a:spcPts val="0"/>
              </a:spcAft>
              <a:buClr>
                <a:schemeClr val="dk1"/>
              </a:buClr>
              <a:buSzPts val="1629"/>
              <a:buFont typeface="Noto Sans Symbols"/>
              <a:buNone/>
            </a:pPr>
            <a:r>
              <a:t/>
            </a:r>
            <a:endParaRPr sz="1600">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Related Works</a:t>
            </a:r>
            <a:endParaRPr>
              <a:latin typeface="Cambria"/>
              <a:ea typeface="Cambria"/>
              <a:cs typeface="Cambria"/>
              <a:sym typeface="Cambria"/>
            </a:endParaRPr>
          </a:p>
        </p:txBody>
      </p:sp>
      <p:sp>
        <p:nvSpPr>
          <p:cNvPr id="177" name="Google Shape;177;p27"/>
          <p:cNvSpPr txBox="1"/>
          <p:nvPr>
            <p:ph idx="1" type="body"/>
          </p:nvPr>
        </p:nvSpPr>
        <p:spPr>
          <a:xfrm>
            <a:off x="762000" y="1091025"/>
            <a:ext cx="10668000" cy="4885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b="1" lang="en-US" sz="1600">
                <a:latin typeface="Arial"/>
                <a:ea typeface="Arial"/>
                <a:cs typeface="Arial"/>
                <a:sym typeface="Arial"/>
              </a:rPr>
              <a:t>  	4. </a:t>
            </a:r>
            <a:r>
              <a:rPr b="1" lang="en-US" sz="1600">
                <a:latin typeface="Arial"/>
                <a:ea typeface="Arial"/>
                <a:cs typeface="Arial"/>
                <a:sym typeface="Arial"/>
              </a:rPr>
              <a:t>Domain-Specific Job/Recruitment Chatbots</a:t>
            </a:r>
            <a:br>
              <a:rPr b="1" lang="en-US" sz="1600">
                <a:latin typeface="Arial"/>
                <a:ea typeface="Arial"/>
                <a:cs typeface="Arial"/>
                <a:sym typeface="Arial"/>
              </a:rPr>
            </a:br>
            <a:endParaRPr b="1" sz="1600">
              <a:latin typeface="Arial"/>
              <a:ea typeface="Arial"/>
              <a:cs typeface="Arial"/>
              <a:sym typeface="Arial"/>
            </a:endParaRPr>
          </a:p>
          <a:p>
            <a:pPr indent="-330200" lvl="0" marL="1371600" rtl="0" algn="l">
              <a:lnSpc>
                <a:spcPct val="115000"/>
              </a:lnSpc>
              <a:spcBef>
                <a:spcPts val="1200"/>
              </a:spcBef>
              <a:spcAft>
                <a:spcPts val="0"/>
              </a:spcAft>
              <a:buSzPts val="1600"/>
              <a:buFont typeface="Arial"/>
              <a:buChar char="●"/>
            </a:pPr>
            <a:r>
              <a:rPr lang="en-US" sz="1600">
                <a:latin typeface="Arial"/>
                <a:ea typeface="Arial"/>
                <a:cs typeface="Arial"/>
                <a:sym typeface="Arial"/>
              </a:rPr>
              <a:t>Task-oriented systems for applications, eligibility, notifications.</a:t>
            </a:r>
            <a:br>
              <a:rPr lang="en-US" sz="1600">
                <a:latin typeface="Arial"/>
                <a:ea typeface="Arial"/>
                <a:cs typeface="Arial"/>
                <a:sym typeface="Arial"/>
              </a:rPr>
            </a:br>
            <a:endParaRPr sz="1600">
              <a:latin typeface="Arial"/>
              <a:ea typeface="Arial"/>
              <a:cs typeface="Arial"/>
              <a:sym typeface="Arial"/>
            </a:endParaRPr>
          </a:p>
          <a:p>
            <a:pPr indent="-330200" lvl="0" marL="1371600" rtl="0" algn="l">
              <a:lnSpc>
                <a:spcPct val="115000"/>
              </a:lnSpc>
              <a:spcBef>
                <a:spcPts val="0"/>
              </a:spcBef>
              <a:spcAft>
                <a:spcPts val="0"/>
              </a:spcAft>
              <a:buSzPts val="1600"/>
              <a:buFont typeface="Arial"/>
              <a:buChar char="●"/>
            </a:pPr>
            <a:r>
              <a:rPr b="1" lang="en-US" sz="1600">
                <a:latin typeface="Arial"/>
                <a:ea typeface="Arial"/>
                <a:cs typeface="Arial"/>
                <a:sym typeface="Arial"/>
              </a:rPr>
              <a:t>Limitations</a:t>
            </a:r>
            <a:r>
              <a:rPr lang="en-US" sz="1600">
                <a:latin typeface="Arial"/>
                <a:ea typeface="Arial"/>
                <a:cs typeface="Arial"/>
                <a:sym typeface="Arial"/>
              </a:rPr>
              <a:t>: often lack multilingual support and structured document integration.</a:t>
            </a:r>
            <a:br>
              <a:rPr lang="en-US" sz="1600">
                <a:latin typeface="Arial"/>
                <a:ea typeface="Arial"/>
                <a:cs typeface="Arial"/>
                <a:sym typeface="Arial"/>
              </a:rPr>
            </a:br>
            <a:endParaRPr sz="1600">
              <a:latin typeface="Arial"/>
              <a:ea typeface="Arial"/>
              <a:cs typeface="Arial"/>
              <a:sym typeface="Arial"/>
            </a:endParaRPr>
          </a:p>
          <a:p>
            <a:pPr indent="457200" lvl="0" marL="0" rtl="0" algn="l">
              <a:lnSpc>
                <a:spcPct val="115000"/>
              </a:lnSpc>
              <a:spcBef>
                <a:spcPts val="1200"/>
              </a:spcBef>
              <a:spcAft>
                <a:spcPts val="0"/>
              </a:spcAft>
              <a:buNone/>
            </a:pPr>
            <a:r>
              <a:rPr b="1" lang="en-US" sz="1600">
                <a:latin typeface="Arial"/>
                <a:ea typeface="Arial"/>
                <a:cs typeface="Arial"/>
                <a:sym typeface="Arial"/>
              </a:rPr>
              <a:t>5. </a:t>
            </a:r>
            <a:r>
              <a:rPr b="1" lang="en-US" sz="1600">
                <a:latin typeface="Arial"/>
                <a:ea typeface="Arial"/>
                <a:cs typeface="Arial"/>
                <a:sym typeface="Arial"/>
              </a:rPr>
              <a:t>Document Understanding + QA Systems</a:t>
            </a:r>
            <a:br>
              <a:rPr b="1" lang="en-US" sz="1600">
                <a:latin typeface="Arial"/>
                <a:ea typeface="Arial"/>
                <a:cs typeface="Arial"/>
                <a:sym typeface="Arial"/>
              </a:rPr>
            </a:br>
            <a:r>
              <a:rPr b="1" lang="en-US" sz="1600">
                <a:latin typeface="Arial"/>
                <a:ea typeface="Arial"/>
                <a:cs typeface="Arial"/>
                <a:sym typeface="Arial"/>
              </a:rPr>
              <a:t>	</a:t>
            </a:r>
            <a:endParaRPr b="1" sz="1600">
              <a:latin typeface="Arial"/>
              <a:ea typeface="Arial"/>
              <a:cs typeface="Arial"/>
              <a:sym typeface="Arial"/>
            </a:endParaRPr>
          </a:p>
          <a:p>
            <a:pPr indent="-330200" lvl="0" marL="1371600" rtl="0" algn="l">
              <a:lnSpc>
                <a:spcPct val="115000"/>
              </a:lnSpc>
              <a:spcBef>
                <a:spcPts val="1200"/>
              </a:spcBef>
              <a:spcAft>
                <a:spcPts val="0"/>
              </a:spcAft>
              <a:buSzPts val="1600"/>
              <a:buFont typeface="Arial"/>
              <a:buChar char="●"/>
            </a:pPr>
            <a:r>
              <a:rPr lang="en-US" sz="1600">
                <a:latin typeface="Arial"/>
                <a:ea typeface="Arial"/>
                <a:cs typeface="Arial"/>
                <a:sym typeface="Arial"/>
              </a:rPr>
              <a:t>Models like LayoutLM, TILT, DPR, ColBERT.</a:t>
            </a:r>
            <a:br>
              <a:rPr lang="en-US" sz="1600">
                <a:latin typeface="Arial"/>
                <a:ea typeface="Arial"/>
                <a:cs typeface="Arial"/>
                <a:sym typeface="Arial"/>
              </a:rPr>
            </a:br>
            <a:endParaRPr sz="1600">
              <a:latin typeface="Arial"/>
              <a:ea typeface="Arial"/>
              <a:cs typeface="Arial"/>
              <a:sym typeface="Arial"/>
            </a:endParaRPr>
          </a:p>
          <a:p>
            <a:pPr indent="-330200" lvl="0" marL="1371600" rtl="0" algn="l">
              <a:lnSpc>
                <a:spcPct val="115000"/>
              </a:lnSpc>
              <a:spcBef>
                <a:spcPts val="0"/>
              </a:spcBef>
              <a:spcAft>
                <a:spcPts val="0"/>
              </a:spcAft>
              <a:buSzPts val="1600"/>
              <a:buFont typeface="Arial"/>
              <a:buChar char="●"/>
            </a:pPr>
            <a:r>
              <a:rPr lang="en-US" sz="1600">
                <a:latin typeface="Arial"/>
                <a:ea typeface="Arial"/>
                <a:cs typeface="Arial"/>
                <a:sym typeface="Arial"/>
              </a:rPr>
              <a:t>Enable retrieval of structured info from PDFs, tables, notices.</a:t>
            </a:r>
            <a:endParaRPr sz="1600">
              <a:latin typeface="Arial"/>
              <a:ea typeface="Arial"/>
              <a:cs typeface="Arial"/>
              <a:sym typeface="Arial"/>
            </a:endParaRPr>
          </a:p>
          <a:p>
            <a:pPr indent="0" lvl="0" marL="457200" rtl="0" algn="just">
              <a:lnSpc>
                <a:spcPct val="200000"/>
              </a:lnSpc>
              <a:spcBef>
                <a:spcPts val="1200"/>
              </a:spcBef>
              <a:spcAft>
                <a:spcPts val="0"/>
              </a:spcAft>
              <a:buNone/>
            </a:pPr>
            <a:r>
              <a:t/>
            </a:r>
            <a:endParaRPr sz="1600">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Existing Methods and Drawbacks</a:t>
            </a:r>
            <a:endParaRPr/>
          </a:p>
        </p:txBody>
      </p:sp>
      <p:sp>
        <p:nvSpPr>
          <p:cNvPr id="183" name="Google Shape;183;p28"/>
          <p:cNvSpPr txBox="1"/>
          <p:nvPr>
            <p:ph idx="1" type="body"/>
          </p:nvPr>
        </p:nvSpPr>
        <p:spPr>
          <a:xfrm>
            <a:off x="812800" y="1014576"/>
            <a:ext cx="10668000" cy="4953000"/>
          </a:xfrm>
          <a:prstGeom prst="rect">
            <a:avLst/>
          </a:prstGeom>
          <a:noFill/>
          <a:ln>
            <a:noFill/>
          </a:ln>
        </p:spPr>
        <p:txBody>
          <a:bodyPr anchorCtr="0" anchor="t" bIns="45700" lIns="91425" spcFirstLastPara="1" rIns="91425" wrap="square" tIns="45700">
            <a:noAutofit/>
          </a:bodyPr>
          <a:lstStyle/>
          <a:p>
            <a:pPr indent="-330200" lvl="0" marL="457200" rtl="0" algn="l">
              <a:lnSpc>
                <a:spcPct val="100000"/>
              </a:lnSpc>
              <a:spcBef>
                <a:spcPts val="480"/>
              </a:spcBef>
              <a:spcAft>
                <a:spcPts val="0"/>
              </a:spcAft>
              <a:buSzPts val="1600"/>
              <a:buFont typeface="Arial"/>
              <a:buAutoNum type="arabicPeriod"/>
            </a:pPr>
            <a:r>
              <a:rPr b="1" lang="en-US" sz="1600">
                <a:latin typeface="Arial"/>
                <a:ea typeface="Arial"/>
                <a:cs typeface="Arial"/>
                <a:sym typeface="Arial"/>
              </a:rPr>
              <a:t>Intelligent Search and Filtering</a:t>
            </a:r>
            <a:br>
              <a:rPr b="1" lang="en-US" sz="1600">
                <a:latin typeface="Arial"/>
                <a:ea typeface="Arial"/>
                <a:cs typeface="Arial"/>
                <a:sym typeface="Arial"/>
              </a:rPr>
            </a:br>
            <a:endParaRPr b="1" sz="1600">
              <a:latin typeface="Arial"/>
              <a:ea typeface="Arial"/>
              <a:cs typeface="Arial"/>
              <a:sym typeface="Arial"/>
            </a:endParaRPr>
          </a:p>
          <a:p>
            <a:pPr indent="-330200" lvl="1" marL="914400" rtl="0" algn="l">
              <a:lnSpc>
                <a:spcPct val="100000"/>
              </a:lnSpc>
              <a:spcBef>
                <a:spcPts val="0"/>
              </a:spcBef>
              <a:spcAft>
                <a:spcPts val="0"/>
              </a:spcAft>
              <a:buSzPts val="1600"/>
              <a:buFont typeface="Arial"/>
              <a:buChar char="○"/>
            </a:pPr>
            <a:r>
              <a:rPr b="1" lang="en-US" sz="1600">
                <a:latin typeface="Arial"/>
                <a:ea typeface="Arial"/>
                <a:cs typeface="Arial"/>
                <a:sym typeface="Arial"/>
              </a:rPr>
              <a:t>Description:</a:t>
            </a:r>
            <a:r>
              <a:rPr lang="en-US" sz="1600">
                <a:latin typeface="Arial"/>
                <a:ea typeface="Arial"/>
                <a:cs typeface="Arial"/>
                <a:sym typeface="Arial"/>
              </a:rPr>
              <a:t> Uses advanced search algorithms and AI-powered filters to help users locate relevant information quickly.</a:t>
            </a:r>
            <a:br>
              <a:rPr lang="en-US" sz="1600">
                <a:latin typeface="Arial"/>
                <a:ea typeface="Arial"/>
                <a:cs typeface="Arial"/>
                <a:sym typeface="Arial"/>
              </a:rPr>
            </a:br>
            <a:endParaRPr sz="1600">
              <a:latin typeface="Arial"/>
              <a:ea typeface="Arial"/>
              <a:cs typeface="Arial"/>
              <a:sym typeface="Arial"/>
            </a:endParaRPr>
          </a:p>
          <a:p>
            <a:pPr indent="-330200" lvl="1" marL="914400" rtl="0" algn="l">
              <a:lnSpc>
                <a:spcPct val="100000"/>
              </a:lnSpc>
              <a:spcBef>
                <a:spcPts val="0"/>
              </a:spcBef>
              <a:spcAft>
                <a:spcPts val="0"/>
              </a:spcAft>
              <a:buSzPts val="1600"/>
              <a:buFont typeface="Arial"/>
              <a:buChar char="○"/>
            </a:pPr>
            <a:r>
              <a:rPr b="1" lang="en-US" sz="1600">
                <a:latin typeface="Arial"/>
                <a:ea typeface="Arial"/>
                <a:cs typeface="Arial"/>
                <a:sym typeface="Arial"/>
              </a:rPr>
              <a:t>Drawbacks:</a:t>
            </a:r>
            <a:br>
              <a:rPr b="1" lang="en-US" sz="1600">
                <a:latin typeface="Arial"/>
                <a:ea typeface="Arial"/>
                <a:cs typeface="Arial"/>
                <a:sym typeface="Arial"/>
              </a:rPr>
            </a:br>
            <a:endParaRPr b="1" sz="1600">
              <a:latin typeface="Arial"/>
              <a:ea typeface="Arial"/>
              <a:cs typeface="Arial"/>
              <a:sym typeface="Arial"/>
            </a:endParaRPr>
          </a:p>
          <a:p>
            <a:pPr indent="-330200" lvl="2" marL="1371600" rtl="0" algn="l">
              <a:lnSpc>
                <a:spcPct val="100000"/>
              </a:lnSpc>
              <a:spcBef>
                <a:spcPts val="0"/>
              </a:spcBef>
              <a:spcAft>
                <a:spcPts val="0"/>
              </a:spcAft>
              <a:buSzPts val="1600"/>
              <a:buFont typeface="Arial"/>
              <a:buChar char="■"/>
            </a:pPr>
            <a:r>
              <a:rPr lang="en-US" sz="1600">
                <a:latin typeface="Arial"/>
                <a:ea typeface="Arial"/>
                <a:cs typeface="Arial"/>
                <a:sym typeface="Arial"/>
              </a:rPr>
              <a:t>Irrelevant matches due to ambiguous queries.</a:t>
            </a:r>
            <a:br>
              <a:rPr lang="en-US" sz="1600">
                <a:latin typeface="Arial"/>
                <a:ea typeface="Arial"/>
                <a:cs typeface="Arial"/>
                <a:sym typeface="Arial"/>
              </a:rPr>
            </a:br>
            <a:endParaRPr sz="1600">
              <a:latin typeface="Arial"/>
              <a:ea typeface="Arial"/>
              <a:cs typeface="Arial"/>
              <a:sym typeface="Arial"/>
            </a:endParaRPr>
          </a:p>
          <a:p>
            <a:pPr indent="-330200" lvl="2" marL="1371600" rtl="0" algn="l">
              <a:lnSpc>
                <a:spcPct val="100000"/>
              </a:lnSpc>
              <a:spcBef>
                <a:spcPts val="0"/>
              </a:spcBef>
              <a:spcAft>
                <a:spcPts val="0"/>
              </a:spcAft>
              <a:buSzPts val="1600"/>
              <a:buFont typeface="Arial"/>
              <a:buChar char="■"/>
            </a:pPr>
            <a:r>
              <a:rPr lang="en-US" sz="1600">
                <a:latin typeface="Arial"/>
                <a:ea typeface="Arial"/>
                <a:cs typeface="Arial"/>
                <a:sym typeface="Arial"/>
              </a:rPr>
              <a:t>Inadequate personalization—cannot adapt to a user’s preferences or prior searches.</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00000"/>
              </a:lnSpc>
              <a:spcBef>
                <a:spcPts val="0"/>
              </a:spcBef>
              <a:spcAft>
                <a:spcPts val="0"/>
              </a:spcAft>
              <a:buSzPts val="1600"/>
              <a:buFont typeface="Arial"/>
              <a:buAutoNum type="arabicPeriod"/>
            </a:pPr>
            <a:r>
              <a:rPr b="1" lang="en-US" sz="1600">
                <a:latin typeface="Arial"/>
                <a:ea typeface="Arial"/>
                <a:cs typeface="Arial"/>
                <a:sym typeface="Arial"/>
              </a:rPr>
              <a:t>Interactive Chatbots and Virtual Assistants</a:t>
            </a:r>
            <a:br>
              <a:rPr b="1" lang="en-US" sz="1600">
                <a:latin typeface="Arial"/>
                <a:ea typeface="Arial"/>
                <a:cs typeface="Arial"/>
                <a:sym typeface="Arial"/>
              </a:rPr>
            </a:br>
            <a:endParaRPr b="1" sz="1600">
              <a:latin typeface="Arial"/>
              <a:ea typeface="Arial"/>
              <a:cs typeface="Arial"/>
              <a:sym typeface="Arial"/>
            </a:endParaRPr>
          </a:p>
          <a:p>
            <a:pPr indent="-330200" lvl="1" marL="914400" rtl="0" algn="l">
              <a:lnSpc>
                <a:spcPct val="100000"/>
              </a:lnSpc>
              <a:spcBef>
                <a:spcPts val="0"/>
              </a:spcBef>
              <a:spcAft>
                <a:spcPts val="0"/>
              </a:spcAft>
              <a:buSzPts val="1600"/>
              <a:buFont typeface="Arial"/>
              <a:buChar char="○"/>
            </a:pPr>
            <a:r>
              <a:rPr b="1" lang="en-US" sz="1600">
                <a:latin typeface="Arial"/>
                <a:ea typeface="Arial"/>
                <a:cs typeface="Arial"/>
                <a:sym typeface="Arial"/>
              </a:rPr>
              <a:t>Description:</a:t>
            </a:r>
            <a:r>
              <a:rPr lang="en-US" sz="1600">
                <a:latin typeface="Arial"/>
                <a:ea typeface="Arial"/>
                <a:cs typeface="Arial"/>
                <a:sym typeface="Arial"/>
              </a:rPr>
              <a:t> Conversational systems provide “hand-holding” by guiding users through tasks via natural dialogue.</a:t>
            </a:r>
            <a:br>
              <a:rPr lang="en-US" sz="1600">
                <a:latin typeface="Arial"/>
                <a:ea typeface="Arial"/>
                <a:cs typeface="Arial"/>
                <a:sym typeface="Arial"/>
              </a:rPr>
            </a:br>
            <a:endParaRPr sz="1600">
              <a:latin typeface="Arial"/>
              <a:ea typeface="Arial"/>
              <a:cs typeface="Arial"/>
              <a:sym typeface="Arial"/>
            </a:endParaRPr>
          </a:p>
          <a:p>
            <a:pPr indent="-330200" lvl="1" marL="914400" rtl="0" algn="l">
              <a:lnSpc>
                <a:spcPct val="100000"/>
              </a:lnSpc>
              <a:spcBef>
                <a:spcPts val="0"/>
              </a:spcBef>
              <a:spcAft>
                <a:spcPts val="0"/>
              </a:spcAft>
              <a:buSzPts val="1600"/>
              <a:buFont typeface="Arial"/>
              <a:buChar char="○"/>
            </a:pPr>
            <a:r>
              <a:rPr b="1" lang="en-US" sz="1600">
                <a:latin typeface="Arial"/>
                <a:ea typeface="Arial"/>
                <a:cs typeface="Arial"/>
                <a:sym typeface="Arial"/>
              </a:rPr>
              <a:t>Drawbacks:</a:t>
            </a:r>
            <a:br>
              <a:rPr b="1" lang="en-US" sz="1600">
                <a:latin typeface="Arial"/>
                <a:ea typeface="Arial"/>
                <a:cs typeface="Arial"/>
                <a:sym typeface="Arial"/>
              </a:rPr>
            </a:br>
            <a:endParaRPr b="1" sz="1600">
              <a:latin typeface="Arial"/>
              <a:ea typeface="Arial"/>
              <a:cs typeface="Arial"/>
              <a:sym typeface="Arial"/>
            </a:endParaRPr>
          </a:p>
          <a:p>
            <a:pPr indent="-330200" lvl="2" marL="1371600" rtl="0" algn="l">
              <a:lnSpc>
                <a:spcPct val="100000"/>
              </a:lnSpc>
              <a:spcBef>
                <a:spcPts val="0"/>
              </a:spcBef>
              <a:spcAft>
                <a:spcPts val="0"/>
              </a:spcAft>
              <a:buSzPts val="1600"/>
              <a:buFont typeface="Arial"/>
              <a:buChar char="■"/>
            </a:pPr>
            <a:r>
              <a:rPr lang="en-US" sz="1600">
                <a:latin typeface="Arial"/>
                <a:ea typeface="Arial"/>
                <a:cs typeface="Arial"/>
                <a:sym typeface="Arial"/>
              </a:rPr>
              <a:t>Limited scope—may not cover all portal functionalities or updates.</a:t>
            </a:r>
            <a:br>
              <a:rPr lang="en-US" sz="1600">
                <a:latin typeface="Arial"/>
                <a:ea typeface="Arial"/>
                <a:cs typeface="Arial"/>
                <a:sym typeface="Arial"/>
              </a:rPr>
            </a:br>
            <a:endParaRPr sz="1600">
              <a:latin typeface="Arial"/>
              <a:ea typeface="Arial"/>
              <a:cs typeface="Arial"/>
              <a:sym typeface="Arial"/>
            </a:endParaRPr>
          </a:p>
          <a:p>
            <a:pPr indent="-330200" lvl="2" marL="1371600" rtl="0" algn="l">
              <a:lnSpc>
                <a:spcPct val="100000"/>
              </a:lnSpc>
              <a:spcBef>
                <a:spcPts val="0"/>
              </a:spcBef>
              <a:spcAft>
                <a:spcPts val="0"/>
              </a:spcAft>
              <a:buSzPts val="1600"/>
              <a:buFont typeface="Arial"/>
              <a:buChar char="■"/>
            </a:pPr>
            <a:r>
              <a:rPr lang="en-US" sz="1600">
                <a:latin typeface="Arial"/>
                <a:ea typeface="Arial"/>
                <a:cs typeface="Arial"/>
                <a:sym typeface="Arial"/>
              </a:rPr>
              <a:t>Poor user experience if responses are inaccurate or ungrounded in official sources.</a:t>
            </a:r>
            <a:endParaRPr sz="1600">
              <a:latin typeface="Arial"/>
              <a:ea typeface="Arial"/>
              <a:cs typeface="Arial"/>
              <a:sym typeface="Arial"/>
            </a:endParaRPr>
          </a:p>
          <a:p>
            <a:pPr indent="0" lvl="0" marL="457200" rtl="0" algn="l">
              <a:lnSpc>
                <a:spcPct val="100000"/>
              </a:lnSpc>
              <a:spcBef>
                <a:spcPts val="1200"/>
              </a:spcBef>
              <a:spcAft>
                <a:spcPts val="0"/>
              </a:spcAft>
              <a:buNone/>
            </a:pPr>
            <a:r>
              <a:t/>
            </a:r>
            <a:endParaRPr b="1" sz="1600" u="sng">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Existing Methods and Drawbacks</a:t>
            </a:r>
            <a:endParaRPr/>
          </a:p>
        </p:txBody>
      </p:sp>
      <p:sp>
        <p:nvSpPr>
          <p:cNvPr id="189" name="Google Shape;189;p29"/>
          <p:cNvSpPr txBox="1"/>
          <p:nvPr>
            <p:ph idx="1" type="body"/>
          </p:nvPr>
        </p:nvSpPr>
        <p:spPr>
          <a:xfrm>
            <a:off x="812800" y="1014576"/>
            <a:ext cx="10668000" cy="4953000"/>
          </a:xfrm>
          <a:prstGeom prst="rect">
            <a:avLst/>
          </a:prstGeom>
          <a:noFill/>
          <a:ln>
            <a:noFill/>
          </a:ln>
        </p:spPr>
        <p:txBody>
          <a:bodyPr anchorCtr="0" anchor="t" bIns="45700" lIns="91425" spcFirstLastPara="1" rIns="91425" wrap="square" tIns="45700">
            <a:noAutofit/>
          </a:bodyPr>
          <a:lstStyle/>
          <a:p>
            <a:pPr indent="-330200" lvl="0" marL="457200" rtl="0" algn="l">
              <a:lnSpc>
                <a:spcPct val="100000"/>
              </a:lnSpc>
              <a:spcBef>
                <a:spcPts val="480"/>
              </a:spcBef>
              <a:spcAft>
                <a:spcPts val="0"/>
              </a:spcAft>
              <a:buSzPts val="1600"/>
              <a:buFont typeface="Arial"/>
              <a:buAutoNum type="arabicPeriod" startAt="3"/>
            </a:pPr>
            <a:r>
              <a:rPr b="1" lang="en-US" sz="1600">
                <a:latin typeface="Arial"/>
                <a:ea typeface="Arial"/>
                <a:cs typeface="Arial"/>
                <a:sym typeface="Arial"/>
              </a:rPr>
              <a:t>Personalized Dashboards and Recommendations</a:t>
            </a:r>
            <a:br>
              <a:rPr b="1" lang="en-US" sz="1600">
                <a:latin typeface="Arial"/>
                <a:ea typeface="Arial"/>
                <a:cs typeface="Arial"/>
                <a:sym typeface="Arial"/>
              </a:rPr>
            </a:br>
            <a:endParaRPr b="1" sz="1600">
              <a:latin typeface="Arial"/>
              <a:ea typeface="Arial"/>
              <a:cs typeface="Arial"/>
              <a:sym typeface="Arial"/>
            </a:endParaRPr>
          </a:p>
          <a:p>
            <a:pPr indent="-330200" lvl="1" marL="914400" rtl="0" algn="l">
              <a:lnSpc>
                <a:spcPct val="100000"/>
              </a:lnSpc>
              <a:spcBef>
                <a:spcPts val="0"/>
              </a:spcBef>
              <a:spcAft>
                <a:spcPts val="0"/>
              </a:spcAft>
              <a:buSzPts val="1600"/>
              <a:buFont typeface="Arial"/>
              <a:buChar char="○"/>
            </a:pPr>
            <a:r>
              <a:rPr b="1" lang="en-US" sz="1600">
                <a:latin typeface="Arial"/>
                <a:ea typeface="Arial"/>
                <a:cs typeface="Arial"/>
                <a:sym typeface="Arial"/>
              </a:rPr>
              <a:t>Description:</a:t>
            </a:r>
            <a:r>
              <a:rPr lang="en-US" sz="1600">
                <a:latin typeface="Arial"/>
                <a:ea typeface="Arial"/>
                <a:cs typeface="Arial"/>
                <a:sym typeface="Arial"/>
              </a:rPr>
              <a:t> Uses user profiles, past searches, or saved jobs to create a tailored interface.</a:t>
            </a:r>
            <a:br>
              <a:rPr lang="en-US" sz="1600">
                <a:latin typeface="Arial"/>
                <a:ea typeface="Arial"/>
                <a:cs typeface="Arial"/>
                <a:sym typeface="Arial"/>
              </a:rPr>
            </a:br>
            <a:endParaRPr sz="1600">
              <a:latin typeface="Arial"/>
              <a:ea typeface="Arial"/>
              <a:cs typeface="Arial"/>
              <a:sym typeface="Arial"/>
            </a:endParaRPr>
          </a:p>
          <a:p>
            <a:pPr indent="-330200" lvl="1" marL="914400" rtl="0" algn="l">
              <a:lnSpc>
                <a:spcPct val="100000"/>
              </a:lnSpc>
              <a:spcBef>
                <a:spcPts val="0"/>
              </a:spcBef>
              <a:spcAft>
                <a:spcPts val="0"/>
              </a:spcAft>
              <a:buSzPts val="1600"/>
              <a:buFont typeface="Arial"/>
              <a:buChar char="○"/>
            </a:pPr>
            <a:r>
              <a:rPr b="1" lang="en-US" sz="1600">
                <a:latin typeface="Arial"/>
                <a:ea typeface="Arial"/>
                <a:cs typeface="Arial"/>
                <a:sym typeface="Arial"/>
              </a:rPr>
              <a:t>Drawbacks:</a:t>
            </a:r>
            <a:br>
              <a:rPr b="1" lang="en-US" sz="1600">
                <a:latin typeface="Arial"/>
                <a:ea typeface="Arial"/>
                <a:cs typeface="Arial"/>
                <a:sym typeface="Arial"/>
              </a:rPr>
            </a:br>
            <a:endParaRPr b="1" sz="1600">
              <a:latin typeface="Arial"/>
              <a:ea typeface="Arial"/>
              <a:cs typeface="Arial"/>
              <a:sym typeface="Arial"/>
            </a:endParaRPr>
          </a:p>
          <a:p>
            <a:pPr indent="-330200" lvl="2" marL="1371600" rtl="0" algn="l">
              <a:lnSpc>
                <a:spcPct val="100000"/>
              </a:lnSpc>
              <a:spcBef>
                <a:spcPts val="0"/>
              </a:spcBef>
              <a:spcAft>
                <a:spcPts val="0"/>
              </a:spcAft>
              <a:buSzPts val="1600"/>
              <a:buFont typeface="Arial"/>
              <a:buChar char="■"/>
            </a:pPr>
            <a:r>
              <a:rPr lang="en-US" sz="1600">
                <a:latin typeface="Arial"/>
                <a:ea typeface="Arial"/>
                <a:cs typeface="Arial"/>
                <a:sym typeface="Arial"/>
              </a:rPr>
              <a:t>Privacy concerns due to storage of personal data.</a:t>
            </a:r>
            <a:br>
              <a:rPr lang="en-US" sz="1600">
                <a:latin typeface="Arial"/>
                <a:ea typeface="Arial"/>
                <a:cs typeface="Arial"/>
                <a:sym typeface="Arial"/>
              </a:rPr>
            </a:br>
            <a:endParaRPr sz="1600">
              <a:latin typeface="Arial"/>
              <a:ea typeface="Arial"/>
              <a:cs typeface="Arial"/>
              <a:sym typeface="Arial"/>
            </a:endParaRPr>
          </a:p>
          <a:p>
            <a:pPr indent="-330200" lvl="2" marL="1371600" rtl="0" algn="l">
              <a:lnSpc>
                <a:spcPct val="100000"/>
              </a:lnSpc>
              <a:spcBef>
                <a:spcPts val="0"/>
              </a:spcBef>
              <a:spcAft>
                <a:spcPts val="0"/>
              </a:spcAft>
              <a:buSzPts val="1600"/>
              <a:buFont typeface="Arial"/>
              <a:buChar char="■"/>
            </a:pPr>
            <a:r>
              <a:rPr lang="en-US" sz="1600">
                <a:latin typeface="Arial"/>
                <a:ea typeface="Arial"/>
                <a:cs typeface="Arial"/>
                <a:sym typeface="Arial"/>
              </a:rPr>
              <a:t>Data fragmentation—insights are often scattered across modules, reducing effectiveness.</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00000"/>
              </a:lnSpc>
              <a:spcBef>
                <a:spcPts val="0"/>
              </a:spcBef>
              <a:spcAft>
                <a:spcPts val="0"/>
              </a:spcAft>
              <a:buSzPts val="1600"/>
              <a:buFont typeface="Arial"/>
              <a:buAutoNum type="arabicPeriod" startAt="3"/>
            </a:pPr>
            <a:r>
              <a:rPr b="1" lang="en-US" sz="1600">
                <a:latin typeface="Arial"/>
                <a:ea typeface="Arial"/>
                <a:cs typeface="Arial"/>
                <a:sym typeface="Arial"/>
              </a:rPr>
              <a:t>Career Guidance and Upskilling Tools</a:t>
            </a:r>
            <a:br>
              <a:rPr b="1" lang="en-US" sz="1600">
                <a:latin typeface="Arial"/>
                <a:ea typeface="Arial"/>
                <a:cs typeface="Arial"/>
                <a:sym typeface="Arial"/>
              </a:rPr>
            </a:br>
            <a:endParaRPr b="1" sz="1600">
              <a:latin typeface="Arial"/>
              <a:ea typeface="Arial"/>
              <a:cs typeface="Arial"/>
              <a:sym typeface="Arial"/>
            </a:endParaRPr>
          </a:p>
          <a:p>
            <a:pPr indent="-330200" lvl="1" marL="914400" rtl="0" algn="l">
              <a:lnSpc>
                <a:spcPct val="100000"/>
              </a:lnSpc>
              <a:spcBef>
                <a:spcPts val="0"/>
              </a:spcBef>
              <a:spcAft>
                <a:spcPts val="0"/>
              </a:spcAft>
              <a:buSzPts val="1600"/>
              <a:buFont typeface="Arial"/>
              <a:buChar char="○"/>
            </a:pPr>
            <a:r>
              <a:rPr b="1" lang="en-US" sz="1600">
                <a:latin typeface="Arial"/>
                <a:ea typeface="Arial"/>
                <a:cs typeface="Arial"/>
                <a:sym typeface="Arial"/>
              </a:rPr>
              <a:t>Description:</a:t>
            </a:r>
            <a:r>
              <a:rPr lang="en-US" sz="1600">
                <a:latin typeface="Arial"/>
                <a:ea typeface="Arial"/>
                <a:cs typeface="Arial"/>
                <a:sym typeface="Arial"/>
              </a:rPr>
              <a:t> Provides skill assessments and suggests learning pathways or courses to improve employability.</a:t>
            </a:r>
            <a:br>
              <a:rPr lang="en-US" sz="1600">
                <a:latin typeface="Arial"/>
                <a:ea typeface="Arial"/>
                <a:cs typeface="Arial"/>
                <a:sym typeface="Arial"/>
              </a:rPr>
            </a:br>
            <a:endParaRPr sz="1600">
              <a:latin typeface="Arial"/>
              <a:ea typeface="Arial"/>
              <a:cs typeface="Arial"/>
              <a:sym typeface="Arial"/>
            </a:endParaRPr>
          </a:p>
          <a:p>
            <a:pPr indent="-330200" lvl="1" marL="914400" rtl="0" algn="l">
              <a:lnSpc>
                <a:spcPct val="100000"/>
              </a:lnSpc>
              <a:spcBef>
                <a:spcPts val="0"/>
              </a:spcBef>
              <a:spcAft>
                <a:spcPts val="0"/>
              </a:spcAft>
              <a:buSzPts val="1600"/>
              <a:buFont typeface="Arial"/>
              <a:buChar char="○"/>
            </a:pPr>
            <a:r>
              <a:rPr b="1" lang="en-US" sz="1600">
                <a:latin typeface="Arial"/>
                <a:ea typeface="Arial"/>
                <a:cs typeface="Arial"/>
                <a:sym typeface="Arial"/>
              </a:rPr>
              <a:t>Drawbacks:</a:t>
            </a:r>
            <a:br>
              <a:rPr b="1" lang="en-US" sz="1600">
                <a:latin typeface="Arial"/>
                <a:ea typeface="Arial"/>
                <a:cs typeface="Arial"/>
                <a:sym typeface="Arial"/>
              </a:rPr>
            </a:br>
            <a:endParaRPr b="1" sz="1600">
              <a:latin typeface="Arial"/>
              <a:ea typeface="Arial"/>
              <a:cs typeface="Arial"/>
              <a:sym typeface="Arial"/>
            </a:endParaRPr>
          </a:p>
          <a:p>
            <a:pPr indent="-330200" lvl="2" marL="1371600" rtl="0" algn="l">
              <a:lnSpc>
                <a:spcPct val="100000"/>
              </a:lnSpc>
              <a:spcBef>
                <a:spcPts val="0"/>
              </a:spcBef>
              <a:spcAft>
                <a:spcPts val="0"/>
              </a:spcAft>
              <a:buSzPts val="1600"/>
              <a:buFont typeface="Arial"/>
              <a:buChar char="■"/>
            </a:pPr>
            <a:r>
              <a:rPr lang="en-US" sz="1600">
                <a:latin typeface="Arial"/>
                <a:ea typeface="Arial"/>
                <a:cs typeface="Arial"/>
                <a:sym typeface="Arial"/>
              </a:rPr>
              <a:t>Cost and accessibility—many tools are paid or require internet connectivity.</a:t>
            </a:r>
            <a:br>
              <a:rPr lang="en-US" sz="1600">
                <a:latin typeface="Arial"/>
                <a:ea typeface="Arial"/>
                <a:cs typeface="Arial"/>
                <a:sym typeface="Arial"/>
              </a:rPr>
            </a:br>
            <a:endParaRPr sz="1600">
              <a:latin typeface="Arial"/>
              <a:ea typeface="Arial"/>
              <a:cs typeface="Arial"/>
              <a:sym typeface="Arial"/>
            </a:endParaRPr>
          </a:p>
          <a:p>
            <a:pPr indent="-330200" lvl="2" marL="1371600" rtl="0" algn="l">
              <a:lnSpc>
                <a:spcPct val="100000"/>
              </a:lnSpc>
              <a:spcBef>
                <a:spcPts val="0"/>
              </a:spcBef>
              <a:spcAft>
                <a:spcPts val="0"/>
              </a:spcAft>
              <a:buSzPts val="1600"/>
              <a:buFont typeface="Arial"/>
              <a:buChar char="■"/>
            </a:pPr>
            <a:r>
              <a:rPr lang="en-US" sz="1600">
                <a:latin typeface="Arial"/>
                <a:ea typeface="Arial"/>
                <a:cs typeface="Arial"/>
                <a:sym typeface="Arial"/>
              </a:rPr>
              <a:t>Lack of standardization—recommendations may vary in quality and credibility.</a:t>
            </a:r>
            <a:endParaRPr sz="1600">
              <a:latin typeface="Arial"/>
              <a:ea typeface="Arial"/>
              <a:cs typeface="Arial"/>
              <a:sym typeface="Arial"/>
            </a:endParaRPr>
          </a:p>
          <a:p>
            <a:pPr indent="0" lvl="0" marL="1371600" rtl="0" algn="l">
              <a:lnSpc>
                <a:spcPct val="100000"/>
              </a:lnSpc>
              <a:spcBef>
                <a:spcPts val="1200"/>
              </a:spcBef>
              <a:spcAft>
                <a:spcPts val="0"/>
              </a:spcAft>
              <a:buNone/>
            </a:pPr>
            <a:r>
              <a:t/>
            </a:r>
            <a:endParaRPr b="1" sz="1600">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Proposed Method</a:t>
            </a:r>
            <a:endParaRPr>
              <a:latin typeface="Cambria"/>
              <a:ea typeface="Cambria"/>
              <a:cs typeface="Cambria"/>
              <a:sym typeface="Cambria"/>
            </a:endParaRPr>
          </a:p>
        </p:txBody>
      </p:sp>
      <p:sp>
        <p:nvSpPr>
          <p:cNvPr id="195" name="Google Shape;195;p30"/>
          <p:cNvSpPr txBox="1"/>
          <p:nvPr>
            <p:ph idx="1" type="body"/>
          </p:nvPr>
        </p:nvSpPr>
        <p:spPr>
          <a:xfrm>
            <a:off x="620294" y="1110917"/>
            <a:ext cx="10668000" cy="495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80"/>
              </a:spcBef>
              <a:spcAft>
                <a:spcPts val="0"/>
              </a:spcAft>
              <a:buNone/>
            </a:pPr>
            <a:r>
              <a:rPr b="1" lang="en-US" sz="1600">
                <a:latin typeface="Arial"/>
                <a:ea typeface="Arial"/>
                <a:cs typeface="Arial"/>
                <a:sym typeface="Arial"/>
              </a:rPr>
              <a:t>Proposed Method: “ </a:t>
            </a:r>
            <a:r>
              <a:rPr b="1" lang="en-US" sz="1600">
                <a:latin typeface="Arial"/>
                <a:ea typeface="Arial"/>
                <a:cs typeface="Arial"/>
                <a:sym typeface="Arial"/>
              </a:rPr>
              <a:t>AI-Powered Conversational Assistant ”</a:t>
            </a:r>
            <a:endParaRPr b="1"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600">
                <a:latin typeface="Arial"/>
                <a:ea typeface="Arial"/>
                <a:cs typeface="Arial"/>
                <a:sym typeface="Arial"/>
              </a:rPr>
              <a:t>The proposed solution for the PGRKAM digital platform is an </a:t>
            </a:r>
            <a:r>
              <a:rPr b="1" lang="en-US" sz="1600">
                <a:latin typeface="Arial"/>
                <a:ea typeface="Arial"/>
                <a:cs typeface="Arial"/>
                <a:sym typeface="Arial"/>
              </a:rPr>
              <a:t>AI-powered Conversational Assistant</a:t>
            </a:r>
            <a:r>
              <a:rPr lang="en-US" sz="1600">
                <a:latin typeface="Arial"/>
                <a:ea typeface="Arial"/>
                <a:cs typeface="Arial"/>
                <a:sym typeface="Arial"/>
              </a:rPr>
              <a:t> (chatbot) designed to provide </a:t>
            </a:r>
            <a:r>
              <a:rPr b="1" lang="en-US" sz="1600">
                <a:latin typeface="Arial"/>
                <a:ea typeface="Arial"/>
                <a:cs typeface="Arial"/>
                <a:sym typeface="Arial"/>
              </a:rPr>
              <a:t>intelligent guidance</a:t>
            </a:r>
            <a:r>
              <a:rPr lang="en-US" sz="1600">
                <a:latin typeface="Arial"/>
                <a:ea typeface="Arial"/>
                <a:cs typeface="Arial"/>
                <a:sym typeface="Arial"/>
              </a:rPr>
              <a:t> to users. Key features include:</a:t>
            </a:r>
            <a:endParaRPr sz="1600">
              <a:latin typeface="Arial"/>
              <a:ea typeface="Arial"/>
              <a:cs typeface="Arial"/>
              <a:sym typeface="Arial"/>
            </a:endParaRPr>
          </a:p>
          <a:p>
            <a:pPr indent="-330200" lvl="0" marL="457200" rtl="0" algn="l">
              <a:lnSpc>
                <a:spcPct val="115000"/>
              </a:lnSpc>
              <a:spcBef>
                <a:spcPts val="1200"/>
              </a:spcBef>
              <a:spcAft>
                <a:spcPts val="0"/>
              </a:spcAft>
              <a:buSzPts val="1600"/>
              <a:buAutoNum type="arabicPeriod"/>
            </a:pPr>
            <a:r>
              <a:rPr b="1" lang="en-US" sz="1600">
                <a:latin typeface="Arial"/>
                <a:ea typeface="Arial"/>
                <a:cs typeface="Arial"/>
                <a:sym typeface="Arial"/>
              </a:rPr>
              <a:t>Natural Language Understanding (NLU):</a:t>
            </a:r>
            <a:br>
              <a:rPr b="1" lang="en-US" sz="1600">
                <a:latin typeface="Arial"/>
                <a:ea typeface="Arial"/>
                <a:cs typeface="Arial"/>
                <a:sym typeface="Arial"/>
              </a:rPr>
            </a:br>
            <a:endParaRPr b="1" sz="1600">
              <a:latin typeface="Arial"/>
              <a:ea typeface="Arial"/>
              <a:cs typeface="Arial"/>
              <a:sym typeface="Arial"/>
            </a:endParaRPr>
          </a:p>
          <a:p>
            <a:pPr indent="-330200" lvl="1" marL="914400" rtl="0" algn="l">
              <a:lnSpc>
                <a:spcPct val="100000"/>
              </a:lnSpc>
              <a:spcBef>
                <a:spcPts val="0"/>
              </a:spcBef>
              <a:spcAft>
                <a:spcPts val="0"/>
              </a:spcAft>
              <a:buSzPts val="1600"/>
              <a:buChar char="○"/>
            </a:pPr>
            <a:r>
              <a:rPr lang="en-US" sz="1600">
                <a:latin typeface="Arial"/>
                <a:ea typeface="Arial"/>
                <a:cs typeface="Arial"/>
                <a:sym typeface="Arial"/>
              </a:rPr>
              <a:t>The assistant uses </a:t>
            </a:r>
            <a:r>
              <a:rPr b="1" lang="en-US" sz="1600">
                <a:latin typeface="Arial"/>
                <a:ea typeface="Arial"/>
                <a:cs typeface="Arial"/>
                <a:sym typeface="Arial"/>
              </a:rPr>
              <a:t>NLP and machine learning</a:t>
            </a:r>
            <a:r>
              <a:rPr lang="en-US" sz="1600">
                <a:latin typeface="Arial"/>
                <a:ea typeface="Arial"/>
                <a:cs typeface="Arial"/>
                <a:sym typeface="Arial"/>
              </a:rPr>
              <a:t> to comprehend user queries in </a:t>
            </a:r>
            <a:r>
              <a:rPr b="1" lang="en-US" sz="1600">
                <a:latin typeface="Arial"/>
                <a:ea typeface="Arial"/>
                <a:cs typeface="Arial"/>
                <a:sym typeface="Arial"/>
              </a:rPr>
              <a:t>free-form, multilingual, or code-switched language</a:t>
            </a:r>
            <a:r>
              <a:rPr lang="en-US" sz="1600">
                <a:latin typeface="Arial"/>
                <a:ea typeface="Arial"/>
                <a:cs typeface="Arial"/>
                <a:sym typeface="Arial"/>
              </a:rPr>
              <a:t>.</a:t>
            </a:r>
            <a:br>
              <a:rPr lang="en-US" sz="1600">
                <a:latin typeface="Arial"/>
                <a:ea typeface="Arial"/>
                <a:cs typeface="Arial"/>
                <a:sym typeface="Arial"/>
              </a:rPr>
            </a:br>
            <a:endParaRPr sz="1600">
              <a:latin typeface="Arial"/>
              <a:ea typeface="Arial"/>
              <a:cs typeface="Arial"/>
              <a:sym typeface="Arial"/>
            </a:endParaRPr>
          </a:p>
          <a:p>
            <a:pPr indent="-330200" lvl="1" marL="914400" rtl="0" algn="l">
              <a:lnSpc>
                <a:spcPct val="100000"/>
              </a:lnSpc>
              <a:spcBef>
                <a:spcPts val="0"/>
              </a:spcBef>
              <a:spcAft>
                <a:spcPts val="0"/>
              </a:spcAft>
              <a:buSzPts val="1600"/>
              <a:buChar char="○"/>
            </a:pPr>
            <a:r>
              <a:rPr lang="en-US" sz="1600">
                <a:latin typeface="Arial"/>
                <a:ea typeface="Arial"/>
                <a:cs typeface="Arial"/>
                <a:sym typeface="Arial"/>
              </a:rPr>
              <a:t>This allows users to ask questions naturally without needing to know specific keywords or menu structures.</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00000"/>
              </a:lnSpc>
              <a:spcBef>
                <a:spcPts val="0"/>
              </a:spcBef>
              <a:spcAft>
                <a:spcPts val="0"/>
              </a:spcAft>
              <a:buSzPts val="1600"/>
              <a:buAutoNum type="arabicPeriod"/>
            </a:pPr>
            <a:r>
              <a:rPr b="1" lang="en-US" sz="1600">
                <a:latin typeface="Arial"/>
                <a:ea typeface="Arial"/>
                <a:cs typeface="Arial"/>
                <a:sym typeface="Arial"/>
              </a:rPr>
              <a:t>Retrieval-Augmented Generation (RAG):</a:t>
            </a:r>
            <a:br>
              <a:rPr b="1" lang="en-US" sz="1600">
                <a:latin typeface="Arial"/>
                <a:ea typeface="Arial"/>
                <a:cs typeface="Arial"/>
                <a:sym typeface="Arial"/>
              </a:rPr>
            </a:br>
            <a:endParaRPr b="1" sz="1600">
              <a:latin typeface="Arial"/>
              <a:ea typeface="Arial"/>
              <a:cs typeface="Arial"/>
              <a:sym typeface="Arial"/>
            </a:endParaRPr>
          </a:p>
          <a:p>
            <a:pPr indent="-330200" lvl="1" marL="914400" rtl="0" algn="l">
              <a:lnSpc>
                <a:spcPct val="100000"/>
              </a:lnSpc>
              <a:spcBef>
                <a:spcPts val="0"/>
              </a:spcBef>
              <a:spcAft>
                <a:spcPts val="0"/>
              </a:spcAft>
              <a:buSzPts val="1600"/>
              <a:buChar char="○"/>
            </a:pPr>
            <a:r>
              <a:rPr lang="en-US" sz="1600">
                <a:latin typeface="Arial"/>
                <a:ea typeface="Arial"/>
                <a:cs typeface="Arial"/>
                <a:sym typeface="Arial"/>
              </a:rPr>
              <a:t>Combines </a:t>
            </a:r>
            <a:r>
              <a:rPr b="1" lang="en-US" sz="1600">
                <a:latin typeface="Arial"/>
                <a:ea typeface="Arial"/>
                <a:cs typeface="Arial"/>
                <a:sym typeface="Arial"/>
              </a:rPr>
              <a:t>document retrieval</a:t>
            </a:r>
            <a:r>
              <a:rPr lang="en-US" sz="1600">
                <a:latin typeface="Arial"/>
                <a:ea typeface="Arial"/>
                <a:cs typeface="Arial"/>
                <a:sym typeface="Arial"/>
              </a:rPr>
              <a:t> from official notices, skill modules, and career resources with </a:t>
            </a:r>
            <a:r>
              <a:rPr b="1" lang="en-US" sz="1600">
                <a:latin typeface="Arial"/>
                <a:ea typeface="Arial"/>
                <a:cs typeface="Arial"/>
                <a:sym typeface="Arial"/>
              </a:rPr>
              <a:t>LLM-based response generation</a:t>
            </a:r>
            <a:r>
              <a:rPr lang="en-US" sz="1600">
                <a:latin typeface="Arial"/>
                <a:ea typeface="Arial"/>
                <a:cs typeface="Arial"/>
                <a:sym typeface="Arial"/>
              </a:rPr>
              <a:t>.</a:t>
            </a:r>
            <a:br>
              <a:rPr lang="en-US" sz="1600">
                <a:latin typeface="Arial"/>
                <a:ea typeface="Arial"/>
                <a:cs typeface="Arial"/>
                <a:sym typeface="Arial"/>
              </a:rPr>
            </a:br>
            <a:endParaRPr sz="1600">
              <a:latin typeface="Arial"/>
              <a:ea typeface="Arial"/>
              <a:cs typeface="Arial"/>
              <a:sym typeface="Arial"/>
            </a:endParaRPr>
          </a:p>
          <a:p>
            <a:pPr indent="-330200" lvl="1" marL="914400" rtl="0" algn="l">
              <a:lnSpc>
                <a:spcPct val="100000"/>
              </a:lnSpc>
              <a:spcBef>
                <a:spcPts val="0"/>
              </a:spcBef>
              <a:spcAft>
                <a:spcPts val="0"/>
              </a:spcAft>
              <a:buSzPts val="1600"/>
              <a:buChar char="○"/>
            </a:pPr>
            <a:r>
              <a:rPr lang="en-US" sz="1600">
                <a:latin typeface="Arial"/>
                <a:ea typeface="Arial"/>
                <a:cs typeface="Arial"/>
                <a:sym typeface="Arial"/>
              </a:rPr>
              <a:t>Ensures that responses are </a:t>
            </a:r>
            <a:r>
              <a:rPr b="1" lang="en-US" sz="1600">
                <a:latin typeface="Arial"/>
                <a:ea typeface="Arial"/>
                <a:cs typeface="Arial"/>
                <a:sym typeface="Arial"/>
              </a:rPr>
              <a:t>accurate, factual, and grounded in verified sources</a:t>
            </a:r>
            <a:r>
              <a:rPr lang="en-US" sz="1600">
                <a:latin typeface="Arial"/>
                <a:ea typeface="Arial"/>
                <a:cs typeface="Arial"/>
                <a:sym typeface="Arial"/>
              </a:rPr>
              <a:t>, addressing the hallucination problem of generic LLMs.</a:t>
            </a:r>
            <a:endParaRPr sz="1600">
              <a:latin typeface="Arial"/>
              <a:ea typeface="Arial"/>
              <a:cs typeface="Arial"/>
              <a:sym typeface="Arial"/>
            </a:endParaRPr>
          </a:p>
          <a:p>
            <a:pPr indent="0" lvl="0" marL="0" rtl="0" algn="l">
              <a:lnSpc>
                <a:spcPct val="100000"/>
              </a:lnSpc>
              <a:spcBef>
                <a:spcPts val="1200"/>
              </a:spcBef>
              <a:spcAft>
                <a:spcPts val="0"/>
              </a:spcAft>
              <a:buNone/>
            </a:pPr>
            <a:r>
              <a:t/>
            </a:r>
            <a:endParaRPr b="1" sz="1600" u="sng">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Proposed Method</a:t>
            </a:r>
            <a:endParaRPr>
              <a:latin typeface="Cambria"/>
              <a:ea typeface="Cambria"/>
              <a:cs typeface="Cambria"/>
              <a:sym typeface="Cambria"/>
            </a:endParaRPr>
          </a:p>
        </p:txBody>
      </p:sp>
      <p:sp>
        <p:nvSpPr>
          <p:cNvPr id="201" name="Google Shape;201;p31"/>
          <p:cNvSpPr txBox="1"/>
          <p:nvPr>
            <p:ph idx="1" type="body"/>
          </p:nvPr>
        </p:nvSpPr>
        <p:spPr>
          <a:xfrm>
            <a:off x="620294" y="1110917"/>
            <a:ext cx="10668000" cy="4953000"/>
          </a:xfrm>
          <a:prstGeom prst="rect">
            <a:avLst/>
          </a:prstGeom>
          <a:noFill/>
          <a:ln>
            <a:noFill/>
          </a:ln>
        </p:spPr>
        <p:txBody>
          <a:bodyPr anchorCtr="0" anchor="t" bIns="45700" lIns="91425" spcFirstLastPara="1" rIns="91425" wrap="square" tIns="45700">
            <a:noAutofit/>
          </a:bodyPr>
          <a:lstStyle/>
          <a:p>
            <a:pPr indent="-330200" lvl="0" marL="457200" rtl="0" algn="l">
              <a:lnSpc>
                <a:spcPct val="100000"/>
              </a:lnSpc>
              <a:spcBef>
                <a:spcPts val="1200"/>
              </a:spcBef>
              <a:spcAft>
                <a:spcPts val="0"/>
              </a:spcAft>
              <a:buSzPts val="1600"/>
              <a:buAutoNum type="arabicPeriod" startAt="3"/>
            </a:pPr>
            <a:r>
              <a:rPr b="1" lang="en-US" sz="1600">
                <a:latin typeface="Arial"/>
                <a:ea typeface="Arial"/>
                <a:cs typeface="Arial"/>
                <a:sym typeface="Arial"/>
              </a:rPr>
              <a:t>Task-Oriented Guidance:</a:t>
            </a:r>
            <a:br>
              <a:rPr b="1" lang="en-US" sz="1600">
                <a:latin typeface="Arial"/>
                <a:ea typeface="Arial"/>
                <a:cs typeface="Arial"/>
                <a:sym typeface="Arial"/>
              </a:rPr>
            </a:br>
            <a:endParaRPr b="1" sz="1600">
              <a:latin typeface="Arial"/>
              <a:ea typeface="Arial"/>
              <a:cs typeface="Arial"/>
              <a:sym typeface="Arial"/>
            </a:endParaRPr>
          </a:p>
          <a:p>
            <a:pPr indent="-330200" lvl="1" marL="914400" rtl="0" algn="l">
              <a:lnSpc>
                <a:spcPct val="100000"/>
              </a:lnSpc>
              <a:spcBef>
                <a:spcPts val="0"/>
              </a:spcBef>
              <a:spcAft>
                <a:spcPts val="0"/>
              </a:spcAft>
              <a:buSzPts val="1600"/>
              <a:buChar char="○"/>
            </a:pPr>
            <a:r>
              <a:rPr lang="en-US" sz="1600">
                <a:latin typeface="Arial"/>
                <a:ea typeface="Arial"/>
                <a:cs typeface="Arial"/>
                <a:sym typeface="Arial"/>
              </a:rPr>
              <a:t>Supports users in performing tasks such as </a:t>
            </a:r>
            <a:r>
              <a:rPr b="1" lang="en-US" sz="1600">
                <a:latin typeface="Arial"/>
                <a:ea typeface="Arial"/>
                <a:cs typeface="Arial"/>
                <a:sym typeface="Arial"/>
              </a:rPr>
              <a:t>finding deadlines, checking eligibility, tracking applications, or discovering skill programs</a:t>
            </a:r>
            <a:r>
              <a:rPr lang="en-US" sz="1600">
                <a:latin typeface="Arial"/>
                <a:ea typeface="Arial"/>
                <a:cs typeface="Arial"/>
                <a:sym typeface="Arial"/>
              </a:rPr>
              <a:t>.</a:t>
            </a:r>
            <a:br>
              <a:rPr lang="en-US" sz="1600">
                <a:latin typeface="Arial"/>
                <a:ea typeface="Arial"/>
                <a:cs typeface="Arial"/>
                <a:sym typeface="Arial"/>
              </a:rPr>
            </a:br>
            <a:endParaRPr sz="1600">
              <a:latin typeface="Arial"/>
              <a:ea typeface="Arial"/>
              <a:cs typeface="Arial"/>
              <a:sym typeface="Arial"/>
            </a:endParaRPr>
          </a:p>
          <a:p>
            <a:pPr indent="-330200" lvl="1" marL="914400" rtl="0" algn="l">
              <a:lnSpc>
                <a:spcPct val="100000"/>
              </a:lnSpc>
              <a:spcBef>
                <a:spcPts val="0"/>
              </a:spcBef>
              <a:spcAft>
                <a:spcPts val="0"/>
              </a:spcAft>
              <a:buSzPts val="1600"/>
              <a:buChar char="○"/>
            </a:pPr>
            <a:r>
              <a:rPr lang="en-US" sz="1600">
                <a:latin typeface="Arial"/>
                <a:ea typeface="Arial"/>
                <a:cs typeface="Arial"/>
                <a:sym typeface="Arial"/>
              </a:rPr>
              <a:t>Reduces the need for manual navigation, improving efficiency and user experience.</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00000"/>
              </a:lnSpc>
              <a:spcBef>
                <a:spcPts val="0"/>
              </a:spcBef>
              <a:spcAft>
                <a:spcPts val="0"/>
              </a:spcAft>
              <a:buSzPts val="1600"/>
              <a:buAutoNum type="arabicPeriod" startAt="3"/>
            </a:pPr>
            <a:r>
              <a:rPr b="1" lang="en-US" sz="1600">
                <a:latin typeface="Arial"/>
                <a:ea typeface="Arial"/>
                <a:cs typeface="Arial"/>
                <a:sym typeface="Arial"/>
              </a:rPr>
              <a:t>Personalization &amp; Context Management:</a:t>
            </a:r>
            <a:br>
              <a:rPr b="1" lang="en-US" sz="1600">
                <a:latin typeface="Arial"/>
                <a:ea typeface="Arial"/>
                <a:cs typeface="Arial"/>
                <a:sym typeface="Arial"/>
              </a:rPr>
            </a:br>
            <a:endParaRPr b="1" sz="1600">
              <a:latin typeface="Arial"/>
              <a:ea typeface="Arial"/>
              <a:cs typeface="Arial"/>
              <a:sym typeface="Arial"/>
            </a:endParaRPr>
          </a:p>
          <a:p>
            <a:pPr indent="-330200" lvl="1" marL="914400" rtl="0" algn="l">
              <a:lnSpc>
                <a:spcPct val="100000"/>
              </a:lnSpc>
              <a:spcBef>
                <a:spcPts val="0"/>
              </a:spcBef>
              <a:spcAft>
                <a:spcPts val="0"/>
              </a:spcAft>
              <a:buSzPts val="1600"/>
              <a:buChar char="○"/>
            </a:pPr>
            <a:r>
              <a:rPr lang="en-US" sz="1600">
                <a:latin typeface="Arial"/>
                <a:ea typeface="Arial"/>
                <a:cs typeface="Arial"/>
                <a:sym typeface="Arial"/>
              </a:rPr>
              <a:t>Maintains </a:t>
            </a:r>
            <a:r>
              <a:rPr b="1" lang="en-US" sz="1600">
                <a:latin typeface="Arial"/>
                <a:ea typeface="Arial"/>
                <a:cs typeface="Arial"/>
                <a:sym typeface="Arial"/>
              </a:rPr>
              <a:t>conversation context</a:t>
            </a:r>
            <a:r>
              <a:rPr lang="en-US" sz="1600">
                <a:latin typeface="Arial"/>
                <a:ea typeface="Arial"/>
                <a:cs typeface="Arial"/>
                <a:sym typeface="Arial"/>
              </a:rPr>
              <a:t> and leverages </a:t>
            </a:r>
            <a:r>
              <a:rPr b="1" lang="en-US" sz="1600">
                <a:latin typeface="Arial"/>
                <a:ea typeface="Arial"/>
                <a:cs typeface="Arial"/>
                <a:sym typeface="Arial"/>
              </a:rPr>
              <a:t>user history/preferences</a:t>
            </a:r>
            <a:r>
              <a:rPr lang="en-US" sz="1600">
                <a:latin typeface="Arial"/>
                <a:ea typeface="Arial"/>
                <a:cs typeface="Arial"/>
                <a:sym typeface="Arial"/>
              </a:rPr>
              <a:t> (without compromising privacy) to provide relevant recommendations.</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00000"/>
              </a:lnSpc>
              <a:spcBef>
                <a:spcPts val="0"/>
              </a:spcBef>
              <a:spcAft>
                <a:spcPts val="0"/>
              </a:spcAft>
              <a:buSzPts val="1600"/>
              <a:buAutoNum type="arabicPeriod" startAt="3"/>
            </a:pPr>
            <a:r>
              <a:rPr b="1" lang="en-US" sz="1600">
                <a:latin typeface="Arial"/>
                <a:ea typeface="Arial"/>
                <a:cs typeface="Arial"/>
                <a:sym typeface="Arial"/>
              </a:rPr>
              <a:t>Feedback-Driven Learning:</a:t>
            </a:r>
            <a:br>
              <a:rPr b="1" lang="en-US" sz="1600">
                <a:latin typeface="Arial"/>
                <a:ea typeface="Arial"/>
                <a:cs typeface="Arial"/>
                <a:sym typeface="Arial"/>
              </a:rPr>
            </a:br>
            <a:endParaRPr b="1" sz="1600">
              <a:latin typeface="Arial"/>
              <a:ea typeface="Arial"/>
              <a:cs typeface="Arial"/>
              <a:sym typeface="Arial"/>
            </a:endParaRPr>
          </a:p>
          <a:p>
            <a:pPr indent="-330200" lvl="1" marL="914400" rtl="0" algn="l">
              <a:lnSpc>
                <a:spcPct val="100000"/>
              </a:lnSpc>
              <a:spcBef>
                <a:spcPts val="0"/>
              </a:spcBef>
              <a:spcAft>
                <a:spcPts val="0"/>
              </a:spcAft>
              <a:buSzPts val="1600"/>
              <a:buChar char="○"/>
            </a:pPr>
            <a:r>
              <a:rPr lang="en-US" sz="1600">
                <a:latin typeface="Arial"/>
                <a:ea typeface="Arial"/>
                <a:cs typeface="Arial"/>
                <a:sym typeface="Arial"/>
              </a:rPr>
              <a:t>Integrates a feedback loop to </a:t>
            </a:r>
            <a:r>
              <a:rPr b="1" lang="en-US" sz="1600">
                <a:latin typeface="Arial"/>
                <a:ea typeface="Arial"/>
                <a:cs typeface="Arial"/>
                <a:sym typeface="Arial"/>
              </a:rPr>
              <a:t>continually improve accuracy, intent recognition, and response relevance</a:t>
            </a:r>
            <a:r>
              <a:rPr lang="en-US" sz="1600">
                <a:latin typeface="Arial"/>
                <a:ea typeface="Arial"/>
                <a:cs typeface="Arial"/>
                <a:sym typeface="Arial"/>
              </a:rPr>
              <a:t> based on real user interactions.</a:t>
            </a:r>
            <a:endParaRPr sz="1600">
              <a:latin typeface="Arial"/>
              <a:ea typeface="Arial"/>
              <a:cs typeface="Arial"/>
              <a:sym typeface="Arial"/>
            </a:endParaRPr>
          </a:p>
          <a:p>
            <a:pPr indent="0" lvl="0" marL="0" rtl="0" algn="l">
              <a:lnSpc>
                <a:spcPct val="100000"/>
              </a:lnSpc>
              <a:spcBef>
                <a:spcPts val="1200"/>
              </a:spcBef>
              <a:spcAft>
                <a:spcPts val="0"/>
              </a:spcAft>
              <a:buNone/>
            </a:pPr>
            <a:r>
              <a:t/>
            </a:r>
            <a:endParaRPr b="1" sz="1600" u="sng">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2"/>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Feasibility Study</a:t>
            </a:r>
            <a:endParaRPr>
              <a:latin typeface="Cambria"/>
              <a:ea typeface="Cambria"/>
              <a:cs typeface="Cambria"/>
              <a:sym typeface="Cambria"/>
            </a:endParaRPr>
          </a:p>
        </p:txBody>
      </p:sp>
      <p:sp>
        <p:nvSpPr>
          <p:cNvPr id="207" name="Google Shape;207;p32"/>
          <p:cNvSpPr txBox="1"/>
          <p:nvPr>
            <p:ph idx="1" type="body"/>
          </p:nvPr>
        </p:nvSpPr>
        <p:spPr>
          <a:xfrm>
            <a:off x="620294" y="1110917"/>
            <a:ext cx="10668000" cy="4953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480"/>
              </a:spcBef>
              <a:spcAft>
                <a:spcPts val="0"/>
              </a:spcAft>
              <a:buNone/>
            </a:pPr>
            <a:r>
              <a:rPr b="1" lang="en-US" sz="1600">
                <a:latin typeface="Arial"/>
                <a:ea typeface="Arial"/>
                <a:cs typeface="Arial"/>
                <a:sym typeface="Arial"/>
              </a:rPr>
              <a:t>Justification:</a:t>
            </a:r>
            <a:endParaRPr b="1" sz="1600">
              <a:latin typeface="Arial"/>
              <a:ea typeface="Arial"/>
              <a:cs typeface="Arial"/>
              <a:sym typeface="Arial"/>
            </a:endParaRPr>
          </a:p>
          <a:p>
            <a:pPr indent="0" lvl="0" marL="0" rtl="0" algn="l">
              <a:lnSpc>
                <a:spcPct val="115000"/>
              </a:lnSpc>
              <a:spcBef>
                <a:spcPts val="480"/>
              </a:spcBef>
              <a:spcAft>
                <a:spcPts val="0"/>
              </a:spcAft>
              <a:buNone/>
            </a:pPr>
            <a:r>
              <a:rPr lang="en-US" sz="1600">
                <a:latin typeface="Arial"/>
                <a:ea typeface="Arial"/>
                <a:cs typeface="Arial"/>
                <a:sym typeface="Arial"/>
              </a:rPr>
              <a:t>Implementing a conversational AI assistant addresses the core challenges of the PGRKAM platform:</a:t>
            </a:r>
            <a:endParaRPr sz="1600">
              <a:latin typeface="Arial"/>
              <a:ea typeface="Arial"/>
              <a:cs typeface="Arial"/>
              <a:sym typeface="Arial"/>
            </a:endParaRPr>
          </a:p>
          <a:p>
            <a:pPr indent="457200" lvl="0" marL="457200" rtl="0" algn="l">
              <a:lnSpc>
                <a:spcPct val="100000"/>
              </a:lnSpc>
              <a:spcBef>
                <a:spcPts val="480"/>
              </a:spcBef>
              <a:spcAft>
                <a:spcPts val="0"/>
              </a:spcAft>
              <a:buNone/>
            </a:pPr>
            <a:r>
              <a:t/>
            </a:r>
            <a:endParaRPr sz="1600">
              <a:latin typeface="Arial"/>
              <a:ea typeface="Arial"/>
              <a:cs typeface="Arial"/>
              <a:sym typeface="Arial"/>
            </a:endParaRPr>
          </a:p>
          <a:p>
            <a:pPr indent="-330200" lvl="0" marL="457200" rtl="0" algn="l">
              <a:lnSpc>
                <a:spcPct val="100000"/>
              </a:lnSpc>
              <a:spcBef>
                <a:spcPts val="480"/>
              </a:spcBef>
              <a:spcAft>
                <a:spcPts val="0"/>
              </a:spcAft>
              <a:buSzPts val="1600"/>
              <a:buFont typeface="Arial"/>
              <a:buChar char="•"/>
            </a:pPr>
            <a:r>
              <a:rPr b="1" lang="en-US" sz="1600">
                <a:latin typeface="Arial"/>
                <a:ea typeface="Arial"/>
                <a:cs typeface="Arial"/>
                <a:sym typeface="Arial"/>
              </a:rPr>
              <a:t>Enhanced User Experience:</a:t>
            </a:r>
            <a:r>
              <a:rPr lang="en-US" sz="1600">
                <a:latin typeface="Arial"/>
                <a:ea typeface="Arial"/>
                <a:cs typeface="Arial"/>
                <a:sym typeface="Arial"/>
              </a:rPr>
              <a:t> Users receive personalized, real-time guidance, reducing the need for</a:t>
            </a:r>
            <a:r>
              <a:rPr lang="en-US" sz="1600">
                <a:latin typeface="Arial"/>
                <a:ea typeface="Arial"/>
                <a:cs typeface="Arial"/>
                <a:sym typeface="Arial"/>
              </a:rPr>
              <a:t> </a:t>
            </a:r>
            <a:r>
              <a:rPr lang="en-US" sz="1600">
                <a:latin typeface="Arial"/>
                <a:ea typeface="Arial"/>
                <a:cs typeface="Arial"/>
                <a:sym typeface="Arial"/>
              </a:rPr>
              <a:t>manual navigation across multiple modules.</a:t>
            </a:r>
            <a:endParaRPr sz="1600">
              <a:latin typeface="Arial"/>
              <a:ea typeface="Arial"/>
              <a:cs typeface="Arial"/>
              <a:sym typeface="Arial"/>
            </a:endParaRPr>
          </a:p>
          <a:p>
            <a:pPr indent="0" lvl="0" marL="2743200" rtl="0" algn="l">
              <a:lnSpc>
                <a:spcPct val="100000"/>
              </a:lnSpc>
              <a:spcBef>
                <a:spcPts val="480"/>
              </a:spcBef>
              <a:spcAft>
                <a:spcPts val="0"/>
              </a:spcAft>
              <a:buNone/>
            </a:pPr>
            <a:r>
              <a:t/>
            </a:r>
            <a:endParaRPr sz="1600">
              <a:latin typeface="Arial"/>
              <a:ea typeface="Arial"/>
              <a:cs typeface="Arial"/>
              <a:sym typeface="Arial"/>
            </a:endParaRPr>
          </a:p>
          <a:p>
            <a:pPr indent="-330200" lvl="0" marL="457200" rtl="0" algn="l">
              <a:lnSpc>
                <a:spcPct val="100000"/>
              </a:lnSpc>
              <a:spcBef>
                <a:spcPts val="480"/>
              </a:spcBef>
              <a:spcAft>
                <a:spcPts val="0"/>
              </a:spcAft>
              <a:buSzPts val="1600"/>
              <a:buFont typeface="Arial"/>
              <a:buChar char="•"/>
            </a:pPr>
            <a:r>
              <a:rPr b="1" lang="en-US" sz="1600">
                <a:latin typeface="Arial"/>
                <a:ea typeface="Arial"/>
                <a:cs typeface="Arial"/>
                <a:sym typeface="Arial"/>
              </a:rPr>
              <a:t>Improved Efficiency:</a:t>
            </a:r>
            <a:r>
              <a:rPr lang="en-US" sz="1600">
                <a:latin typeface="Arial"/>
                <a:ea typeface="Arial"/>
                <a:cs typeface="Arial"/>
                <a:sym typeface="Arial"/>
              </a:rPr>
              <a:t> Automated responses streamline information retrieval, saving users time and effort.</a:t>
            </a:r>
            <a:endParaRPr sz="1600">
              <a:latin typeface="Arial"/>
              <a:ea typeface="Arial"/>
              <a:cs typeface="Arial"/>
              <a:sym typeface="Arial"/>
            </a:endParaRPr>
          </a:p>
          <a:p>
            <a:pPr indent="0" lvl="0" marL="457200" rtl="0" algn="l">
              <a:lnSpc>
                <a:spcPct val="100000"/>
              </a:lnSpc>
              <a:spcBef>
                <a:spcPts val="480"/>
              </a:spcBef>
              <a:spcAft>
                <a:spcPts val="0"/>
              </a:spcAft>
              <a:buNone/>
            </a:pPr>
            <a:r>
              <a:t/>
            </a:r>
            <a:endParaRPr sz="1600">
              <a:latin typeface="Arial"/>
              <a:ea typeface="Arial"/>
              <a:cs typeface="Arial"/>
              <a:sym typeface="Arial"/>
            </a:endParaRPr>
          </a:p>
          <a:p>
            <a:pPr indent="-330200" lvl="0" marL="457200" rtl="0" algn="l">
              <a:lnSpc>
                <a:spcPct val="100000"/>
              </a:lnSpc>
              <a:spcBef>
                <a:spcPts val="480"/>
              </a:spcBef>
              <a:spcAft>
                <a:spcPts val="0"/>
              </a:spcAft>
              <a:buSzPts val="1600"/>
              <a:buFont typeface="Arial"/>
              <a:buChar char="•"/>
            </a:pPr>
            <a:r>
              <a:rPr b="1" lang="en-US" sz="1600">
                <a:latin typeface="Arial"/>
                <a:ea typeface="Arial"/>
                <a:cs typeface="Arial"/>
                <a:sym typeface="Arial"/>
              </a:rPr>
              <a:t>Scalability:</a:t>
            </a:r>
            <a:r>
              <a:rPr lang="en-US" sz="1600">
                <a:latin typeface="Arial"/>
                <a:ea typeface="Arial"/>
                <a:cs typeface="Arial"/>
                <a:sym typeface="Arial"/>
              </a:rPr>
              <a:t> AI assistants can handle a large volume of queries simultaneously, ensuring consistent service availability.</a:t>
            </a:r>
            <a:endParaRPr sz="1600">
              <a:latin typeface="Arial"/>
              <a:ea typeface="Arial"/>
              <a:cs typeface="Arial"/>
              <a:sym typeface="Arial"/>
            </a:endParaRPr>
          </a:p>
          <a:p>
            <a:pPr indent="0" lvl="0" marL="1371600" rtl="0" algn="l">
              <a:lnSpc>
                <a:spcPct val="100000"/>
              </a:lnSpc>
              <a:spcBef>
                <a:spcPts val="480"/>
              </a:spcBef>
              <a:spcAft>
                <a:spcPts val="0"/>
              </a:spcAft>
              <a:buNone/>
            </a:pPr>
            <a:r>
              <a:t/>
            </a:r>
            <a:endParaRPr sz="1600">
              <a:latin typeface="Arial"/>
              <a:ea typeface="Arial"/>
              <a:cs typeface="Arial"/>
              <a:sym typeface="Arial"/>
            </a:endParaRPr>
          </a:p>
          <a:p>
            <a:pPr indent="457200" lvl="0" marL="457200" rtl="0" algn="l">
              <a:lnSpc>
                <a:spcPct val="100000"/>
              </a:lnSpc>
              <a:spcBef>
                <a:spcPts val="480"/>
              </a:spcBef>
              <a:spcAft>
                <a:spcPts val="0"/>
              </a:spcAft>
              <a:buNone/>
            </a:pPr>
            <a:r>
              <a:rPr lang="en-US" sz="1600">
                <a:latin typeface="Arial"/>
                <a:ea typeface="Arial"/>
                <a:cs typeface="Arial"/>
                <a:sym typeface="Arial"/>
              </a:rPr>
              <a:t>These benefits align with findings from various studies highlighting the effectiveness of AI assistants in public service platforms.</a:t>
            </a:r>
            <a:endParaRPr sz="1600">
              <a:latin typeface="Arial"/>
              <a:ea typeface="Arial"/>
              <a:cs typeface="Arial"/>
              <a:sym typeface="Arial"/>
            </a:endParaRPr>
          </a:p>
          <a:p>
            <a:pPr indent="0" lvl="0" marL="0" rtl="0" algn="l">
              <a:lnSpc>
                <a:spcPct val="100000"/>
              </a:lnSpc>
              <a:spcBef>
                <a:spcPts val="480"/>
              </a:spcBef>
              <a:spcAft>
                <a:spcPts val="0"/>
              </a:spcAft>
              <a:buNone/>
            </a:pPr>
            <a:r>
              <a:t/>
            </a:r>
            <a:endParaRPr sz="1600">
              <a:latin typeface="Arial"/>
              <a:ea typeface="Arial"/>
              <a:cs typeface="Arial"/>
              <a:sym typeface="Arial"/>
            </a:endParaRPr>
          </a:p>
          <a:p>
            <a:pPr indent="0" lvl="0" marL="0" rtl="0" algn="l">
              <a:lnSpc>
                <a:spcPct val="150000"/>
              </a:lnSpc>
              <a:spcBef>
                <a:spcPts val="480"/>
              </a:spcBef>
              <a:spcAft>
                <a:spcPts val="0"/>
              </a:spcAft>
              <a:buNone/>
            </a:pPr>
            <a:r>
              <a:t/>
            </a:r>
            <a:endParaRPr sz="1600">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Feasibility Study</a:t>
            </a:r>
            <a:endParaRPr>
              <a:latin typeface="Cambria"/>
              <a:ea typeface="Cambria"/>
              <a:cs typeface="Cambria"/>
              <a:sym typeface="Cambria"/>
            </a:endParaRPr>
          </a:p>
        </p:txBody>
      </p:sp>
      <p:sp>
        <p:nvSpPr>
          <p:cNvPr id="213" name="Google Shape;213;p33"/>
          <p:cNvSpPr txBox="1"/>
          <p:nvPr>
            <p:ph idx="1" type="body"/>
          </p:nvPr>
        </p:nvSpPr>
        <p:spPr>
          <a:xfrm>
            <a:off x="620294" y="1110917"/>
            <a:ext cx="10668000" cy="495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80"/>
              </a:spcBef>
              <a:spcAft>
                <a:spcPts val="0"/>
              </a:spcAft>
              <a:buNone/>
            </a:pPr>
            <a:r>
              <a:rPr b="1" lang="en-US" sz="1600" u="sng">
                <a:latin typeface="Arial"/>
                <a:ea typeface="Arial"/>
                <a:cs typeface="Arial"/>
                <a:sym typeface="Arial"/>
              </a:rPr>
              <a:t>Technology Feasibility:</a:t>
            </a:r>
            <a:endParaRPr b="1" sz="1600" u="sng">
              <a:latin typeface="Arial"/>
              <a:ea typeface="Arial"/>
              <a:cs typeface="Arial"/>
              <a:sym typeface="Arial"/>
            </a:endParaRPr>
          </a:p>
          <a:p>
            <a:pPr indent="0" lvl="0" marL="0" rtl="0" algn="l">
              <a:lnSpc>
                <a:spcPct val="100000"/>
              </a:lnSpc>
              <a:spcBef>
                <a:spcPts val="480"/>
              </a:spcBef>
              <a:spcAft>
                <a:spcPts val="0"/>
              </a:spcAft>
              <a:buNone/>
            </a:pPr>
            <a:r>
              <a:t/>
            </a:r>
            <a:endParaRPr b="1" sz="1600">
              <a:latin typeface="Arial"/>
              <a:ea typeface="Arial"/>
              <a:cs typeface="Arial"/>
              <a:sym typeface="Arial"/>
            </a:endParaRPr>
          </a:p>
          <a:p>
            <a:pPr indent="0" lvl="0" marL="0" rtl="0" algn="l">
              <a:lnSpc>
                <a:spcPct val="100000"/>
              </a:lnSpc>
              <a:spcBef>
                <a:spcPts val="480"/>
              </a:spcBef>
              <a:spcAft>
                <a:spcPts val="0"/>
              </a:spcAft>
              <a:buNone/>
            </a:pPr>
            <a:r>
              <a:rPr lang="en-US" sz="1600">
                <a:latin typeface="Arial"/>
                <a:ea typeface="Arial"/>
                <a:cs typeface="Arial"/>
                <a:sym typeface="Arial"/>
              </a:rPr>
              <a:t>Key technologies essential for the AI assistant include:</a:t>
            </a:r>
            <a:endParaRPr sz="1600">
              <a:latin typeface="Arial"/>
              <a:ea typeface="Arial"/>
              <a:cs typeface="Arial"/>
              <a:sym typeface="Arial"/>
            </a:endParaRPr>
          </a:p>
          <a:p>
            <a:pPr indent="0" lvl="0" marL="914400" rtl="0" algn="l">
              <a:lnSpc>
                <a:spcPct val="100000"/>
              </a:lnSpc>
              <a:spcBef>
                <a:spcPts val="480"/>
              </a:spcBef>
              <a:spcAft>
                <a:spcPts val="0"/>
              </a:spcAft>
              <a:buNone/>
            </a:pPr>
            <a:r>
              <a:t/>
            </a:r>
            <a:endParaRPr b="1" sz="1600">
              <a:latin typeface="Arial"/>
              <a:ea typeface="Arial"/>
              <a:cs typeface="Arial"/>
              <a:sym typeface="Arial"/>
            </a:endParaRPr>
          </a:p>
          <a:p>
            <a:pPr indent="-330200" lvl="0" marL="457200" rtl="0" algn="l">
              <a:lnSpc>
                <a:spcPct val="100000"/>
              </a:lnSpc>
              <a:spcBef>
                <a:spcPts val="480"/>
              </a:spcBef>
              <a:spcAft>
                <a:spcPts val="0"/>
              </a:spcAft>
              <a:buSzPts val="1600"/>
              <a:buFont typeface="Arial"/>
              <a:buChar char="•"/>
            </a:pPr>
            <a:r>
              <a:rPr b="1" lang="en-US" sz="1600">
                <a:latin typeface="Arial"/>
                <a:ea typeface="Arial"/>
                <a:cs typeface="Arial"/>
                <a:sym typeface="Arial"/>
              </a:rPr>
              <a:t>Intent Recognition:</a:t>
            </a:r>
            <a:r>
              <a:rPr lang="en-US" sz="1600">
                <a:latin typeface="Arial"/>
                <a:ea typeface="Arial"/>
                <a:cs typeface="Arial"/>
                <a:sym typeface="Arial"/>
              </a:rPr>
              <a:t> Enables the system to understand user queries and determine the appropriate response.</a:t>
            </a:r>
            <a:endParaRPr sz="1600">
              <a:latin typeface="Arial"/>
              <a:ea typeface="Arial"/>
              <a:cs typeface="Arial"/>
              <a:sym typeface="Arial"/>
            </a:endParaRPr>
          </a:p>
          <a:p>
            <a:pPr indent="0" lvl="0" marL="914400" rtl="0" algn="l">
              <a:lnSpc>
                <a:spcPct val="100000"/>
              </a:lnSpc>
              <a:spcBef>
                <a:spcPts val="480"/>
              </a:spcBef>
              <a:spcAft>
                <a:spcPts val="0"/>
              </a:spcAft>
              <a:buNone/>
            </a:pPr>
            <a:r>
              <a:t/>
            </a:r>
            <a:endParaRPr b="1" sz="1600">
              <a:latin typeface="Arial"/>
              <a:ea typeface="Arial"/>
              <a:cs typeface="Arial"/>
              <a:sym typeface="Arial"/>
            </a:endParaRPr>
          </a:p>
          <a:p>
            <a:pPr indent="-330200" lvl="0" marL="457200" rtl="0" algn="l">
              <a:lnSpc>
                <a:spcPct val="100000"/>
              </a:lnSpc>
              <a:spcBef>
                <a:spcPts val="480"/>
              </a:spcBef>
              <a:spcAft>
                <a:spcPts val="0"/>
              </a:spcAft>
              <a:buSzPts val="1600"/>
              <a:buFont typeface="Arial"/>
              <a:buChar char="•"/>
            </a:pPr>
            <a:r>
              <a:rPr b="1" lang="en-US" sz="1600">
                <a:latin typeface="Arial"/>
                <a:ea typeface="Arial"/>
                <a:cs typeface="Arial"/>
                <a:sym typeface="Arial"/>
              </a:rPr>
              <a:t>Entity Extraction: </a:t>
            </a:r>
            <a:r>
              <a:rPr lang="en-US" sz="1600">
                <a:latin typeface="Arial"/>
                <a:ea typeface="Arial"/>
                <a:cs typeface="Arial"/>
                <a:sym typeface="Arial"/>
              </a:rPr>
              <a:t>Identifies specific data points within user inputs, such as job titles or deadlines.</a:t>
            </a:r>
            <a:endParaRPr sz="1600">
              <a:latin typeface="Arial"/>
              <a:ea typeface="Arial"/>
              <a:cs typeface="Arial"/>
              <a:sym typeface="Arial"/>
            </a:endParaRPr>
          </a:p>
          <a:p>
            <a:pPr indent="0" lvl="0" marL="914400" rtl="0" algn="l">
              <a:lnSpc>
                <a:spcPct val="100000"/>
              </a:lnSpc>
              <a:spcBef>
                <a:spcPts val="480"/>
              </a:spcBef>
              <a:spcAft>
                <a:spcPts val="0"/>
              </a:spcAft>
              <a:buNone/>
            </a:pPr>
            <a:r>
              <a:t/>
            </a:r>
            <a:endParaRPr b="1" sz="1600">
              <a:latin typeface="Arial"/>
              <a:ea typeface="Arial"/>
              <a:cs typeface="Arial"/>
              <a:sym typeface="Arial"/>
            </a:endParaRPr>
          </a:p>
          <a:p>
            <a:pPr indent="-330200" lvl="0" marL="457200" rtl="0" algn="l">
              <a:lnSpc>
                <a:spcPct val="100000"/>
              </a:lnSpc>
              <a:spcBef>
                <a:spcPts val="480"/>
              </a:spcBef>
              <a:spcAft>
                <a:spcPts val="0"/>
              </a:spcAft>
              <a:buSzPts val="1600"/>
              <a:buFont typeface="Arial"/>
              <a:buChar char="•"/>
            </a:pPr>
            <a:r>
              <a:rPr b="1" lang="en-US" sz="1600">
                <a:latin typeface="Arial"/>
                <a:ea typeface="Arial"/>
                <a:cs typeface="Arial"/>
                <a:sym typeface="Arial"/>
              </a:rPr>
              <a:t>Dialogue Management: </a:t>
            </a:r>
            <a:r>
              <a:rPr lang="en-US" sz="1600">
                <a:latin typeface="Arial"/>
                <a:ea typeface="Arial"/>
                <a:cs typeface="Arial"/>
                <a:sym typeface="Arial"/>
              </a:rPr>
              <a:t>Manages the flow of conversation, ensuring context is maintained throughout interactions.</a:t>
            </a:r>
            <a:endParaRPr sz="1600">
              <a:latin typeface="Arial"/>
              <a:ea typeface="Arial"/>
              <a:cs typeface="Arial"/>
              <a:sym typeface="Arial"/>
            </a:endParaRPr>
          </a:p>
          <a:p>
            <a:pPr indent="0" lvl="0" marL="914400" rtl="0" algn="l">
              <a:lnSpc>
                <a:spcPct val="100000"/>
              </a:lnSpc>
              <a:spcBef>
                <a:spcPts val="480"/>
              </a:spcBef>
              <a:spcAft>
                <a:spcPts val="0"/>
              </a:spcAft>
              <a:buNone/>
            </a:pPr>
            <a:r>
              <a:t/>
            </a:r>
            <a:endParaRPr sz="1600">
              <a:latin typeface="Arial"/>
              <a:ea typeface="Arial"/>
              <a:cs typeface="Arial"/>
              <a:sym typeface="Arial"/>
            </a:endParaRPr>
          </a:p>
          <a:p>
            <a:pPr indent="0" lvl="0" marL="0" rtl="0" algn="l">
              <a:lnSpc>
                <a:spcPct val="100000"/>
              </a:lnSpc>
              <a:spcBef>
                <a:spcPts val="480"/>
              </a:spcBef>
              <a:spcAft>
                <a:spcPts val="0"/>
              </a:spcAft>
              <a:buNone/>
            </a:pPr>
            <a:r>
              <a:rPr lang="en-US" sz="1600">
                <a:latin typeface="Arial"/>
                <a:ea typeface="Arial"/>
                <a:cs typeface="Arial"/>
                <a:sym typeface="Arial"/>
              </a:rPr>
              <a:t>These technologies are foundational in creating a responsive and intelligent assistant capable of handling diverse user queries effectively.</a:t>
            </a:r>
            <a:endParaRPr sz="1600">
              <a:latin typeface="Arial"/>
              <a:ea typeface="Arial"/>
              <a:cs typeface="Arial"/>
              <a:sym typeface="Arial"/>
            </a:endParaRPr>
          </a:p>
          <a:p>
            <a:pPr indent="0" lvl="0" marL="0" rtl="0" algn="l">
              <a:lnSpc>
                <a:spcPct val="150000"/>
              </a:lnSpc>
              <a:spcBef>
                <a:spcPts val="480"/>
              </a:spcBef>
              <a:spcAft>
                <a:spcPts val="0"/>
              </a:spcAft>
              <a:buNone/>
            </a:pPr>
            <a:r>
              <a:t/>
            </a:r>
            <a:endParaRPr sz="1600">
              <a:latin typeface="Arial"/>
              <a:ea typeface="Arial"/>
              <a:cs typeface="Arial"/>
              <a:sym typeface="Arial"/>
            </a:endParaRPr>
          </a:p>
          <a:p>
            <a:pPr indent="0" lvl="0" marL="0" rtl="0" algn="l">
              <a:lnSpc>
                <a:spcPct val="150000"/>
              </a:lnSpc>
              <a:spcBef>
                <a:spcPts val="480"/>
              </a:spcBef>
              <a:spcAft>
                <a:spcPts val="0"/>
              </a:spcAft>
              <a:buNone/>
            </a:pPr>
            <a:r>
              <a:t/>
            </a:r>
            <a:endParaRPr sz="1600">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Feasibility Study</a:t>
            </a:r>
            <a:endParaRPr>
              <a:latin typeface="Cambria"/>
              <a:ea typeface="Cambria"/>
              <a:cs typeface="Cambria"/>
              <a:sym typeface="Cambria"/>
            </a:endParaRPr>
          </a:p>
        </p:txBody>
      </p:sp>
      <p:sp>
        <p:nvSpPr>
          <p:cNvPr id="219" name="Google Shape;219;p34"/>
          <p:cNvSpPr txBox="1"/>
          <p:nvPr>
            <p:ph idx="1" type="body"/>
          </p:nvPr>
        </p:nvSpPr>
        <p:spPr>
          <a:xfrm>
            <a:off x="620300" y="1110925"/>
            <a:ext cx="10668000" cy="5175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80"/>
              </a:spcBef>
              <a:spcAft>
                <a:spcPts val="0"/>
              </a:spcAft>
              <a:buNone/>
            </a:pPr>
            <a:r>
              <a:rPr b="1" lang="en-US" sz="1600" u="sng">
                <a:latin typeface="Arial"/>
                <a:ea typeface="Arial"/>
                <a:cs typeface="Arial"/>
                <a:sym typeface="Arial"/>
              </a:rPr>
              <a:t>Cost and Resource Feasibility:</a:t>
            </a:r>
            <a:endParaRPr b="1" sz="1600" u="sng">
              <a:latin typeface="Arial"/>
              <a:ea typeface="Arial"/>
              <a:cs typeface="Arial"/>
              <a:sym typeface="Arial"/>
            </a:endParaRPr>
          </a:p>
          <a:p>
            <a:pPr indent="0" lvl="0" marL="0" rtl="0" algn="l">
              <a:lnSpc>
                <a:spcPct val="100000"/>
              </a:lnSpc>
              <a:spcBef>
                <a:spcPts val="480"/>
              </a:spcBef>
              <a:spcAft>
                <a:spcPts val="0"/>
              </a:spcAft>
              <a:buNone/>
            </a:pPr>
            <a:r>
              <a:t/>
            </a:r>
            <a:endParaRPr b="1" sz="1600" u="sng">
              <a:latin typeface="Arial"/>
              <a:ea typeface="Arial"/>
              <a:cs typeface="Arial"/>
              <a:sym typeface="Arial"/>
            </a:endParaRPr>
          </a:p>
          <a:p>
            <a:pPr indent="-330200" lvl="0" marL="457200" rtl="0" algn="l">
              <a:lnSpc>
                <a:spcPct val="100000"/>
              </a:lnSpc>
              <a:spcBef>
                <a:spcPts val="480"/>
              </a:spcBef>
              <a:spcAft>
                <a:spcPts val="0"/>
              </a:spcAft>
              <a:buSzPts val="1600"/>
              <a:buFont typeface="Arial"/>
              <a:buAutoNum type="arabicPeriod"/>
            </a:pPr>
            <a:r>
              <a:rPr b="1" lang="en-US" sz="1600">
                <a:latin typeface="Arial"/>
                <a:ea typeface="Arial"/>
                <a:cs typeface="Arial"/>
                <a:sym typeface="Arial"/>
              </a:rPr>
              <a:t>Low-Cost Approach (Third-Party Platforms):</a:t>
            </a:r>
            <a:endParaRPr b="1" sz="1600">
              <a:latin typeface="Arial"/>
              <a:ea typeface="Arial"/>
              <a:cs typeface="Arial"/>
              <a:sym typeface="Arial"/>
            </a:endParaRPr>
          </a:p>
          <a:p>
            <a:pPr indent="0" lvl="0" marL="457200" rtl="0" algn="l">
              <a:lnSpc>
                <a:spcPct val="100000"/>
              </a:lnSpc>
              <a:spcBef>
                <a:spcPts val="480"/>
              </a:spcBef>
              <a:spcAft>
                <a:spcPts val="0"/>
              </a:spcAft>
              <a:buNone/>
            </a:pPr>
            <a:r>
              <a:t/>
            </a:r>
            <a:endParaRPr b="1" sz="1600">
              <a:latin typeface="Arial"/>
              <a:ea typeface="Arial"/>
              <a:cs typeface="Arial"/>
              <a:sym typeface="Arial"/>
            </a:endParaRPr>
          </a:p>
          <a:p>
            <a:pPr indent="-330200" lvl="1" marL="914400" rtl="0" algn="l">
              <a:lnSpc>
                <a:spcPct val="100000"/>
              </a:lnSpc>
              <a:spcBef>
                <a:spcPts val="480"/>
              </a:spcBef>
              <a:spcAft>
                <a:spcPts val="0"/>
              </a:spcAft>
              <a:buSzPts val="1600"/>
              <a:buFont typeface="Arial"/>
              <a:buAutoNum type="alphaLcPeriod"/>
            </a:pPr>
            <a:r>
              <a:rPr b="1" lang="en-US" sz="1600">
                <a:latin typeface="Arial"/>
                <a:ea typeface="Arial"/>
                <a:cs typeface="Arial"/>
                <a:sym typeface="Arial"/>
              </a:rPr>
              <a:t>Subscription-Based Models: </a:t>
            </a:r>
            <a:r>
              <a:rPr lang="en-US" sz="1600">
                <a:latin typeface="Arial"/>
                <a:ea typeface="Arial"/>
                <a:cs typeface="Arial"/>
                <a:sym typeface="Arial"/>
              </a:rPr>
              <a:t>Platforms like Convin.ai offer conversational AI services with pricing models ranging from $50 to $5,000 per month, depending on features and usage.</a:t>
            </a:r>
            <a:endParaRPr sz="1600">
              <a:latin typeface="Arial"/>
              <a:ea typeface="Arial"/>
              <a:cs typeface="Arial"/>
              <a:sym typeface="Arial"/>
            </a:endParaRPr>
          </a:p>
          <a:p>
            <a:pPr indent="0" lvl="0" marL="914400" rtl="0" algn="l">
              <a:lnSpc>
                <a:spcPct val="100000"/>
              </a:lnSpc>
              <a:spcBef>
                <a:spcPts val="480"/>
              </a:spcBef>
              <a:spcAft>
                <a:spcPts val="0"/>
              </a:spcAft>
              <a:buNone/>
            </a:pPr>
            <a:r>
              <a:t/>
            </a:r>
            <a:endParaRPr sz="1600">
              <a:latin typeface="Arial"/>
              <a:ea typeface="Arial"/>
              <a:cs typeface="Arial"/>
              <a:sym typeface="Arial"/>
            </a:endParaRPr>
          </a:p>
          <a:p>
            <a:pPr indent="-330200" lvl="1" marL="914400" rtl="0" algn="l">
              <a:lnSpc>
                <a:spcPct val="100000"/>
              </a:lnSpc>
              <a:spcBef>
                <a:spcPts val="480"/>
              </a:spcBef>
              <a:spcAft>
                <a:spcPts val="0"/>
              </a:spcAft>
              <a:buSzPts val="1600"/>
              <a:buFont typeface="Arial"/>
              <a:buAutoNum type="alphaLcPeriod"/>
            </a:pPr>
            <a:r>
              <a:rPr b="1" lang="en-US" sz="1600">
                <a:latin typeface="Arial"/>
                <a:ea typeface="Arial"/>
                <a:cs typeface="Arial"/>
                <a:sym typeface="Arial"/>
              </a:rPr>
              <a:t>Pay-As-You-Go Models: </a:t>
            </a:r>
            <a:r>
              <a:rPr lang="en-US" sz="1600">
                <a:latin typeface="Arial"/>
                <a:ea typeface="Arial"/>
                <a:cs typeface="Arial"/>
                <a:sym typeface="Arial"/>
              </a:rPr>
              <a:t>Some services charge approximately $0.006 per interaction, providing flexibility for varying usage volumes.</a:t>
            </a:r>
            <a:endParaRPr sz="1600">
              <a:latin typeface="Arial"/>
              <a:ea typeface="Arial"/>
              <a:cs typeface="Arial"/>
              <a:sym typeface="Arial"/>
            </a:endParaRPr>
          </a:p>
          <a:p>
            <a:pPr indent="0" lvl="0" marL="914400" rtl="0" algn="l">
              <a:lnSpc>
                <a:spcPct val="100000"/>
              </a:lnSpc>
              <a:spcBef>
                <a:spcPts val="480"/>
              </a:spcBef>
              <a:spcAft>
                <a:spcPts val="0"/>
              </a:spcAft>
              <a:buNone/>
            </a:pPr>
            <a:r>
              <a:t/>
            </a:r>
            <a:endParaRPr sz="1600">
              <a:latin typeface="Arial"/>
              <a:ea typeface="Arial"/>
              <a:cs typeface="Arial"/>
              <a:sym typeface="Arial"/>
            </a:endParaRPr>
          </a:p>
          <a:p>
            <a:pPr indent="-330200" lvl="0" marL="457200" rtl="0" algn="l">
              <a:lnSpc>
                <a:spcPct val="100000"/>
              </a:lnSpc>
              <a:spcBef>
                <a:spcPts val="480"/>
              </a:spcBef>
              <a:spcAft>
                <a:spcPts val="0"/>
              </a:spcAft>
              <a:buSzPts val="1600"/>
              <a:buFont typeface="Arial"/>
              <a:buAutoNum type="arabicPeriod"/>
            </a:pPr>
            <a:r>
              <a:rPr b="1" lang="en-US" sz="1600">
                <a:latin typeface="Arial"/>
                <a:ea typeface="Arial"/>
                <a:cs typeface="Arial"/>
                <a:sym typeface="Arial"/>
              </a:rPr>
              <a:t>High-Cost Approach (Custom Development):</a:t>
            </a:r>
            <a:endParaRPr b="1" sz="1600">
              <a:latin typeface="Arial"/>
              <a:ea typeface="Arial"/>
              <a:cs typeface="Arial"/>
              <a:sym typeface="Arial"/>
            </a:endParaRPr>
          </a:p>
          <a:p>
            <a:pPr indent="0" lvl="0" marL="457200" rtl="0" algn="l">
              <a:lnSpc>
                <a:spcPct val="100000"/>
              </a:lnSpc>
              <a:spcBef>
                <a:spcPts val="480"/>
              </a:spcBef>
              <a:spcAft>
                <a:spcPts val="0"/>
              </a:spcAft>
              <a:buNone/>
            </a:pPr>
            <a:r>
              <a:t/>
            </a:r>
            <a:endParaRPr b="1" sz="1600">
              <a:latin typeface="Arial"/>
              <a:ea typeface="Arial"/>
              <a:cs typeface="Arial"/>
              <a:sym typeface="Arial"/>
            </a:endParaRPr>
          </a:p>
          <a:p>
            <a:pPr indent="-330200" lvl="1" marL="914400" rtl="0" algn="l">
              <a:lnSpc>
                <a:spcPct val="100000"/>
              </a:lnSpc>
              <a:spcBef>
                <a:spcPts val="480"/>
              </a:spcBef>
              <a:spcAft>
                <a:spcPts val="0"/>
              </a:spcAft>
              <a:buSzPts val="1600"/>
              <a:buFont typeface="Arial"/>
              <a:buAutoNum type="alphaLcPeriod"/>
            </a:pPr>
            <a:r>
              <a:rPr b="1" lang="en-US" sz="1600">
                <a:latin typeface="Arial"/>
                <a:ea typeface="Arial"/>
                <a:cs typeface="Arial"/>
                <a:sym typeface="Arial"/>
              </a:rPr>
              <a:t>Development Costs: </a:t>
            </a:r>
            <a:r>
              <a:rPr lang="en-US" sz="1600">
                <a:latin typeface="Arial"/>
                <a:ea typeface="Arial"/>
                <a:cs typeface="Arial"/>
                <a:sym typeface="Arial"/>
              </a:rPr>
              <a:t>Building a custom AI assistant can range from $75,000 to over $500,000, influenced by factors such as complexity, scalability, and customization.</a:t>
            </a:r>
            <a:endParaRPr sz="1600">
              <a:latin typeface="Arial"/>
              <a:ea typeface="Arial"/>
              <a:cs typeface="Arial"/>
              <a:sym typeface="Arial"/>
            </a:endParaRPr>
          </a:p>
          <a:p>
            <a:pPr indent="0" lvl="0" marL="914400" rtl="0" algn="l">
              <a:lnSpc>
                <a:spcPct val="100000"/>
              </a:lnSpc>
              <a:spcBef>
                <a:spcPts val="480"/>
              </a:spcBef>
              <a:spcAft>
                <a:spcPts val="0"/>
              </a:spcAft>
              <a:buNone/>
            </a:pPr>
            <a:r>
              <a:t/>
            </a:r>
            <a:endParaRPr sz="1600">
              <a:latin typeface="Arial"/>
              <a:ea typeface="Arial"/>
              <a:cs typeface="Arial"/>
              <a:sym typeface="Arial"/>
            </a:endParaRPr>
          </a:p>
          <a:p>
            <a:pPr indent="-330200" lvl="1" marL="914400" rtl="0" algn="l">
              <a:lnSpc>
                <a:spcPct val="100000"/>
              </a:lnSpc>
              <a:spcBef>
                <a:spcPts val="480"/>
              </a:spcBef>
              <a:spcAft>
                <a:spcPts val="0"/>
              </a:spcAft>
              <a:buSzPts val="1600"/>
              <a:buFont typeface="Arial"/>
              <a:buAutoNum type="alphaLcPeriod"/>
            </a:pPr>
            <a:r>
              <a:rPr b="1" lang="en-US" sz="1600">
                <a:latin typeface="Arial"/>
                <a:ea typeface="Arial"/>
                <a:cs typeface="Arial"/>
                <a:sym typeface="Arial"/>
              </a:rPr>
              <a:t>Ongoing Maintenance: </a:t>
            </a:r>
            <a:r>
              <a:rPr lang="en-US" sz="1600">
                <a:latin typeface="Arial"/>
                <a:ea typeface="Arial"/>
                <a:cs typeface="Arial"/>
                <a:sym typeface="Arial"/>
              </a:rPr>
              <a:t>Custom solutions require continuous updates and support, contributing to long-term costs.</a:t>
            </a:r>
            <a:endParaRPr sz="1600">
              <a:latin typeface="Arial"/>
              <a:ea typeface="Arial"/>
              <a:cs typeface="Arial"/>
              <a:sym typeface="Arial"/>
            </a:endParaRPr>
          </a:p>
          <a:p>
            <a:pPr indent="0" lvl="0" marL="0" rtl="0" algn="l">
              <a:lnSpc>
                <a:spcPct val="100000"/>
              </a:lnSpc>
              <a:spcBef>
                <a:spcPts val="480"/>
              </a:spcBef>
              <a:spcAft>
                <a:spcPts val="0"/>
              </a:spcAft>
              <a:buNone/>
            </a:pPr>
            <a:r>
              <a:t/>
            </a:r>
            <a:endParaRPr b="1" sz="1600">
              <a:latin typeface="Arial"/>
              <a:ea typeface="Arial"/>
              <a:cs typeface="Arial"/>
              <a:sym typeface="Arial"/>
            </a:endParaRPr>
          </a:p>
          <a:p>
            <a:pPr indent="0" lvl="0" marL="0" rtl="0" algn="l">
              <a:lnSpc>
                <a:spcPct val="100000"/>
              </a:lnSpc>
              <a:spcBef>
                <a:spcPts val="480"/>
              </a:spcBef>
              <a:spcAft>
                <a:spcPts val="0"/>
              </a:spcAft>
              <a:buNone/>
            </a:pPr>
            <a:r>
              <a:t/>
            </a:r>
            <a:endParaRPr sz="1600">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Feasibility Study</a:t>
            </a:r>
            <a:endParaRPr>
              <a:latin typeface="Cambria"/>
              <a:ea typeface="Cambria"/>
              <a:cs typeface="Cambria"/>
              <a:sym typeface="Cambria"/>
            </a:endParaRPr>
          </a:p>
        </p:txBody>
      </p:sp>
      <p:sp>
        <p:nvSpPr>
          <p:cNvPr id="225" name="Google Shape;225;p35"/>
          <p:cNvSpPr txBox="1"/>
          <p:nvPr>
            <p:ph idx="1" type="body"/>
          </p:nvPr>
        </p:nvSpPr>
        <p:spPr>
          <a:xfrm>
            <a:off x="620294" y="1110917"/>
            <a:ext cx="10668000" cy="4953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480"/>
              </a:spcBef>
              <a:spcAft>
                <a:spcPts val="0"/>
              </a:spcAft>
              <a:buNone/>
            </a:pPr>
            <a:r>
              <a:rPr lang="en-US" sz="1600">
                <a:latin typeface="Arial"/>
                <a:ea typeface="Arial"/>
                <a:cs typeface="Arial"/>
                <a:sym typeface="Arial"/>
              </a:rPr>
              <a:t>Considering the budget constraints typical of government projects, a hybrid approach utilizing third-party platforms for core functionalities, supplemented by custom development for specialized features, may offer an optimal balance between cost and functionality.</a:t>
            </a:r>
            <a:endParaRPr sz="1600">
              <a:latin typeface="Arial"/>
              <a:ea typeface="Arial"/>
              <a:cs typeface="Arial"/>
              <a:sym typeface="Arial"/>
            </a:endParaRPr>
          </a:p>
          <a:p>
            <a:pPr indent="0" lvl="0" marL="0" rtl="0" algn="l">
              <a:lnSpc>
                <a:spcPct val="115000"/>
              </a:lnSpc>
              <a:spcBef>
                <a:spcPts val="480"/>
              </a:spcBef>
              <a:spcAft>
                <a:spcPts val="0"/>
              </a:spcAft>
              <a:buNone/>
            </a:pPr>
            <a:r>
              <a:t/>
            </a:r>
            <a:endParaRPr sz="1600">
              <a:latin typeface="Arial"/>
              <a:ea typeface="Arial"/>
              <a:cs typeface="Arial"/>
              <a:sym typeface="Arial"/>
            </a:endParaRPr>
          </a:p>
          <a:p>
            <a:pPr indent="0" lvl="0" marL="0" rtl="0" algn="l">
              <a:lnSpc>
                <a:spcPct val="115000"/>
              </a:lnSpc>
              <a:spcBef>
                <a:spcPts val="480"/>
              </a:spcBef>
              <a:spcAft>
                <a:spcPts val="0"/>
              </a:spcAft>
              <a:buNone/>
            </a:pPr>
            <a:r>
              <a:rPr b="1" lang="en-US" sz="1600">
                <a:latin typeface="Arial"/>
                <a:ea typeface="Arial"/>
                <a:cs typeface="Arial"/>
                <a:sym typeface="Arial"/>
              </a:rPr>
              <a:t>Conclusion:</a:t>
            </a:r>
            <a:endParaRPr b="1" sz="1600">
              <a:latin typeface="Arial"/>
              <a:ea typeface="Arial"/>
              <a:cs typeface="Arial"/>
              <a:sym typeface="Arial"/>
            </a:endParaRPr>
          </a:p>
          <a:p>
            <a:pPr indent="0" lvl="0" marL="0" rtl="0" algn="l">
              <a:lnSpc>
                <a:spcPct val="115000"/>
              </a:lnSpc>
              <a:spcBef>
                <a:spcPts val="480"/>
              </a:spcBef>
              <a:spcAft>
                <a:spcPts val="0"/>
              </a:spcAft>
              <a:buNone/>
            </a:pPr>
            <a:r>
              <a:t/>
            </a:r>
            <a:endParaRPr sz="1600">
              <a:latin typeface="Arial"/>
              <a:ea typeface="Arial"/>
              <a:cs typeface="Arial"/>
              <a:sym typeface="Arial"/>
            </a:endParaRPr>
          </a:p>
          <a:p>
            <a:pPr indent="457200" lvl="0" marL="0" rtl="0" algn="l">
              <a:lnSpc>
                <a:spcPct val="115000"/>
              </a:lnSpc>
              <a:spcBef>
                <a:spcPts val="480"/>
              </a:spcBef>
              <a:spcAft>
                <a:spcPts val="0"/>
              </a:spcAft>
              <a:buClr>
                <a:schemeClr val="dk1"/>
              </a:buClr>
              <a:buSzPts val="1100"/>
              <a:buFont typeface="Arial"/>
              <a:buNone/>
            </a:pPr>
            <a:r>
              <a:rPr lang="en-US" sz="1600">
                <a:latin typeface="Arial"/>
                <a:ea typeface="Arial"/>
                <a:cs typeface="Arial"/>
                <a:sym typeface="Arial"/>
              </a:rPr>
              <a:t>The implementation of an AI-powered conversational assistant for the PGRKAM platform is both technologically feasible and cost-effective. By leveraging existing AI technologies and adopting a hybrid development approach, the platform can significantly enhance user experience, improve operational efficiency, and ensure scalability to meet future demands.</a:t>
            </a:r>
            <a:endParaRPr sz="1600">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Architecture Diagram</a:t>
            </a:r>
            <a:endParaRPr>
              <a:latin typeface="Cambria"/>
              <a:ea typeface="Cambria"/>
              <a:cs typeface="Cambria"/>
              <a:sym typeface="Cambria"/>
            </a:endParaRPr>
          </a:p>
        </p:txBody>
      </p:sp>
      <p:pic>
        <p:nvPicPr>
          <p:cNvPr id="231" name="Google Shape;231;p36" title="Untitled Diagram.drawio.png"/>
          <p:cNvPicPr preferRelativeResize="0"/>
          <p:nvPr/>
        </p:nvPicPr>
        <p:blipFill rotWithShape="1">
          <a:blip r:embed="rId3">
            <a:alphaModFix/>
          </a:blip>
          <a:srcRect b="0" l="0" r="0" t="0"/>
          <a:stretch/>
        </p:blipFill>
        <p:spPr>
          <a:xfrm>
            <a:off x="5116150" y="929275"/>
            <a:ext cx="5025975" cy="55638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Components</a:t>
            </a:r>
            <a:endParaRPr>
              <a:latin typeface="Cambria"/>
              <a:ea typeface="Cambria"/>
              <a:cs typeface="Cambria"/>
              <a:sym typeface="Cambria"/>
            </a:endParaRPr>
          </a:p>
        </p:txBody>
      </p:sp>
      <p:sp>
        <p:nvSpPr>
          <p:cNvPr id="237" name="Google Shape;237;p37"/>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US" sz="1800">
                <a:solidFill>
                  <a:schemeClr val="dk1"/>
                </a:solidFill>
              </a:rPr>
              <a:t>1.</a:t>
            </a:r>
            <a:r>
              <a:rPr b="1" lang="en-US" sz="1600">
                <a:solidFill>
                  <a:schemeClr val="dk1"/>
                </a:solidFill>
              </a:rPr>
              <a:t>User Query</a:t>
            </a:r>
            <a:endParaRPr b="1" sz="1600">
              <a:solidFill>
                <a:schemeClr val="dk1"/>
              </a:solidFill>
            </a:endParaRPr>
          </a:p>
          <a:p>
            <a:pPr indent="0" lvl="0" marL="0" rtl="0" algn="l">
              <a:lnSpc>
                <a:spcPct val="100000"/>
              </a:lnSpc>
              <a:spcBef>
                <a:spcPts val="0"/>
              </a:spcBef>
              <a:spcAft>
                <a:spcPts val="0"/>
              </a:spcAft>
              <a:buNone/>
            </a:pPr>
            <a:r>
              <a:t/>
            </a:r>
            <a:endParaRPr b="1" sz="1600">
              <a:solidFill>
                <a:schemeClr val="dk1"/>
              </a:solidFill>
            </a:endParaRPr>
          </a:p>
          <a:p>
            <a:pPr indent="0" lvl="0" marL="0" rtl="0" algn="l">
              <a:lnSpc>
                <a:spcPct val="100000"/>
              </a:lnSpc>
              <a:spcBef>
                <a:spcPts val="0"/>
              </a:spcBef>
              <a:spcAft>
                <a:spcPts val="0"/>
              </a:spcAft>
              <a:buNone/>
            </a:pPr>
            <a:r>
              <a:rPr lang="en-US" sz="1600">
                <a:solidFill>
                  <a:schemeClr val="dk1"/>
                </a:solidFill>
              </a:rPr>
              <a:t>	This is the entry point of the chatbot system — the message, voice input, or command given by the user in any supported language (e.g., English, Punjabi).</a:t>
            </a: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lang="en-US" sz="1600">
                <a:solidFill>
                  <a:schemeClr val="dk1"/>
                </a:solidFill>
              </a:rPr>
              <a:t>The chatbot must handle both text and speech-based inputs.</a:t>
            </a:r>
            <a:endParaRPr sz="1600">
              <a:solidFill>
                <a:schemeClr val="dk1"/>
              </a:solidFill>
            </a:endParaRPr>
          </a:p>
          <a:p>
            <a:pPr indent="0" lvl="0" marL="457200" rtl="0" algn="l">
              <a:lnSpc>
                <a:spcPct val="100000"/>
              </a:lnSpc>
              <a:spcBef>
                <a:spcPts val="0"/>
              </a:spcBef>
              <a:spcAft>
                <a:spcPts val="0"/>
              </a:spcAft>
              <a:buNone/>
            </a:pPr>
            <a:r>
              <a:t/>
            </a: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lang="en-US" sz="1600">
                <a:solidFill>
                  <a:schemeClr val="dk1"/>
                </a:solidFill>
              </a:rPr>
              <a:t>At this stage, no interpretation happens yet — the input is just received and passed forward.</a:t>
            </a:r>
            <a:endParaRPr sz="1600">
              <a:solidFill>
                <a:schemeClr val="dk1"/>
              </a:solidFill>
            </a:endParaRPr>
          </a:p>
          <a:p>
            <a:pPr indent="0" lvl="0" marL="0" rtl="0" algn="l">
              <a:lnSpc>
                <a:spcPct val="100000"/>
              </a:lnSpc>
              <a:spcBef>
                <a:spcPts val="0"/>
              </a:spcBef>
              <a:spcAft>
                <a:spcPts val="0"/>
              </a:spcAft>
              <a:buNone/>
            </a:pPr>
            <a:r>
              <a:t/>
            </a:r>
            <a:endParaRPr b="1" sz="16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Components</a:t>
            </a:r>
            <a:endParaRPr>
              <a:latin typeface="Cambria"/>
              <a:ea typeface="Cambria"/>
              <a:cs typeface="Cambria"/>
              <a:sym typeface="Cambria"/>
            </a:endParaRPr>
          </a:p>
        </p:txBody>
      </p:sp>
      <p:sp>
        <p:nvSpPr>
          <p:cNvPr id="243" name="Google Shape;243;p38"/>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US" sz="1600">
                <a:solidFill>
                  <a:schemeClr val="dk1"/>
                </a:solidFill>
              </a:rPr>
              <a:t>2. Language Detection &amp; Pre-processing</a:t>
            </a:r>
            <a:endParaRPr b="1" sz="16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sz="16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600">
                <a:solidFill>
                  <a:schemeClr val="dk1"/>
                </a:solidFill>
              </a:rPr>
              <a:t>This component ensures the system correctly understands what language the user is speaking and cleans up the text before deeper processing.</a:t>
            </a: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sz="16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sz="1600">
                <a:solidFill>
                  <a:schemeClr val="dk1"/>
                </a:solidFill>
              </a:rPr>
              <a:t>Tasks:</a:t>
            </a:r>
            <a:endParaRPr b="1" sz="16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sz="1600">
              <a:solidFill>
                <a:schemeClr val="dk1"/>
              </a:solidFill>
            </a:endParaRPr>
          </a:p>
          <a:p>
            <a:pPr indent="-330200" lvl="0" marL="457200" rtl="0" algn="l">
              <a:lnSpc>
                <a:spcPct val="100000"/>
              </a:lnSpc>
              <a:spcBef>
                <a:spcPts val="0"/>
              </a:spcBef>
              <a:spcAft>
                <a:spcPts val="0"/>
              </a:spcAft>
              <a:buClr>
                <a:schemeClr val="dk1"/>
              </a:buClr>
              <a:buSzPts val="1600"/>
              <a:buChar char="➦"/>
            </a:pPr>
            <a:r>
              <a:rPr b="1" lang="en-US" sz="1600">
                <a:solidFill>
                  <a:schemeClr val="dk1"/>
                </a:solidFill>
              </a:rPr>
              <a:t>Language Detection:</a:t>
            </a:r>
            <a:r>
              <a:rPr lang="en-US" sz="1600">
                <a:solidFill>
                  <a:schemeClr val="dk1"/>
                </a:solidFill>
              </a:rPr>
              <a:t> Identify whether the user’s query is in English, Punjabi, etc., using models like langdetect or fastText.</a:t>
            </a:r>
            <a:endParaRPr sz="1600">
              <a:solidFill>
                <a:schemeClr val="dk1"/>
              </a:solidFill>
            </a:endParaRPr>
          </a:p>
          <a:p>
            <a:pPr indent="0" lvl="0" marL="457200" rtl="0" algn="l">
              <a:lnSpc>
                <a:spcPct val="100000"/>
              </a:lnSpc>
              <a:spcBef>
                <a:spcPts val="0"/>
              </a:spcBef>
              <a:spcAft>
                <a:spcPts val="0"/>
              </a:spcAft>
              <a:buNone/>
            </a:pPr>
            <a:r>
              <a:t/>
            </a: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b="1" lang="en-US" sz="1600">
                <a:solidFill>
                  <a:schemeClr val="dk1"/>
                </a:solidFill>
              </a:rPr>
              <a:t>Text Normalization:</a:t>
            </a:r>
            <a:r>
              <a:rPr lang="en-US" sz="1600">
                <a:solidFill>
                  <a:schemeClr val="dk1"/>
                </a:solidFill>
              </a:rPr>
              <a:t> Remove noise (special symbols, punctuation, stopwords if needed).</a:t>
            </a:r>
            <a:endParaRPr sz="1600">
              <a:solidFill>
                <a:schemeClr val="dk1"/>
              </a:solidFill>
            </a:endParaRPr>
          </a:p>
          <a:p>
            <a:pPr indent="0" lvl="0" marL="457200" rtl="0" algn="l">
              <a:lnSpc>
                <a:spcPct val="100000"/>
              </a:lnSpc>
              <a:spcBef>
                <a:spcPts val="0"/>
              </a:spcBef>
              <a:spcAft>
                <a:spcPts val="0"/>
              </a:spcAft>
              <a:buNone/>
            </a:pPr>
            <a:r>
              <a:t/>
            </a: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b="1" lang="en-US" sz="1600">
                <a:solidFill>
                  <a:schemeClr val="dk1"/>
                </a:solidFill>
              </a:rPr>
              <a:t>Tokenization:</a:t>
            </a:r>
            <a:r>
              <a:rPr lang="en-US" sz="1600">
                <a:solidFill>
                  <a:schemeClr val="dk1"/>
                </a:solidFill>
              </a:rPr>
              <a:t> Split the sentence into tokens (words/subwords).</a:t>
            </a:r>
            <a:endParaRPr sz="1600">
              <a:solidFill>
                <a:schemeClr val="dk1"/>
              </a:solidFill>
            </a:endParaRPr>
          </a:p>
          <a:p>
            <a:pPr indent="0" lvl="0" marL="457200" rtl="0" algn="l">
              <a:lnSpc>
                <a:spcPct val="100000"/>
              </a:lnSpc>
              <a:spcBef>
                <a:spcPts val="0"/>
              </a:spcBef>
              <a:spcAft>
                <a:spcPts val="0"/>
              </a:spcAft>
              <a:buNone/>
            </a:pPr>
            <a:r>
              <a:t/>
            </a: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b="1" lang="en-US" sz="1600">
                <a:solidFill>
                  <a:schemeClr val="dk1"/>
                </a:solidFill>
              </a:rPr>
              <a:t>Transliteration or Translation (optional)</a:t>
            </a:r>
            <a:r>
              <a:rPr lang="en-US" sz="1600">
                <a:solidFill>
                  <a:schemeClr val="dk1"/>
                </a:solidFill>
              </a:rPr>
              <a:t>: If the backend supports only one processing language (e.g., English), non-English input is translated.</a:t>
            </a:r>
            <a:endParaRPr sz="1600">
              <a:solidFill>
                <a:schemeClr val="dk1"/>
              </a:solidFill>
            </a:endParaRPr>
          </a:p>
          <a:p>
            <a:pPr indent="0" lvl="0" marL="0" rtl="0" algn="l">
              <a:lnSpc>
                <a:spcPct val="100000"/>
              </a:lnSpc>
              <a:spcBef>
                <a:spcPts val="0"/>
              </a:spcBef>
              <a:spcAft>
                <a:spcPts val="0"/>
              </a:spcAft>
              <a:buNone/>
            </a:pPr>
            <a:r>
              <a:t/>
            </a:r>
            <a:endParaRPr b="1" sz="16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9"/>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Components</a:t>
            </a:r>
            <a:endParaRPr>
              <a:latin typeface="Cambria"/>
              <a:ea typeface="Cambria"/>
              <a:cs typeface="Cambria"/>
              <a:sym typeface="Cambria"/>
            </a:endParaRPr>
          </a:p>
        </p:txBody>
      </p:sp>
      <p:sp>
        <p:nvSpPr>
          <p:cNvPr id="249" name="Google Shape;249;p39"/>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600">
                <a:solidFill>
                  <a:schemeClr val="dk1"/>
                </a:solidFill>
              </a:rPr>
              <a:t>3. Dialogue Manager</a:t>
            </a:r>
            <a:endParaRPr b="1" sz="1600">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This is the core decision-making unit of the chatbot — orchestrating how the system interprets, retrieves, and generates responses. It consists of four submodules:</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Clr>
                <a:schemeClr val="dk1"/>
              </a:buClr>
              <a:buSzPts val="1100"/>
              <a:buFont typeface="Arial"/>
              <a:buNone/>
            </a:pPr>
            <a:r>
              <a:rPr b="1" lang="en-US" sz="1600" u="sng">
                <a:solidFill>
                  <a:schemeClr val="dk1"/>
                </a:solidFill>
              </a:rPr>
              <a:t>3.1. Intent Classifier</a:t>
            </a:r>
            <a:endParaRPr b="1" sz="1600" u="sng">
              <a:solidFill>
                <a:schemeClr val="dk1"/>
              </a:solidFill>
            </a:endParaRPr>
          </a:p>
          <a:p>
            <a:pPr indent="0" lvl="0" marL="457200" rtl="0" algn="l">
              <a:spcBef>
                <a:spcPts val="0"/>
              </a:spcBef>
              <a:spcAft>
                <a:spcPts val="0"/>
              </a:spcAft>
              <a:buClr>
                <a:schemeClr val="dk1"/>
              </a:buClr>
              <a:buSzPts val="1100"/>
              <a:buFont typeface="Arial"/>
              <a:buNone/>
            </a:pPr>
            <a:r>
              <a:t/>
            </a:r>
            <a:endParaRPr b="1" sz="1600">
              <a:solidFill>
                <a:schemeClr val="dk1"/>
              </a:solidFill>
            </a:endParaRPr>
          </a:p>
          <a:p>
            <a:pPr indent="0" lvl="0" marL="457200" rtl="0" algn="l">
              <a:spcBef>
                <a:spcPts val="0"/>
              </a:spcBef>
              <a:spcAft>
                <a:spcPts val="0"/>
              </a:spcAft>
              <a:buClr>
                <a:schemeClr val="dk1"/>
              </a:buClr>
              <a:buSzPts val="1100"/>
              <a:buFont typeface="Arial"/>
              <a:buNone/>
            </a:pPr>
            <a:r>
              <a:rPr lang="en-US" sz="1600">
                <a:solidFill>
                  <a:schemeClr val="dk1"/>
                </a:solidFill>
              </a:rPr>
              <a:t>Determines the purpose behind the user’s query.  For example:</a:t>
            </a:r>
            <a:endParaRPr sz="1600">
              <a:solidFill>
                <a:schemeClr val="dk1"/>
              </a:solidFill>
            </a:endParaRPr>
          </a:p>
          <a:p>
            <a:pPr indent="0" lvl="0" marL="457200" rtl="0" algn="l">
              <a:spcBef>
                <a:spcPts val="0"/>
              </a:spcBef>
              <a:spcAft>
                <a:spcPts val="0"/>
              </a:spcAft>
              <a:buClr>
                <a:schemeClr val="dk1"/>
              </a:buClr>
              <a:buSzPts val="1100"/>
              <a:buFont typeface="Arial"/>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“Show me my job applications” → Intent: view_job_applications</a:t>
            </a:r>
            <a:endParaRPr sz="1600">
              <a:solidFill>
                <a:schemeClr val="dk1"/>
              </a:solidFill>
            </a:endParaRPr>
          </a:p>
          <a:p>
            <a:pPr indent="-330200" lvl="3" marL="1828800" rtl="0" algn="l">
              <a:spcBef>
                <a:spcPts val="0"/>
              </a:spcBef>
              <a:spcAft>
                <a:spcPts val="0"/>
              </a:spcAft>
              <a:buClr>
                <a:schemeClr val="dk1"/>
              </a:buClr>
              <a:buSzPts val="1600"/>
              <a:buChar char="○"/>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“How can I register?” → Intent: registration_help</a:t>
            </a:r>
            <a:endParaRPr sz="1600">
              <a:solidFill>
                <a:schemeClr val="dk1"/>
              </a:solidFill>
            </a:endParaRPr>
          </a:p>
          <a:p>
            <a:pPr indent="0" lvl="0" marL="137160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b="1" lang="en-US" sz="1600">
                <a:solidFill>
                  <a:schemeClr val="dk1"/>
                </a:solidFill>
              </a:rPr>
              <a:t>Techniques used:</a:t>
            </a:r>
            <a:endParaRPr b="1" sz="1600">
              <a:solidFill>
                <a:schemeClr val="dk1"/>
              </a:solidFill>
            </a:endParaRPr>
          </a:p>
          <a:p>
            <a:pPr indent="0" lvl="0" marL="1371600" rtl="0" algn="l">
              <a:spcBef>
                <a:spcPts val="0"/>
              </a:spcBef>
              <a:spcAft>
                <a:spcPts val="0"/>
              </a:spcAft>
              <a:buClr>
                <a:schemeClr val="dk1"/>
              </a:buClr>
              <a:buSzPts val="1100"/>
              <a:buFont typeface="Arial"/>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Traditional </a:t>
            </a:r>
            <a:r>
              <a:rPr lang="en-US" sz="1600">
                <a:solidFill>
                  <a:schemeClr val="dk1"/>
                </a:solidFill>
              </a:rPr>
              <a:t>ML (SVM, Logistic Regression with TF-IDF)</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Transformer-based classifiers (BERT, XLM-Roberta for multilingual)</a:t>
            </a:r>
            <a:endParaRPr sz="1600">
              <a:solidFill>
                <a:schemeClr val="dk1"/>
              </a:solidFill>
            </a:endParaRPr>
          </a:p>
          <a:p>
            <a:pPr indent="0" lvl="0" marL="228600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None/>
            </a:pPr>
            <a:r>
              <a:t/>
            </a:r>
            <a:endParaRPr b="1" sz="16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0"/>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Components</a:t>
            </a:r>
            <a:endParaRPr>
              <a:latin typeface="Cambria"/>
              <a:ea typeface="Cambria"/>
              <a:cs typeface="Cambria"/>
              <a:sym typeface="Cambria"/>
            </a:endParaRPr>
          </a:p>
        </p:txBody>
      </p:sp>
      <p:sp>
        <p:nvSpPr>
          <p:cNvPr id="255" name="Google Shape;255;p40"/>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Clr>
                <a:schemeClr val="dk1"/>
              </a:buClr>
              <a:buSzPts val="1100"/>
              <a:buFont typeface="Arial"/>
              <a:buNone/>
            </a:pPr>
            <a:r>
              <a:rPr b="1" lang="en-US" sz="1600" u="sng">
                <a:solidFill>
                  <a:schemeClr val="dk1"/>
                </a:solidFill>
              </a:rPr>
              <a:t>3.2. Named Entity Extractor (NER)</a:t>
            </a:r>
            <a:endParaRPr b="1" sz="1600" u="sng">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Extracts key entities or parameters from the query — e.g.:</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“Show jobs in Amritsar” → Entity: Location = Amritsar</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“Find training programs by Punjab Skill Development Mission” → Entity: Organization = PSDM</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b="1" lang="en-US" sz="1600">
                <a:solidFill>
                  <a:schemeClr val="dk1"/>
                </a:solidFill>
              </a:rPr>
              <a:t>Models used:</a:t>
            </a:r>
            <a:endParaRPr b="1"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spaCy or Hugging Face NER models</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Fine-tuned multilingual transformers for regional entities</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These entities guide retrieval and slot-filling in later stages.</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None/>
            </a:pPr>
            <a:r>
              <a:t/>
            </a:r>
            <a:endParaRPr b="1" sz="16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1"/>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600" u="sng">
                <a:solidFill>
                  <a:schemeClr val="dk1"/>
                </a:solidFill>
              </a:rPr>
              <a:t>3.3. Dialogue State Tracker (DST)</a:t>
            </a:r>
            <a:endParaRPr b="1" sz="1600" u="sng">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Maintains context throughout a conversation — essential for multi-turn dialogues.</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Example:</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457200" rtl="0" algn="l">
              <a:spcBef>
                <a:spcPts val="0"/>
              </a:spcBef>
              <a:spcAft>
                <a:spcPts val="0"/>
              </a:spcAft>
              <a:buClr>
                <a:schemeClr val="dk1"/>
              </a:buClr>
              <a:buSzPts val="1100"/>
              <a:buFont typeface="Arial"/>
              <a:buNone/>
            </a:pPr>
            <a:r>
              <a:rPr b="1" lang="en-US" sz="1600">
                <a:solidFill>
                  <a:schemeClr val="dk1"/>
                </a:solidFill>
              </a:rPr>
              <a:t>User:</a:t>
            </a:r>
            <a:r>
              <a:rPr lang="en-US" sz="1600">
                <a:solidFill>
                  <a:schemeClr val="dk1"/>
                </a:solidFill>
              </a:rPr>
              <a:t> “Show me training centers in Amritsar.”</a:t>
            </a:r>
            <a:endParaRPr sz="1600">
              <a:solidFill>
                <a:schemeClr val="dk1"/>
              </a:solidFill>
            </a:endParaRPr>
          </a:p>
          <a:p>
            <a:pPr indent="0" lvl="0" marL="457200" rtl="0" algn="l">
              <a:spcBef>
                <a:spcPts val="0"/>
              </a:spcBef>
              <a:spcAft>
                <a:spcPts val="0"/>
              </a:spcAft>
              <a:buClr>
                <a:schemeClr val="dk1"/>
              </a:buClr>
              <a:buSzPts val="1100"/>
              <a:buFont typeface="Arial"/>
              <a:buNone/>
            </a:pPr>
            <a:r>
              <a:t/>
            </a:r>
            <a:endParaRPr sz="1600">
              <a:solidFill>
                <a:schemeClr val="dk1"/>
              </a:solidFill>
            </a:endParaRPr>
          </a:p>
          <a:p>
            <a:pPr indent="0" lvl="0" marL="457200" rtl="0" algn="l">
              <a:spcBef>
                <a:spcPts val="0"/>
              </a:spcBef>
              <a:spcAft>
                <a:spcPts val="0"/>
              </a:spcAft>
              <a:buClr>
                <a:schemeClr val="dk1"/>
              </a:buClr>
              <a:buSzPts val="1100"/>
              <a:buFont typeface="Arial"/>
              <a:buNone/>
            </a:pPr>
            <a:r>
              <a:rPr b="1" lang="en-US" sz="1600">
                <a:solidFill>
                  <a:schemeClr val="dk1"/>
                </a:solidFill>
              </a:rPr>
              <a:t>Bot:</a:t>
            </a:r>
            <a:r>
              <a:rPr lang="en-US" sz="1600">
                <a:solidFill>
                  <a:schemeClr val="dk1"/>
                </a:solidFill>
              </a:rPr>
              <a:t> “What skill are you interested in?”</a:t>
            </a:r>
            <a:endParaRPr sz="1600">
              <a:solidFill>
                <a:schemeClr val="dk1"/>
              </a:solidFill>
            </a:endParaRPr>
          </a:p>
          <a:p>
            <a:pPr indent="0" lvl="0" marL="457200" rtl="0" algn="l">
              <a:spcBef>
                <a:spcPts val="0"/>
              </a:spcBef>
              <a:spcAft>
                <a:spcPts val="0"/>
              </a:spcAft>
              <a:buClr>
                <a:schemeClr val="dk1"/>
              </a:buClr>
              <a:buSzPts val="1100"/>
              <a:buFont typeface="Arial"/>
              <a:buNone/>
            </a:pPr>
            <a:r>
              <a:t/>
            </a:r>
            <a:endParaRPr sz="1600">
              <a:solidFill>
                <a:schemeClr val="dk1"/>
              </a:solidFill>
            </a:endParaRPr>
          </a:p>
          <a:p>
            <a:pPr indent="0" lvl="0" marL="457200" rtl="0" algn="l">
              <a:spcBef>
                <a:spcPts val="0"/>
              </a:spcBef>
              <a:spcAft>
                <a:spcPts val="0"/>
              </a:spcAft>
              <a:buClr>
                <a:schemeClr val="dk1"/>
              </a:buClr>
              <a:buSzPts val="1100"/>
              <a:buFont typeface="Arial"/>
              <a:buNone/>
            </a:pPr>
            <a:r>
              <a:rPr b="1" lang="en-US" sz="1600">
                <a:solidFill>
                  <a:schemeClr val="dk1"/>
                </a:solidFill>
              </a:rPr>
              <a:t>User:</a:t>
            </a:r>
            <a:r>
              <a:rPr lang="en-US" sz="1600">
                <a:solidFill>
                  <a:schemeClr val="dk1"/>
                </a:solidFill>
              </a:rPr>
              <a:t> “Electrician.”</a:t>
            </a:r>
            <a:endParaRPr sz="1600">
              <a:solidFill>
                <a:schemeClr val="dk1"/>
              </a:solidFill>
            </a:endParaRPr>
          </a:p>
          <a:p>
            <a:pPr indent="0" lvl="0" marL="457200" rtl="0" algn="l">
              <a:spcBef>
                <a:spcPts val="0"/>
              </a:spcBef>
              <a:spcAft>
                <a:spcPts val="0"/>
              </a:spcAft>
              <a:buClr>
                <a:schemeClr val="dk1"/>
              </a:buClr>
              <a:buSzPts val="1100"/>
              <a:buFont typeface="Arial"/>
              <a:buNone/>
            </a:pPr>
            <a:r>
              <a:rPr lang="en-US" sz="1600">
                <a:solidFill>
                  <a:schemeClr val="dk1"/>
                </a:solidFill>
              </a:rPr>
              <a:t>Here, DST ensures that “Amritsar” is remembered from the previous turn and combined with “Electrician” to query results.</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b="1" lang="en-US" sz="1600">
                <a:solidFill>
                  <a:schemeClr val="dk1"/>
                </a:solidFill>
              </a:rPr>
              <a:t>Stores</a:t>
            </a:r>
            <a:r>
              <a:rPr lang="en-US" sz="1600">
                <a:solidFill>
                  <a:schemeClr val="dk1"/>
                </a:solidFill>
              </a:rPr>
              <a:t>:</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Intents, entities, context, and history.</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Implemented using rule-based systems or neural dialogue state trackers.</a:t>
            </a:r>
            <a:endParaRPr sz="1600">
              <a:solidFill>
                <a:schemeClr val="dk1"/>
              </a:solidFill>
            </a:endParaRPr>
          </a:p>
          <a:p>
            <a:pPr indent="0" lvl="0" marL="0" rtl="0" algn="l">
              <a:spcBef>
                <a:spcPts val="0"/>
              </a:spcBef>
              <a:spcAft>
                <a:spcPts val="0"/>
              </a:spcAft>
              <a:buNone/>
            </a:pPr>
            <a:r>
              <a:t/>
            </a:r>
            <a:endParaRPr b="1" sz="1600">
              <a:solidFill>
                <a:schemeClr val="dk1"/>
              </a:solidFill>
            </a:endParaRPr>
          </a:p>
        </p:txBody>
      </p:sp>
      <p:sp>
        <p:nvSpPr>
          <p:cNvPr id="261" name="Google Shape;261;p4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Components</a:t>
            </a:r>
            <a:endParaRPr>
              <a:latin typeface="Cambria"/>
              <a:ea typeface="Cambria"/>
              <a:cs typeface="Cambria"/>
              <a:sym typeface="Cambri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2"/>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Components</a:t>
            </a:r>
            <a:endParaRPr>
              <a:latin typeface="Cambria"/>
              <a:ea typeface="Cambria"/>
              <a:cs typeface="Cambria"/>
              <a:sym typeface="Cambria"/>
            </a:endParaRPr>
          </a:p>
        </p:txBody>
      </p:sp>
      <p:sp>
        <p:nvSpPr>
          <p:cNvPr id="267" name="Google Shape;267;p42"/>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600" u="sng">
                <a:solidFill>
                  <a:schemeClr val="dk1"/>
                </a:solidFill>
              </a:rPr>
              <a:t>3.4. Policy Manager</a:t>
            </a:r>
            <a:endParaRPr b="1" sz="1600" u="sng">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Defines what action to take next based on the dialogue state.</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If sufficient info → trigger retrieval.</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If info missing → ask clarification.</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If out-of-domain → fallback or escalate.</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 Think of it as the </a:t>
            </a:r>
            <a:r>
              <a:rPr b="1" lang="en-US" sz="1600">
                <a:solidFill>
                  <a:schemeClr val="dk1"/>
                </a:solidFill>
              </a:rPr>
              <a:t>“brain”</a:t>
            </a:r>
            <a:r>
              <a:rPr lang="en-US" sz="1600">
                <a:solidFill>
                  <a:schemeClr val="dk1"/>
                </a:solidFill>
              </a:rPr>
              <a:t> that maps state → action.</a:t>
            </a:r>
            <a:endParaRPr sz="1600">
              <a:solidFill>
                <a:schemeClr val="dk1"/>
              </a:solidFill>
            </a:endParaRPr>
          </a:p>
          <a:p>
            <a:pPr indent="0" lvl="0" marL="0" rtl="0" algn="l">
              <a:spcBef>
                <a:spcPts val="0"/>
              </a:spcBef>
              <a:spcAft>
                <a:spcPts val="0"/>
              </a:spcAft>
              <a:buNone/>
            </a:pPr>
            <a:r>
              <a:t/>
            </a:r>
            <a:endParaRPr b="1" sz="16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Components</a:t>
            </a:r>
            <a:endParaRPr>
              <a:latin typeface="Cambria"/>
              <a:ea typeface="Cambria"/>
              <a:cs typeface="Cambria"/>
              <a:sym typeface="Cambria"/>
            </a:endParaRPr>
          </a:p>
        </p:txBody>
      </p:sp>
      <p:sp>
        <p:nvSpPr>
          <p:cNvPr id="273" name="Google Shape;273;p43"/>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600">
                <a:solidFill>
                  <a:schemeClr val="dk1"/>
                </a:solidFill>
              </a:rPr>
              <a:t>4. Knowledge Store</a:t>
            </a:r>
            <a:endParaRPr b="1"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This is the backend knowledge base where all retrievable information (documents, FAQs, guidelines, policies, etc.) is stored and indexed for efficient search.</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It combines multiple retrieval mechanisms:</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b="1" lang="en-US" sz="1600">
                <a:solidFill>
                  <a:schemeClr val="dk1"/>
                </a:solidFill>
              </a:rPr>
              <a:t>Components:</a:t>
            </a:r>
            <a:endParaRPr b="1"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BM25 Lexical Indexing</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1" marL="914400" rtl="0" algn="l">
              <a:spcBef>
                <a:spcPts val="0"/>
              </a:spcBef>
              <a:spcAft>
                <a:spcPts val="0"/>
              </a:spcAft>
              <a:buClr>
                <a:schemeClr val="dk1"/>
              </a:buClr>
              <a:buSzPts val="1600"/>
              <a:buChar char="◆"/>
            </a:pPr>
            <a:r>
              <a:rPr lang="en-US" sz="1600">
                <a:solidFill>
                  <a:schemeClr val="dk1"/>
                </a:solidFill>
              </a:rPr>
              <a:t>Traditional keyword-based retrieval.</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1" marL="914400" rtl="0" algn="l">
              <a:spcBef>
                <a:spcPts val="0"/>
              </a:spcBef>
              <a:spcAft>
                <a:spcPts val="0"/>
              </a:spcAft>
              <a:buClr>
                <a:schemeClr val="dk1"/>
              </a:buClr>
              <a:buSzPts val="1600"/>
              <a:buChar char="◆"/>
            </a:pPr>
            <a:r>
              <a:rPr lang="en-US" sz="1600">
                <a:solidFill>
                  <a:schemeClr val="dk1"/>
                </a:solidFill>
              </a:rPr>
              <a:t>Efficient for exact word matches and short queries.</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1" marL="914400" rtl="0" algn="l">
              <a:spcBef>
                <a:spcPts val="0"/>
              </a:spcBef>
              <a:spcAft>
                <a:spcPts val="0"/>
              </a:spcAft>
              <a:buClr>
                <a:schemeClr val="dk1"/>
              </a:buClr>
              <a:buSzPts val="1600"/>
              <a:buChar char="◆"/>
            </a:pPr>
            <a:r>
              <a:rPr lang="en-US" sz="1600">
                <a:solidFill>
                  <a:schemeClr val="dk1"/>
                </a:solidFill>
              </a:rPr>
              <a:t>Implemented via tools like Elasticsearch or Whoosh.</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None/>
            </a:pPr>
            <a:r>
              <a:t/>
            </a:r>
            <a:endParaRPr sz="16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Components</a:t>
            </a:r>
            <a:endParaRPr>
              <a:latin typeface="Cambria"/>
              <a:ea typeface="Cambria"/>
              <a:cs typeface="Cambria"/>
              <a:sym typeface="Cambria"/>
            </a:endParaRPr>
          </a:p>
        </p:txBody>
      </p:sp>
      <p:sp>
        <p:nvSpPr>
          <p:cNvPr id="279" name="Google Shape;279;p44"/>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Clr>
                <a:schemeClr val="dk1"/>
              </a:buClr>
              <a:buSzPts val="1100"/>
              <a:buFont typeface="Arial"/>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Dense Embeddings Index</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1" marL="914400" rtl="0" algn="l">
              <a:spcBef>
                <a:spcPts val="0"/>
              </a:spcBef>
              <a:spcAft>
                <a:spcPts val="0"/>
              </a:spcAft>
              <a:buClr>
                <a:schemeClr val="dk1"/>
              </a:buClr>
              <a:buSzPts val="1600"/>
              <a:buChar char="◆"/>
            </a:pPr>
            <a:r>
              <a:rPr lang="en-US" sz="1600">
                <a:solidFill>
                  <a:schemeClr val="dk1"/>
                </a:solidFill>
              </a:rPr>
              <a:t>Semantic search using embeddings (e.g., sentence-transformers, Llama-text-embed-v2).</a:t>
            </a:r>
            <a:endParaRPr sz="1600">
              <a:solidFill>
                <a:schemeClr val="dk1"/>
              </a:solidFill>
            </a:endParaRPr>
          </a:p>
          <a:p>
            <a:pPr indent="0" lvl="0" marL="914400" rtl="0" algn="l">
              <a:spcBef>
                <a:spcPts val="0"/>
              </a:spcBef>
              <a:spcAft>
                <a:spcPts val="0"/>
              </a:spcAft>
              <a:buNone/>
            </a:pPr>
            <a:r>
              <a:t/>
            </a:r>
            <a:endParaRPr sz="1600">
              <a:solidFill>
                <a:schemeClr val="dk1"/>
              </a:solidFill>
            </a:endParaRPr>
          </a:p>
          <a:p>
            <a:pPr indent="-330200" lvl="1" marL="914400" rtl="0" algn="l">
              <a:spcBef>
                <a:spcPts val="0"/>
              </a:spcBef>
              <a:spcAft>
                <a:spcPts val="0"/>
              </a:spcAft>
              <a:buClr>
                <a:schemeClr val="dk1"/>
              </a:buClr>
              <a:buSzPts val="1600"/>
              <a:buChar char="◆"/>
            </a:pPr>
            <a:r>
              <a:rPr lang="en-US" sz="1600">
                <a:solidFill>
                  <a:schemeClr val="dk1"/>
                </a:solidFill>
              </a:rPr>
              <a:t>Retrieves conceptually similar answers even if words differ.</a:t>
            </a:r>
            <a:endParaRPr sz="1600">
              <a:solidFill>
                <a:schemeClr val="dk1"/>
              </a:solidFill>
            </a:endParaRPr>
          </a:p>
          <a:p>
            <a:pPr indent="0" lvl="0" marL="914400" rtl="0" algn="l">
              <a:spcBef>
                <a:spcPts val="0"/>
              </a:spcBef>
              <a:spcAft>
                <a:spcPts val="0"/>
              </a:spcAft>
              <a:buNone/>
            </a:pPr>
            <a:r>
              <a:t/>
            </a:r>
            <a:endParaRPr sz="1600">
              <a:solidFill>
                <a:schemeClr val="dk1"/>
              </a:solidFill>
            </a:endParaRPr>
          </a:p>
          <a:p>
            <a:pPr indent="-330200" lvl="1" marL="914400" rtl="0" algn="l">
              <a:spcBef>
                <a:spcPts val="0"/>
              </a:spcBef>
              <a:spcAft>
                <a:spcPts val="0"/>
              </a:spcAft>
              <a:buClr>
                <a:schemeClr val="dk1"/>
              </a:buClr>
              <a:buSzPts val="1600"/>
              <a:buChar char="◆"/>
            </a:pPr>
            <a:r>
              <a:rPr lang="en-US" sz="1600">
                <a:solidFill>
                  <a:schemeClr val="dk1"/>
                </a:solidFill>
              </a:rPr>
              <a:t>Example: “skill training near me” ≈ “vocational centers in my area”.</a:t>
            </a:r>
            <a:endParaRPr sz="1600">
              <a:solidFill>
                <a:schemeClr val="dk1"/>
              </a:solidFill>
            </a:endParaRPr>
          </a:p>
          <a:p>
            <a:pPr indent="0" lvl="0" marL="9144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Metadata Filters</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1" marL="914400" rtl="0" algn="l">
              <a:spcBef>
                <a:spcPts val="0"/>
              </a:spcBef>
              <a:spcAft>
                <a:spcPts val="0"/>
              </a:spcAft>
              <a:buClr>
                <a:schemeClr val="dk1"/>
              </a:buClr>
              <a:buSzPts val="1600"/>
              <a:buChar char="◆"/>
            </a:pPr>
            <a:r>
              <a:rPr lang="en-US" sz="1600">
                <a:solidFill>
                  <a:schemeClr val="dk1"/>
                </a:solidFill>
              </a:rPr>
              <a:t>Filters results based on structured attributes — location, category, organization, or date.</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 Hybrid retrieval (BM25 + Embeddings + Metadata) ensures </a:t>
            </a:r>
            <a:r>
              <a:rPr b="1" lang="en-US" sz="1600">
                <a:solidFill>
                  <a:schemeClr val="dk1"/>
                </a:solidFill>
              </a:rPr>
              <a:t>“both precision and semantic relevance”</a:t>
            </a:r>
            <a:r>
              <a:rPr lang="en-US" sz="1600">
                <a:solidFill>
                  <a:schemeClr val="dk1"/>
                </a:solidFill>
              </a:rPr>
              <a:t>.</a:t>
            </a:r>
            <a:endParaRPr b="1" sz="160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Components</a:t>
            </a:r>
            <a:endParaRPr>
              <a:latin typeface="Cambria"/>
              <a:ea typeface="Cambria"/>
              <a:cs typeface="Cambria"/>
              <a:sym typeface="Cambria"/>
            </a:endParaRPr>
          </a:p>
        </p:txBody>
      </p:sp>
      <p:sp>
        <p:nvSpPr>
          <p:cNvPr id="285" name="Google Shape;285;p45"/>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600">
                <a:solidFill>
                  <a:schemeClr val="dk1"/>
                </a:solidFill>
              </a:rPr>
              <a:t>5. Retriever + Re-ranker</a:t>
            </a:r>
            <a:endParaRPr b="1" sz="1600">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Once the query is understood and context is clear, the retriever fetches the most relevant results from the knowledge store.</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330200" lvl="0" marL="457200" rtl="0" algn="l">
              <a:spcBef>
                <a:spcPts val="0"/>
              </a:spcBef>
              <a:spcAft>
                <a:spcPts val="0"/>
              </a:spcAft>
              <a:buClr>
                <a:schemeClr val="dk1"/>
              </a:buClr>
              <a:buSzPts val="1600"/>
              <a:buChar char="➔"/>
            </a:pPr>
            <a:r>
              <a:rPr b="1" lang="en-US" sz="1600">
                <a:solidFill>
                  <a:schemeClr val="dk1"/>
                </a:solidFill>
              </a:rPr>
              <a:t>Retriever: </a:t>
            </a:r>
            <a:r>
              <a:rPr lang="en-US" sz="1600">
                <a:solidFill>
                  <a:schemeClr val="dk1"/>
                </a:solidFill>
              </a:rPr>
              <a:t>Performs coarse filtering using BM25 + dense vectors.</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b="1" lang="en-US" sz="1600">
                <a:solidFill>
                  <a:schemeClr val="dk1"/>
                </a:solidFill>
              </a:rPr>
              <a:t>Re-ranker: </a:t>
            </a:r>
            <a:r>
              <a:rPr lang="en-US" sz="1600">
                <a:solidFill>
                  <a:schemeClr val="dk1"/>
                </a:solidFill>
              </a:rPr>
              <a:t>Uses a neural model (e.g., cross-encoder) to re-rank top results by semantic relevance and confidence.</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This ensures the best candidate answer passages are selected before generation.</a:t>
            </a:r>
            <a:endParaRPr sz="1600">
              <a:solidFill>
                <a:schemeClr val="dk1"/>
              </a:solidFill>
            </a:endParaRPr>
          </a:p>
          <a:p>
            <a:pPr indent="0" lvl="0" marL="0" rtl="0" algn="l">
              <a:spcBef>
                <a:spcPts val="0"/>
              </a:spcBef>
              <a:spcAft>
                <a:spcPts val="0"/>
              </a:spcAft>
              <a:buNone/>
            </a:pPr>
            <a:r>
              <a:t/>
            </a:r>
            <a:endParaRPr b="1" sz="160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Components</a:t>
            </a:r>
            <a:endParaRPr>
              <a:latin typeface="Cambria"/>
              <a:ea typeface="Cambria"/>
              <a:cs typeface="Cambria"/>
              <a:sym typeface="Cambria"/>
            </a:endParaRPr>
          </a:p>
        </p:txBody>
      </p:sp>
      <p:sp>
        <p:nvSpPr>
          <p:cNvPr id="291" name="Google Shape;291;p46"/>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600">
                <a:solidFill>
                  <a:schemeClr val="dk1"/>
                </a:solidFill>
              </a:rPr>
              <a:t>6. RAG + Templates (Answer Generator)</a:t>
            </a:r>
            <a:endParaRPr b="1" sz="1600">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This is where Retrieval-Augmented Generation (RAG) happens.</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Retrieved documents or text chunks are fed to a generator model (like LLaMA, Mistral, or GPT-based models).</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The model synthesizes the final answer using retrieved content + context.</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Templates may be applied for consistent formatting, tone, and multilingual output.</a:t>
            </a:r>
            <a:endParaRPr sz="1600">
              <a:solidFill>
                <a:schemeClr val="dk1"/>
              </a:solidFill>
            </a:endParaRPr>
          </a:p>
          <a:p>
            <a:pPr indent="0" lvl="0" marL="457200" rtl="0" algn="l">
              <a:spcBef>
                <a:spcPts val="0"/>
              </a:spcBef>
              <a:spcAft>
                <a:spcPts val="0"/>
              </a:spcAft>
              <a:buNone/>
            </a:pPr>
            <a:r>
              <a:t/>
            </a:r>
            <a:endParaRPr b="1" sz="1600">
              <a:solidFill>
                <a:schemeClr val="dk1"/>
              </a:solidFill>
            </a:endParaRPr>
          </a:p>
          <a:p>
            <a:pPr indent="0" lvl="0" marL="0" rtl="0" algn="l">
              <a:spcBef>
                <a:spcPts val="0"/>
              </a:spcBef>
              <a:spcAft>
                <a:spcPts val="0"/>
              </a:spcAft>
              <a:buClr>
                <a:schemeClr val="dk1"/>
              </a:buClr>
              <a:buSzPts val="1100"/>
              <a:buFont typeface="Arial"/>
              <a:buNone/>
            </a:pPr>
            <a:r>
              <a:rPr b="1" lang="en-US" sz="1600">
                <a:solidFill>
                  <a:schemeClr val="dk1"/>
                </a:solidFill>
              </a:rPr>
              <a:t> Example:</a:t>
            </a:r>
            <a:endParaRPr b="1" sz="1600">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None/>
            </a:pPr>
            <a:r>
              <a:rPr b="1" lang="en-US" sz="1600">
                <a:solidFill>
                  <a:schemeClr val="dk1"/>
                </a:solidFill>
              </a:rPr>
              <a:t>Query: </a:t>
            </a:r>
            <a:r>
              <a:rPr lang="en-US" sz="1600">
                <a:solidFill>
                  <a:schemeClr val="dk1"/>
                </a:solidFill>
              </a:rPr>
              <a:t>“How do I apply for skill training?”</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330200" lvl="0" marL="914400" rtl="0" algn="l">
              <a:spcBef>
                <a:spcPts val="0"/>
              </a:spcBef>
              <a:spcAft>
                <a:spcPts val="0"/>
              </a:spcAft>
              <a:buClr>
                <a:schemeClr val="dk1"/>
              </a:buClr>
              <a:buSzPts val="1600"/>
              <a:buChar char="➔"/>
            </a:pPr>
            <a:r>
              <a:rPr b="1" lang="en-US" sz="1600">
                <a:solidFill>
                  <a:schemeClr val="dk1"/>
                </a:solidFill>
              </a:rPr>
              <a:t>Retrieved docs:</a:t>
            </a:r>
            <a:r>
              <a:rPr lang="en-US" sz="1600">
                <a:solidFill>
                  <a:schemeClr val="dk1"/>
                </a:solidFill>
              </a:rPr>
              <a:t> PSDM registration steps</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914400" rtl="0" algn="l">
              <a:spcBef>
                <a:spcPts val="0"/>
              </a:spcBef>
              <a:spcAft>
                <a:spcPts val="0"/>
              </a:spcAft>
              <a:buClr>
                <a:schemeClr val="dk1"/>
              </a:buClr>
              <a:buSzPts val="1600"/>
              <a:buChar char="➔"/>
            </a:pPr>
            <a:r>
              <a:rPr b="1" lang="en-US" sz="1600">
                <a:solidFill>
                  <a:schemeClr val="dk1"/>
                </a:solidFill>
              </a:rPr>
              <a:t>RAG model generates</a:t>
            </a:r>
            <a:r>
              <a:rPr lang="en-US" sz="1600">
                <a:solidFill>
                  <a:schemeClr val="dk1"/>
                </a:solidFill>
              </a:rPr>
              <a:t>: “You can apply for skill training through the Punjab Skill Development Mission website. Visit [URL], register using your mobile number, and select your preferred training center.”</a:t>
            </a:r>
            <a:endParaRPr sz="1600">
              <a:solidFill>
                <a:schemeClr val="dk1"/>
              </a:solidFill>
            </a:endParaRPr>
          </a:p>
          <a:p>
            <a:pPr indent="0" lvl="0" marL="0" rtl="0" algn="l">
              <a:spcBef>
                <a:spcPts val="0"/>
              </a:spcBef>
              <a:spcAft>
                <a:spcPts val="0"/>
              </a:spcAft>
              <a:buNone/>
            </a:pPr>
            <a:r>
              <a:t/>
            </a:r>
            <a:endParaRPr b="1" sz="160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Components</a:t>
            </a:r>
            <a:endParaRPr>
              <a:latin typeface="Cambria"/>
              <a:ea typeface="Cambria"/>
              <a:cs typeface="Cambria"/>
              <a:sym typeface="Cambria"/>
            </a:endParaRPr>
          </a:p>
        </p:txBody>
      </p:sp>
      <p:sp>
        <p:nvSpPr>
          <p:cNvPr id="297" name="Google Shape;297;p47"/>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600">
                <a:solidFill>
                  <a:schemeClr val="dk1"/>
                </a:solidFill>
              </a:rPr>
              <a:t>7. Privacy &amp; Compliance Layer</a:t>
            </a:r>
            <a:endParaRPr b="1" sz="1600">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Before sending a response, this layer ensures:</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330200" lvl="0" marL="457200" rtl="0" algn="l">
              <a:spcBef>
                <a:spcPts val="0"/>
              </a:spcBef>
              <a:spcAft>
                <a:spcPts val="0"/>
              </a:spcAft>
              <a:buClr>
                <a:schemeClr val="dk1"/>
              </a:buClr>
              <a:buSzPts val="1600"/>
              <a:buChar char="➔"/>
            </a:pPr>
            <a:r>
              <a:rPr b="1" lang="en-US" sz="1600">
                <a:solidFill>
                  <a:schemeClr val="dk1"/>
                </a:solidFill>
              </a:rPr>
              <a:t>Data anonymization:</a:t>
            </a:r>
            <a:r>
              <a:rPr lang="en-US" sz="1600">
                <a:solidFill>
                  <a:schemeClr val="dk1"/>
                </a:solidFill>
              </a:rPr>
              <a:t> Removes sensitive info.</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b="1" lang="en-US" sz="1600">
                <a:solidFill>
                  <a:schemeClr val="dk1"/>
                </a:solidFill>
              </a:rPr>
              <a:t>Policy compliance:</a:t>
            </a:r>
            <a:r>
              <a:rPr lang="en-US" sz="1600">
                <a:solidFill>
                  <a:schemeClr val="dk1"/>
                </a:solidFill>
              </a:rPr>
              <a:t> Ensures the answer doesn’t violate ethical or regional data policies.</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b="1" lang="en-US" sz="1600">
                <a:solidFill>
                  <a:schemeClr val="dk1"/>
                </a:solidFill>
              </a:rPr>
              <a:t>Toxicity check:</a:t>
            </a:r>
            <a:r>
              <a:rPr lang="en-US" sz="1600">
                <a:solidFill>
                  <a:schemeClr val="dk1"/>
                </a:solidFill>
              </a:rPr>
              <a:t> Filters harmful or biased outputs.</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This layer guarantees </a:t>
            </a:r>
            <a:r>
              <a:rPr b="1" lang="en-US" sz="1600">
                <a:solidFill>
                  <a:schemeClr val="dk1"/>
                </a:solidFill>
              </a:rPr>
              <a:t>safe, compliant, and user-trustworthy</a:t>
            </a:r>
            <a:r>
              <a:rPr lang="en-US" sz="1600">
                <a:solidFill>
                  <a:schemeClr val="dk1"/>
                </a:solidFill>
              </a:rPr>
              <a:t> interactions.</a:t>
            </a:r>
            <a:endParaRPr sz="1600">
              <a:solidFill>
                <a:schemeClr val="dk1"/>
              </a:solidFill>
            </a:endParaRPr>
          </a:p>
          <a:p>
            <a:pPr indent="0" lvl="0" marL="0" rtl="0" algn="l">
              <a:spcBef>
                <a:spcPts val="0"/>
              </a:spcBef>
              <a:spcAft>
                <a:spcPts val="0"/>
              </a:spcAft>
              <a:buNone/>
            </a:pPr>
            <a:r>
              <a:t/>
            </a:r>
            <a:endParaRPr sz="1600">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Components</a:t>
            </a:r>
            <a:endParaRPr>
              <a:latin typeface="Cambria"/>
              <a:ea typeface="Cambria"/>
              <a:cs typeface="Cambria"/>
              <a:sym typeface="Cambria"/>
            </a:endParaRPr>
          </a:p>
        </p:txBody>
      </p:sp>
      <p:sp>
        <p:nvSpPr>
          <p:cNvPr id="303" name="Google Shape;303;p48"/>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600">
                <a:solidFill>
                  <a:schemeClr val="dk1"/>
                </a:solidFill>
              </a:rPr>
              <a:t>8. Final Response to User</a:t>
            </a:r>
            <a:endParaRPr b="1" sz="1600">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The polished, verified, and context-aware response is delivered back to the user:</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In the same language as the input (via translation if needed).</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Through the chat interface.</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May include links, summaries, or recommendations.</a:t>
            </a:r>
            <a:endParaRPr sz="1600">
              <a:solidFill>
                <a:schemeClr val="dk1"/>
              </a:solidFill>
            </a:endParaRPr>
          </a:p>
          <a:p>
            <a:pPr indent="0" lvl="0" marL="0" rtl="0" algn="l">
              <a:spcBef>
                <a:spcPts val="0"/>
              </a:spcBef>
              <a:spcAft>
                <a:spcPts val="0"/>
              </a:spcAft>
              <a:buNone/>
            </a:pPr>
            <a:r>
              <a:t/>
            </a:r>
            <a:endParaRPr b="1" sz="1600">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9"/>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Components</a:t>
            </a:r>
            <a:endParaRPr>
              <a:latin typeface="Cambria"/>
              <a:ea typeface="Cambria"/>
              <a:cs typeface="Cambria"/>
              <a:sym typeface="Cambria"/>
            </a:endParaRPr>
          </a:p>
        </p:txBody>
      </p:sp>
      <p:sp>
        <p:nvSpPr>
          <p:cNvPr id="309" name="Google Shape;309;p49"/>
          <p:cNvSpPr txBox="1"/>
          <p:nvPr/>
        </p:nvSpPr>
        <p:spPr>
          <a:xfrm>
            <a:off x="812800" y="973950"/>
            <a:ext cx="10668000" cy="49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600">
                <a:solidFill>
                  <a:schemeClr val="dk1"/>
                </a:solidFill>
              </a:rPr>
              <a:t>9. Feedback &amp; Active Learning Loop</a:t>
            </a:r>
            <a:endParaRPr b="1" sz="1600">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Every user interaction contributes to model improvement.</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b="1" lang="en-US" sz="1600">
                <a:solidFill>
                  <a:schemeClr val="dk1"/>
                </a:solidFill>
              </a:rPr>
              <a:t>Feedback mechanisms:</a:t>
            </a:r>
            <a:endParaRPr b="1"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330200" lvl="0" marL="914400" rtl="0" algn="l">
              <a:spcBef>
                <a:spcPts val="0"/>
              </a:spcBef>
              <a:spcAft>
                <a:spcPts val="0"/>
              </a:spcAft>
              <a:buClr>
                <a:schemeClr val="dk1"/>
              </a:buClr>
              <a:buSzPts val="1600"/>
              <a:buChar char="➔"/>
            </a:pPr>
            <a:r>
              <a:rPr lang="en-US" sz="1600">
                <a:solidFill>
                  <a:schemeClr val="dk1"/>
                </a:solidFill>
              </a:rPr>
              <a:t>Explicit feedback (“Yes / No”, “Was this helpful?”).</a:t>
            </a:r>
            <a:endParaRPr sz="1600">
              <a:solidFill>
                <a:schemeClr val="dk1"/>
              </a:solidFill>
            </a:endParaRPr>
          </a:p>
          <a:p>
            <a:pPr indent="0" lvl="0" marL="914400" rtl="0" algn="l">
              <a:spcBef>
                <a:spcPts val="0"/>
              </a:spcBef>
              <a:spcAft>
                <a:spcPts val="0"/>
              </a:spcAft>
              <a:buNone/>
            </a:pPr>
            <a:r>
              <a:t/>
            </a:r>
            <a:endParaRPr sz="1600">
              <a:solidFill>
                <a:schemeClr val="dk1"/>
              </a:solidFill>
            </a:endParaRPr>
          </a:p>
          <a:p>
            <a:pPr indent="-330200" lvl="0" marL="914400" rtl="0" algn="l">
              <a:spcBef>
                <a:spcPts val="0"/>
              </a:spcBef>
              <a:spcAft>
                <a:spcPts val="0"/>
              </a:spcAft>
              <a:buClr>
                <a:schemeClr val="dk1"/>
              </a:buClr>
              <a:buSzPts val="1600"/>
              <a:buChar char="➔"/>
            </a:pPr>
            <a:r>
              <a:rPr lang="en-US" sz="1600">
                <a:solidFill>
                  <a:schemeClr val="dk1"/>
                </a:solidFill>
              </a:rPr>
              <a:t>Implicit feedback (user follow-up queries, session duration).</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b="1" lang="en-US" sz="1600">
                <a:solidFill>
                  <a:schemeClr val="dk1"/>
                </a:solidFill>
              </a:rPr>
              <a:t>Learning outcomes:</a:t>
            </a:r>
            <a:endParaRPr b="1"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330200" lvl="0" marL="914400" rtl="0" algn="l">
              <a:spcBef>
                <a:spcPts val="0"/>
              </a:spcBef>
              <a:spcAft>
                <a:spcPts val="0"/>
              </a:spcAft>
              <a:buClr>
                <a:schemeClr val="dk1"/>
              </a:buClr>
              <a:buSzPts val="1600"/>
              <a:buChar char="➔"/>
            </a:pPr>
            <a:r>
              <a:rPr lang="en-US" sz="1600">
                <a:solidFill>
                  <a:schemeClr val="dk1"/>
                </a:solidFill>
              </a:rPr>
              <a:t>Update intent classifiers or NER models.</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914400" rtl="0" algn="l">
              <a:spcBef>
                <a:spcPts val="0"/>
              </a:spcBef>
              <a:spcAft>
                <a:spcPts val="0"/>
              </a:spcAft>
              <a:buClr>
                <a:schemeClr val="dk1"/>
              </a:buClr>
              <a:buSzPts val="1600"/>
              <a:buChar char="➔"/>
            </a:pPr>
            <a:r>
              <a:rPr lang="en-US" sz="1600">
                <a:solidFill>
                  <a:schemeClr val="dk1"/>
                </a:solidFill>
              </a:rPr>
              <a:t>Refine retriever ranking weights.</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914400" rtl="0" algn="l">
              <a:spcBef>
                <a:spcPts val="0"/>
              </a:spcBef>
              <a:spcAft>
                <a:spcPts val="0"/>
              </a:spcAft>
              <a:buClr>
                <a:schemeClr val="dk1"/>
              </a:buClr>
              <a:buSzPts val="1600"/>
              <a:buChar char="➔"/>
            </a:pPr>
            <a:r>
              <a:rPr lang="en-US" sz="1600">
                <a:solidFill>
                  <a:schemeClr val="dk1"/>
                </a:solidFill>
              </a:rPr>
              <a:t>Expand knowledge base with missed queries.</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914400" rtl="0" algn="l">
              <a:lnSpc>
                <a:spcPct val="75000"/>
              </a:lnSpc>
              <a:spcBef>
                <a:spcPts val="0"/>
              </a:spcBef>
              <a:spcAft>
                <a:spcPts val="0"/>
              </a:spcAft>
              <a:buClr>
                <a:schemeClr val="dk1"/>
              </a:buClr>
              <a:buSzPts val="1600"/>
              <a:buChar char="➔"/>
            </a:pPr>
            <a:r>
              <a:rPr lang="en-US" sz="1600">
                <a:solidFill>
                  <a:schemeClr val="dk1"/>
                </a:solidFill>
              </a:rPr>
              <a:t>Fine-tune RAG model using real conversations.</a:t>
            </a:r>
            <a:endParaRPr sz="1600">
              <a:solidFill>
                <a:schemeClr val="dk1"/>
              </a:solidFill>
            </a:endParaRPr>
          </a:p>
          <a:p>
            <a:pPr indent="0" lvl="0" marL="914400" rtl="0" algn="l">
              <a:lnSpc>
                <a:spcPct val="75000"/>
              </a:lnSpc>
              <a:spcBef>
                <a:spcPts val="0"/>
              </a:spcBef>
              <a:spcAft>
                <a:spcPts val="0"/>
              </a:spcAft>
              <a:buNone/>
            </a:pPr>
            <a:r>
              <a:t/>
            </a:r>
            <a:endParaRPr sz="1600">
              <a:solidFill>
                <a:schemeClr val="dk1"/>
              </a:solidFill>
            </a:endParaRPr>
          </a:p>
          <a:p>
            <a:pPr indent="0" lvl="0" marL="0" rtl="0" algn="l">
              <a:lnSpc>
                <a:spcPct val="75000"/>
              </a:lnSpc>
              <a:spcBef>
                <a:spcPts val="0"/>
              </a:spcBef>
              <a:spcAft>
                <a:spcPts val="0"/>
              </a:spcAft>
              <a:buClr>
                <a:schemeClr val="dk1"/>
              </a:buClr>
              <a:buSzPts val="1100"/>
              <a:buFont typeface="Arial"/>
              <a:buNone/>
            </a:pPr>
            <a:r>
              <a:rPr lang="en-US" sz="1600">
                <a:solidFill>
                  <a:schemeClr val="dk1"/>
                </a:solidFill>
              </a:rPr>
              <a:t>This makes the chatbot smarter and more personalized over time.</a:t>
            </a:r>
            <a:endParaRPr sz="1600">
              <a:solidFill>
                <a:schemeClr val="dk1"/>
              </a:solidFill>
            </a:endParaRPr>
          </a:p>
          <a:p>
            <a:pPr indent="0" lvl="0" marL="0" rtl="0" algn="l">
              <a:spcBef>
                <a:spcPts val="0"/>
              </a:spcBef>
              <a:spcAft>
                <a:spcPts val="0"/>
              </a:spcAft>
              <a:buNone/>
            </a:pPr>
            <a:r>
              <a:t/>
            </a:r>
            <a:endParaRPr sz="160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0"/>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Modules</a:t>
            </a:r>
            <a:endParaRPr>
              <a:latin typeface="Cambria"/>
              <a:ea typeface="Cambria"/>
              <a:cs typeface="Cambria"/>
              <a:sym typeface="Cambria"/>
            </a:endParaRPr>
          </a:p>
        </p:txBody>
      </p:sp>
      <p:graphicFrame>
        <p:nvGraphicFramePr>
          <p:cNvPr id="315" name="Google Shape;315;p50"/>
          <p:cNvGraphicFramePr/>
          <p:nvPr/>
        </p:nvGraphicFramePr>
        <p:xfrm>
          <a:off x="731520" y="1160890"/>
          <a:ext cx="3000000" cy="3000000"/>
        </p:xfrm>
        <a:graphic>
          <a:graphicData uri="http://schemas.openxmlformats.org/drawingml/2006/table">
            <a:tbl>
              <a:tblPr>
                <a:noFill/>
                <a:tableStyleId>{FB14CE63-8882-4D26-89C2-C2BAD8E8DE73}</a:tableStyleId>
              </a:tblPr>
              <a:tblGrid>
                <a:gridCol w="5415275"/>
                <a:gridCol w="5334000"/>
              </a:tblGrid>
              <a:tr h="477075">
                <a:tc>
                  <a:txBody>
                    <a:bodyPr/>
                    <a:lstStyle/>
                    <a:p>
                      <a:pPr indent="0" lvl="0" marL="0" marR="0" rtl="0" algn="l">
                        <a:lnSpc>
                          <a:spcPct val="100000"/>
                        </a:lnSpc>
                        <a:spcBef>
                          <a:spcPts val="0"/>
                        </a:spcBef>
                        <a:spcAft>
                          <a:spcPts val="0"/>
                        </a:spcAft>
                        <a:buClr>
                          <a:srgbClr val="000000"/>
                        </a:buClr>
                        <a:buSzPts val="1400"/>
                        <a:buFont typeface="Arial"/>
                        <a:buNone/>
                      </a:pPr>
                      <a:r>
                        <a:rPr lang="en-US" sz="1600" u="sng" cap="none" strike="noStrike"/>
                        <a:t>Module Name</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600" u="sng" cap="none" strike="noStrike"/>
                        <a:t>Core Functionality</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6050">
                <a:tc>
                  <a:txBody>
                    <a:bodyPr/>
                    <a:lstStyle/>
                    <a:p>
                      <a:pPr indent="0" lvl="0" marL="0" marR="0" rtl="0" algn="l">
                        <a:lnSpc>
                          <a:spcPct val="100000"/>
                        </a:lnSpc>
                        <a:spcBef>
                          <a:spcPts val="0"/>
                        </a:spcBef>
                        <a:spcAft>
                          <a:spcPts val="0"/>
                        </a:spcAft>
                        <a:buClr>
                          <a:srgbClr val="000000"/>
                        </a:buClr>
                        <a:buSzPts val="1400"/>
                        <a:buFont typeface="Arial"/>
                        <a:buNone/>
                      </a:pPr>
                      <a:r>
                        <a:rPr b="1" lang="en-US" sz="1600" u="none" cap="none" strike="noStrike"/>
                        <a:t>Private Sector Jobs</a:t>
                      </a:r>
                      <a:endParaRPr sz="16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t>Listing and application portal for jobs in private companies.</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73275">
                <a:tc>
                  <a:txBody>
                    <a:bodyPr/>
                    <a:lstStyle/>
                    <a:p>
                      <a:pPr indent="0" lvl="0" marL="0" marR="0" rtl="0" algn="l">
                        <a:lnSpc>
                          <a:spcPct val="100000"/>
                        </a:lnSpc>
                        <a:spcBef>
                          <a:spcPts val="0"/>
                        </a:spcBef>
                        <a:spcAft>
                          <a:spcPts val="0"/>
                        </a:spcAft>
                        <a:buClr>
                          <a:srgbClr val="000000"/>
                        </a:buClr>
                        <a:buSzPts val="1400"/>
                        <a:buFont typeface="Arial"/>
                        <a:buNone/>
                      </a:pPr>
                      <a:r>
                        <a:rPr b="1" lang="en-US" sz="1600" u="none" cap="none" strike="noStrike"/>
                        <a:t>Government Jobs</a:t>
                      </a:r>
                      <a:endParaRPr sz="16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t>Provides information and application links for public sector and government positions.</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73275">
                <a:tc>
                  <a:txBody>
                    <a:bodyPr/>
                    <a:lstStyle/>
                    <a:p>
                      <a:pPr indent="0" lvl="0" marL="0" marR="0" rtl="0" algn="l">
                        <a:lnSpc>
                          <a:spcPct val="100000"/>
                        </a:lnSpc>
                        <a:spcBef>
                          <a:spcPts val="0"/>
                        </a:spcBef>
                        <a:spcAft>
                          <a:spcPts val="0"/>
                        </a:spcAft>
                        <a:buClr>
                          <a:srgbClr val="000000"/>
                        </a:buClr>
                        <a:buSzPts val="1400"/>
                        <a:buFont typeface="Arial"/>
                        <a:buNone/>
                      </a:pPr>
                      <a:r>
                        <a:rPr b="1" lang="en-US" sz="1600" u="none" cap="none" strike="noStrike"/>
                        <a:t>Self-Employment Avenues</a:t>
                      </a:r>
                      <a:endParaRPr sz="16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t>Offers resources and guidance for users interested in starting their own businesses.</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73275">
                <a:tc>
                  <a:txBody>
                    <a:bodyPr/>
                    <a:lstStyle/>
                    <a:p>
                      <a:pPr indent="0" lvl="0" marL="0" marR="0" rtl="0" algn="l">
                        <a:lnSpc>
                          <a:spcPct val="100000"/>
                        </a:lnSpc>
                        <a:spcBef>
                          <a:spcPts val="0"/>
                        </a:spcBef>
                        <a:spcAft>
                          <a:spcPts val="0"/>
                        </a:spcAft>
                        <a:buClr>
                          <a:srgbClr val="000000"/>
                        </a:buClr>
                        <a:buSzPts val="1400"/>
                        <a:buFont typeface="Arial"/>
                        <a:buNone/>
                      </a:pPr>
                      <a:r>
                        <a:rPr b="1" lang="en-US" sz="1600" u="none" cap="none" strike="noStrike"/>
                        <a:t>Foreign Jobs</a:t>
                      </a:r>
                      <a:endParaRPr sz="16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t>Details and application processes for employment opportunities abroad.</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73275">
                <a:tc>
                  <a:txBody>
                    <a:bodyPr/>
                    <a:lstStyle/>
                    <a:p>
                      <a:pPr indent="0" lvl="0" marL="0" marR="0" rtl="0" algn="l">
                        <a:lnSpc>
                          <a:spcPct val="100000"/>
                        </a:lnSpc>
                        <a:spcBef>
                          <a:spcPts val="0"/>
                        </a:spcBef>
                        <a:spcAft>
                          <a:spcPts val="0"/>
                        </a:spcAft>
                        <a:buClr>
                          <a:srgbClr val="000000"/>
                        </a:buClr>
                        <a:buSzPts val="1400"/>
                        <a:buFont typeface="Arial"/>
                        <a:buNone/>
                      </a:pPr>
                      <a:r>
                        <a:rPr b="1" lang="en-US" sz="1600" u="none" cap="none" strike="noStrike"/>
                        <a:t>Foreign Study</a:t>
                      </a:r>
                      <a:endParaRPr sz="16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t>Information related to international educational opportunities and courses.</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5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Software and Hardware Requirements</a:t>
            </a:r>
            <a:endParaRPr>
              <a:latin typeface="Cambria"/>
              <a:ea typeface="Cambria"/>
              <a:cs typeface="Cambria"/>
              <a:sym typeface="Cambria"/>
            </a:endParaRPr>
          </a:p>
        </p:txBody>
      </p:sp>
      <p:sp>
        <p:nvSpPr>
          <p:cNvPr id="321" name="Google Shape;321;p51"/>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100000"/>
              </a:lnSpc>
              <a:spcBef>
                <a:spcPts val="0"/>
              </a:spcBef>
              <a:spcAft>
                <a:spcPts val="0"/>
              </a:spcAft>
              <a:buClr>
                <a:schemeClr val="dk1"/>
              </a:buClr>
              <a:buSzPts val="2400"/>
              <a:buNone/>
            </a:pPr>
            <a:r>
              <a:rPr b="1" lang="en-US" sz="1600">
                <a:latin typeface="Arial"/>
                <a:ea typeface="Arial"/>
                <a:cs typeface="Arial"/>
                <a:sym typeface="Arial"/>
              </a:rPr>
              <a:t>Software:</a:t>
            </a:r>
            <a:endParaRPr b="1" sz="1600">
              <a:latin typeface="Arial"/>
              <a:ea typeface="Arial"/>
              <a:cs typeface="Arial"/>
              <a:sym typeface="Arial"/>
            </a:endParaRPr>
          </a:p>
          <a:p>
            <a:pPr indent="-190500" lvl="0" marL="342900" rtl="0" algn="just">
              <a:lnSpc>
                <a:spcPct val="100000"/>
              </a:lnSpc>
              <a:spcBef>
                <a:spcPts val="0"/>
              </a:spcBef>
              <a:spcAft>
                <a:spcPts val="0"/>
              </a:spcAft>
              <a:buClr>
                <a:schemeClr val="dk1"/>
              </a:buClr>
              <a:buSzPts val="2400"/>
              <a:buNone/>
            </a:pPr>
            <a:r>
              <a:t/>
            </a:r>
            <a:endParaRPr b="1" sz="1600">
              <a:latin typeface="Arial"/>
              <a:ea typeface="Arial"/>
              <a:cs typeface="Arial"/>
              <a:sym typeface="Arial"/>
            </a:endParaRPr>
          </a:p>
          <a:p>
            <a:pPr indent="-330200" lvl="0" marL="457200" rtl="0" algn="just">
              <a:lnSpc>
                <a:spcPct val="100000"/>
              </a:lnSpc>
              <a:spcBef>
                <a:spcPts val="0"/>
              </a:spcBef>
              <a:spcAft>
                <a:spcPts val="0"/>
              </a:spcAft>
              <a:buSzPts val="1600"/>
              <a:buFont typeface="Arial"/>
              <a:buAutoNum type="arabicParenR"/>
            </a:pPr>
            <a:r>
              <a:rPr b="1" lang="en-US" sz="1600">
                <a:latin typeface="Arial"/>
                <a:ea typeface="Arial"/>
                <a:cs typeface="Arial"/>
                <a:sym typeface="Arial"/>
              </a:rPr>
              <a:t>Programming Languages:</a:t>
            </a:r>
            <a:endParaRPr b="1" sz="1600">
              <a:latin typeface="Arial"/>
              <a:ea typeface="Arial"/>
              <a:cs typeface="Arial"/>
              <a:sym typeface="Arial"/>
            </a:endParaRPr>
          </a:p>
          <a:p>
            <a:pPr indent="0" lvl="0" marL="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Python: </a:t>
            </a:r>
            <a:r>
              <a:rPr lang="en-US" sz="1600">
                <a:latin typeface="Arial"/>
                <a:ea typeface="Arial"/>
                <a:cs typeface="Arial"/>
                <a:sym typeface="Arial"/>
              </a:rPr>
              <a:t>For AI model integration, NLP processing, and backend logic.</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JavaScript / TypeScript: </a:t>
            </a:r>
            <a:r>
              <a:rPr lang="en-US" sz="1600">
                <a:latin typeface="Arial"/>
                <a:ea typeface="Arial"/>
                <a:cs typeface="Arial"/>
                <a:sym typeface="Arial"/>
              </a:rPr>
              <a:t>For frontend development and interactivity.</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0" marL="457200" rtl="0" algn="just">
              <a:lnSpc>
                <a:spcPct val="100000"/>
              </a:lnSpc>
              <a:spcBef>
                <a:spcPts val="0"/>
              </a:spcBef>
              <a:spcAft>
                <a:spcPts val="0"/>
              </a:spcAft>
              <a:buSzPts val="1600"/>
              <a:buFont typeface="Arial"/>
              <a:buAutoNum type="arabicParenR"/>
            </a:pPr>
            <a:r>
              <a:rPr b="1" lang="en-US" sz="1600">
                <a:latin typeface="Arial"/>
                <a:ea typeface="Arial"/>
                <a:cs typeface="Arial"/>
                <a:sym typeface="Arial"/>
              </a:rPr>
              <a:t>Web Frameworks:</a:t>
            </a:r>
            <a:endParaRPr b="1"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Flask or FastAPI: </a:t>
            </a:r>
            <a:r>
              <a:rPr lang="en-US" sz="1600">
                <a:latin typeface="Arial"/>
                <a:ea typeface="Arial"/>
                <a:cs typeface="Arial"/>
                <a:sym typeface="Arial"/>
              </a:rPr>
              <a:t>Lightweight frameworks for API development and backend services.</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0" marL="457200" rtl="0" algn="just">
              <a:lnSpc>
                <a:spcPct val="100000"/>
              </a:lnSpc>
              <a:spcBef>
                <a:spcPts val="0"/>
              </a:spcBef>
              <a:spcAft>
                <a:spcPts val="0"/>
              </a:spcAft>
              <a:buSzPts val="1600"/>
              <a:buFont typeface="Arial"/>
              <a:buAutoNum type="arabicParenR"/>
            </a:pPr>
            <a:r>
              <a:rPr b="1" lang="en-US" sz="1600">
                <a:latin typeface="Arial"/>
                <a:ea typeface="Arial"/>
                <a:cs typeface="Arial"/>
                <a:sym typeface="Arial"/>
              </a:rPr>
              <a:t>AI / NLP Components:</a:t>
            </a:r>
            <a:endParaRPr b="1"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LLM API: </a:t>
            </a:r>
            <a:r>
              <a:rPr lang="en-US" sz="1600">
                <a:latin typeface="Arial"/>
                <a:ea typeface="Arial"/>
                <a:cs typeface="Arial"/>
                <a:sym typeface="Arial"/>
              </a:rPr>
              <a:t>GPT-3, GPT-4, or LLaMA for language understanding and response generation.</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Retrieval Tools: </a:t>
            </a:r>
            <a:r>
              <a:rPr lang="en-US" sz="1600">
                <a:latin typeface="Arial"/>
                <a:ea typeface="Arial"/>
                <a:cs typeface="Arial"/>
                <a:sym typeface="Arial"/>
              </a:rPr>
              <a:t>BM25 or vector-based search libraries (e.g., FAISS, Pinecone) for document retrieval.</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NLP Libraries: </a:t>
            </a:r>
            <a:r>
              <a:rPr lang="en-US" sz="1600">
                <a:latin typeface="Arial"/>
                <a:ea typeface="Arial"/>
                <a:cs typeface="Arial"/>
                <a:sym typeface="Arial"/>
              </a:rPr>
              <a:t>spaCy, NLTK, or Hugging Face Transformers for entity extraction, intent recognition, and preprocessing.</a:t>
            </a:r>
            <a:endParaRPr sz="1600">
              <a:latin typeface="Arial"/>
              <a:ea typeface="Arial"/>
              <a:cs typeface="Arial"/>
              <a:sym typeface="Arial"/>
            </a:endParaRPr>
          </a:p>
          <a:p>
            <a:pPr indent="-190500" lvl="0" marL="342900" rtl="0" algn="just">
              <a:lnSpc>
                <a:spcPct val="100000"/>
              </a:lnSpc>
              <a:spcBef>
                <a:spcPts val="0"/>
              </a:spcBef>
              <a:spcAft>
                <a:spcPts val="0"/>
              </a:spcAft>
              <a:buClr>
                <a:schemeClr val="dk1"/>
              </a:buClr>
              <a:buSzPts val="2400"/>
              <a:buNone/>
            </a:pPr>
            <a:r>
              <a:t/>
            </a:r>
            <a:endParaRPr b="1" sz="1600">
              <a:latin typeface="Arial"/>
              <a:ea typeface="Arial"/>
              <a:cs typeface="Arial"/>
              <a:sym typeface="Arial"/>
            </a:endParaRPr>
          </a:p>
          <a:p>
            <a:pPr indent="-190500" lvl="0" marL="342900" rtl="0" algn="just">
              <a:lnSpc>
                <a:spcPct val="100000"/>
              </a:lnSpc>
              <a:spcBef>
                <a:spcPts val="0"/>
              </a:spcBef>
              <a:spcAft>
                <a:spcPts val="0"/>
              </a:spcAft>
              <a:buClr>
                <a:schemeClr val="dk1"/>
              </a:buClr>
              <a:buSzPts val="2400"/>
              <a:buNone/>
            </a:pPr>
            <a:r>
              <a:t/>
            </a:r>
            <a:endParaRPr b="1" sz="1600">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2"/>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Software and Hardware Requirements</a:t>
            </a:r>
            <a:endParaRPr>
              <a:latin typeface="Cambria"/>
              <a:ea typeface="Cambria"/>
              <a:cs typeface="Cambria"/>
              <a:sym typeface="Cambria"/>
            </a:endParaRPr>
          </a:p>
        </p:txBody>
      </p:sp>
      <p:sp>
        <p:nvSpPr>
          <p:cNvPr id="327" name="Google Shape;327;p52"/>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rmAutofit/>
          </a:bodyPr>
          <a:lstStyle/>
          <a:p>
            <a:pPr indent="-330200" lvl="0" marL="457200" rtl="0" algn="just">
              <a:lnSpc>
                <a:spcPct val="100000"/>
              </a:lnSpc>
              <a:spcBef>
                <a:spcPts val="0"/>
              </a:spcBef>
              <a:spcAft>
                <a:spcPts val="0"/>
              </a:spcAft>
              <a:buSzPts val="1600"/>
              <a:buFont typeface="Arial"/>
              <a:buAutoNum type="arabicParenR" startAt="4"/>
            </a:pPr>
            <a:r>
              <a:rPr b="1" lang="en-US" sz="1600">
                <a:latin typeface="Arial"/>
                <a:ea typeface="Arial"/>
                <a:cs typeface="Arial"/>
                <a:sym typeface="Arial"/>
              </a:rPr>
              <a:t>Database and Storage:</a:t>
            </a:r>
            <a:endParaRPr b="1"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MongoDB / PostgreSQL: </a:t>
            </a:r>
            <a:r>
              <a:rPr lang="en-US" sz="1600">
                <a:latin typeface="Arial"/>
                <a:ea typeface="Arial"/>
                <a:cs typeface="Arial"/>
                <a:sym typeface="Arial"/>
              </a:rPr>
              <a:t>To store structured and unstructured data, user sessions, and logs.</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Optional: </a:t>
            </a:r>
            <a:r>
              <a:rPr lang="en-US" sz="1600">
                <a:latin typeface="Arial"/>
                <a:ea typeface="Arial"/>
                <a:cs typeface="Arial"/>
                <a:sym typeface="Arial"/>
              </a:rPr>
              <a:t>Vector databases for embeddings storage (e.g., Pinecone, Weaviate).</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0" marL="457200" rtl="0" algn="just">
              <a:lnSpc>
                <a:spcPct val="100000"/>
              </a:lnSpc>
              <a:spcBef>
                <a:spcPts val="0"/>
              </a:spcBef>
              <a:spcAft>
                <a:spcPts val="0"/>
              </a:spcAft>
              <a:buSzPts val="1600"/>
              <a:buFont typeface="Arial"/>
              <a:buAutoNum type="arabicParenR" startAt="4"/>
            </a:pPr>
            <a:r>
              <a:rPr b="1" lang="en-US" sz="1600">
                <a:latin typeface="Arial"/>
                <a:ea typeface="Arial"/>
                <a:cs typeface="Arial"/>
                <a:sym typeface="Arial"/>
              </a:rPr>
              <a:t>Version Control &amp; Collaboration:</a:t>
            </a:r>
            <a:endParaRPr b="1"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Git / GitHub / GitLab: </a:t>
            </a:r>
            <a:r>
              <a:rPr lang="en-US" sz="1600">
                <a:latin typeface="Arial"/>
                <a:ea typeface="Arial"/>
                <a:cs typeface="Arial"/>
                <a:sym typeface="Arial"/>
              </a:rPr>
              <a:t>For source control, collaboration, and CI/CD pipelines.</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0" marL="457200" rtl="0" algn="just">
              <a:lnSpc>
                <a:spcPct val="100000"/>
              </a:lnSpc>
              <a:spcBef>
                <a:spcPts val="0"/>
              </a:spcBef>
              <a:spcAft>
                <a:spcPts val="0"/>
              </a:spcAft>
              <a:buSzPts val="1600"/>
              <a:buFont typeface="Arial"/>
              <a:buAutoNum type="arabicParenR" startAt="4"/>
            </a:pPr>
            <a:r>
              <a:rPr b="1" lang="en-US" sz="1600">
                <a:latin typeface="Arial"/>
                <a:ea typeface="Arial"/>
                <a:cs typeface="Arial"/>
                <a:sym typeface="Arial"/>
              </a:rPr>
              <a:t>Other Tools:</a:t>
            </a:r>
            <a:endParaRPr b="1"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Docker: </a:t>
            </a:r>
            <a:r>
              <a:rPr lang="en-US" sz="1600">
                <a:latin typeface="Arial"/>
                <a:ea typeface="Arial"/>
                <a:cs typeface="Arial"/>
                <a:sym typeface="Arial"/>
              </a:rPr>
              <a:t>For containerization and easier deployment.</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Cloud Platforms: </a:t>
            </a:r>
            <a:r>
              <a:rPr lang="en-US" sz="1600">
                <a:latin typeface="Arial"/>
                <a:ea typeface="Arial"/>
                <a:cs typeface="Arial"/>
                <a:sym typeface="Arial"/>
              </a:rPr>
              <a:t>AWS, GCP, or Azure for hosting, scalability, and GPU access.</a:t>
            </a:r>
            <a:endParaRPr sz="1600">
              <a:latin typeface="Arial"/>
              <a:ea typeface="Arial"/>
              <a:cs typeface="Arial"/>
              <a:sym typeface="Arial"/>
            </a:endParaRPr>
          </a:p>
          <a:p>
            <a:pPr indent="-190500" lvl="0" marL="342900" rtl="0" algn="just">
              <a:lnSpc>
                <a:spcPct val="100000"/>
              </a:lnSpc>
              <a:spcBef>
                <a:spcPts val="0"/>
              </a:spcBef>
              <a:spcAft>
                <a:spcPts val="0"/>
              </a:spcAft>
              <a:buClr>
                <a:schemeClr val="dk1"/>
              </a:buClr>
              <a:buSzPts val="2400"/>
              <a:buNone/>
            </a:pPr>
            <a:r>
              <a:t/>
            </a:r>
            <a:endParaRPr b="1" sz="1800">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Software and Hardware Requirements</a:t>
            </a:r>
            <a:endParaRPr>
              <a:latin typeface="Cambria"/>
              <a:ea typeface="Cambria"/>
              <a:cs typeface="Cambria"/>
              <a:sym typeface="Cambria"/>
            </a:endParaRPr>
          </a:p>
        </p:txBody>
      </p:sp>
      <p:sp>
        <p:nvSpPr>
          <p:cNvPr id="333" name="Google Shape;333;p53"/>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100000"/>
              </a:lnSpc>
              <a:spcBef>
                <a:spcPts val="0"/>
              </a:spcBef>
              <a:spcAft>
                <a:spcPts val="0"/>
              </a:spcAft>
              <a:buClr>
                <a:schemeClr val="dk1"/>
              </a:buClr>
              <a:buSzPts val="2400"/>
              <a:buNone/>
            </a:pPr>
            <a:r>
              <a:rPr b="1" lang="en-US" sz="1600">
                <a:latin typeface="Arial"/>
                <a:ea typeface="Arial"/>
                <a:cs typeface="Arial"/>
                <a:sym typeface="Arial"/>
              </a:rPr>
              <a:t>Hardware Requirements:</a:t>
            </a:r>
            <a:endParaRPr b="1" sz="1600">
              <a:latin typeface="Arial"/>
              <a:ea typeface="Arial"/>
              <a:cs typeface="Arial"/>
              <a:sym typeface="Arial"/>
            </a:endParaRPr>
          </a:p>
          <a:p>
            <a:pPr indent="-190500" lvl="0" marL="342900" rtl="0" algn="just">
              <a:lnSpc>
                <a:spcPct val="100000"/>
              </a:lnSpc>
              <a:spcBef>
                <a:spcPts val="0"/>
              </a:spcBef>
              <a:spcAft>
                <a:spcPts val="0"/>
              </a:spcAft>
              <a:buClr>
                <a:schemeClr val="dk1"/>
              </a:buClr>
              <a:buSzPts val="2400"/>
              <a:buNone/>
            </a:pPr>
            <a:r>
              <a:t/>
            </a:r>
            <a:endParaRPr b="1" sz="1600">
              <a:latin typeface="Arial"/>
              <a:ea typeface="Arial"/>
              <a:cs typeface="Arial"/>
              <a:sym typeface="Arial"/>
            </a:endParaRPr>
          </a:p>
          <a:p>
            <a:pPr indent="-330200" lvl="0" marL="457200" rtl="0" algn="just">
              <a:lnSpc>
                <a:spcPct val="100000"/>
              </a:lnSpc>
              <a:spcBef>
                <a:spcPts val="0"/>
              </a:spcBef>
              <a:spcAft>
                <a:spcPts val="0"/>
              </a:spcAft>
              <a:buSzPts val="1600"/>
              <a:buFont typeface="Arial"/>
              <a:buAutoNum type="arabicParenR"/>
            </a:pPr>
            <a:r>
              <a:rPr b="1" lang="en-US" sz="1600">
                <a:latin typeface="Arial"/>
                <a:ea typeface="Arial"/>
                <a:cs typeface="Arial"/>
                <a:sym typeface="Arial"/>
              </a:rPr>
              <a:t>Development Machines:</a:t>
            </a:r>
            <a:endParaRPr b="1"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lang="en-US" sz="1600">
                <a:latin typeface="Arial"/>
                <a:ea typeface="Arial"/>
                <a:cs typeface="Arial"/>
                <a:sym typeface="Arial"/>
              </a:rPr>
              <a:t>Standard laptops/desktops with 8–16 GB RAM, modern CPU, and internet access for testing and development.</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0" marL="457200" rtl="0" algn="just">
              <a:lnSpc>
                <a:spcPct val="100000"/>
              </a:lnSpc>
              <a:spcBef>
                <a:spcPts val="0"/>
              </a:spcBef>
              <a:spcAft>
                <a:spcPts val="0"/>
              </a:spcAft>
              <a:buSzPts val="1600"/>
              <a:buFont typeface="Arial"/>
              <a:buAutoNum type="arabicParenR"/>
            </a:pPr>
            <a:r>
              <a:rPr b="1" lang="en-US" sz="1600">
                <a:latin typeface="Arial"/>
                <a:ea typeface="Arial"/>
                <a:cs typeface="Arial"/>
                <a:sym typeface="Arial"/>
              </a:rPr>
              <a:t>Server / Deployment Requirements:</a:t>
            </a:r>
            <a:endParaRPr b="1"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lang="en-US" sz="1600">
                <a:latin typeface="Arial"/>
                <a:ea typeface="Arial"/>
                <a:cs typeface="Arial"/>
                <a:sym typeface="Arial"/>
              </a:rPr>
              <a:t>Cloud-based server with sufficient CPU cores (4–8 cores recommended) and 16–32 GB RAM for backend and API hosting.</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lang="en-US" sz="1600">
                <a:latin typeface="Arial"/>
                <a:ea typeface="Arial"/>
                <a:cs typeface="Arial"/>
                <a:sym typeface="Arial"/>
              </a:rPr>
              <a:t>GPU (Optional but recommended): NVIDIA GPU with at least 8–16 GB VRAM for running embedding models, fine-tuning, or local LLM inference.</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0" marL="457200" rtl="0" algn="just">
              <a:lnSpc>
                <a:spcPct val="100000"/>
              </a:lnSpc>
              <a:spcBef>
                <a:spcPts val="0"/>
              </a:spcBef>
              <a:spcAft>
                <a:spcPts val="0"/>
              </a:spcAft>
              <a:buSzPts val="1600"/>
              <a:buFont typeface="Arial"/>
              <a:buAutoNum type="arabicParenR"/>
            </a:pPr>
            <a:r>
              <a:rPr b="1" lang="en-US" sz="1600">
                <a:latin typeface="Arial"/>
                <a:ea typeface="Arial"/>
                <a:cs typeface="Arial"/>
                <a:sym typeface="Arial"/>
              </a:rPr>
              <a:t>Storage:</a:t>
            </a:r>
            <a:endParaRPr b="1"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lang="en-US" sz="1600">
                <a:latin typeface="Arial"/>
                <a:ea typeface="Arial"/>
                <a:cs typeface="Arial"/>
                <a:sym typeface="Arial"/>
              </a:rPr>
              <a:t>Sufficient disk space for logs, user data, PDFs, and embeddings, typically 100 GB+ depending on dataset size.</a:t>
            </a:r>
            <a:endParaRPr sz="1600">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Github Link</a:t>
            </a:r>
            <a:endParaRPr>
              <a:latin typeface="Cambria"/>
              <a:ea typeface="Cambria"/>
              <a:cs typeface="Cambria"/>
              <a:sym typeface="Cambria"/>
            </a:endParaRPr>
          </a:p>
        </p:txBody>
      </p:sp>
      <p:sp>
        <p:nvSpPr>
          <p:cNvPr id="339" name="Google Shape;339;p54"/>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rmAutofit/>
          </a:bodyPr>
          <a:lstStyle/>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p:txBody>
      </p:sp>
      <p:sp>
        <p:nvSpPr>
          <p:cNvPr id="340" name="Google Shape;340;p54"/>
          <p:cNvSpPr txBox="1"/>
          <p:nvPr/>
        </p:nvSpPr>
        <p:spPr>
          <a:xfrm>
            <a:off x="965200" y="1295400"/>
            <a:ext cx="10668000" cy="4953000"/>
          </a:xfrm>
          <a:prstGeom prst="rect">
            <a:avLst/>
          </a:prstGeom>
          <a:noFill/>
          <a:ln>
            <a:noFill/>
          </a:ln>
        </p:spPr>
        <p:txBody>
          <a:bodyPr anchorCtr="0" anchor="t" bIns="45700" lIns="91425" spcFirstLastPara="1" rIns="91425" wrap="square" tIns="45700">
            <a:normAutofit/>
          </a:bodyPr>
          <a:lstStyle/>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p:txBody>
      </p:sp>
      <p:sp>
        <p:nvSpPr>
          <p:cNvPr id="341" name="Google Shape;341;p54"/>
          <p:cNvSpPr txBox="1"/>
          <p:nvPr/>
        </p:nvSpPr>
        <p:spPr>
          <a:xfrm>
            <a:off x="812800" y="1143000"/>
            <a:ext cx="10668000" cy="4178300"/>
          </a:xfrm>
          <a:prstGeom prst="rect">
            <a:avLst/>
          </a:prstGeom>
          <a:noFill/>
          <a:ln>
            <a:noFill/>
          </a:ln>
        </p:spPr>
        <p:txBody>
          <a:bodyPr anchorCtr="0" anchor="t" bIns="45700" lIns="91425" spcFirstLastPara="1" rIns="91425" wrap="square" tIns="45700">
            <a:normAutofit/>
          </a:bodyPr>
          <a:lstStyle/>
          <a:p>
            <a:pPr indent="-190500" lvl="0" marL="342900" marR="0" rtl="0" algn="just">
              <a:lnSpc>
                <a:spcPct val="100000"/>
              </a:lnSpc>
              <a:spcBef>
                <a:spcPts val="0"/>
              </a:spcBef>
              <a:spcAft>
                <a:spcPts val="0"/>
              </a:spcAft>
              <a:buClr>
                <a:schemeClr val="dk1"/>
              </a:buClr>
              <a:buSzPts val="2400"/>
              <a:buFont typeface="Arial"/>
              <a:buNone/>
            </a:pPr>
            <a:r>
              <a:rPr b="1" lang="en-US" sz="1800">
                <a:solidFill>
                  <a:srgbClr val="953734"/>
                </a:solidFill>
                <a:latin typeface="Cambria"/>
                <a:ea typeface="Cambria"/>
                <a:cs typeface="Cambria"/>
                <a:sym typeface="Cambria"/>
              </a:rPr>
              <a:t>G</a:t>
            </a:r>
            <a:r>
              <a:rPr b="1" i="0" lang="en-US" sz="1800" u="none" cap="none" strike="noStrike">
                <a:solidFill>
                  <a:srgbClr val="953734"/>
                </a:solidFill>
                <a:latin typeface="Cambria"/>
                <a:ea typeface="Cambria"/>
                <a:cs typeface="Cambria"/>
                <a:sym typeface="Cambria"/>
              </a:rPr>
              <a:t>ithub Link:</a:t>
            </a:r>
            <a:endParaRPr b="1" i="0" sz="1800" u="none" cap="none" strike="noStrike">
              <a:solidFill>
                <a:srgbClr val="000000"/>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rPr b="1" i="0" lang="en-US" sz="1800" u="none" cap="none" strike="noStrike">
                <a:solidFill>
                  <a:srgbClr val="000000"/>
                </a:solidFill>
                <a:latin typeface="Cambria"/>
                <a:ea typeface="Cambria"/>
                <a:cs typeface="Cambria"/>
                <a:sym typeface="Cambria"/>
              </a:rPr>
              <a:t>	</a:t>
            </a:r>
            <a:r>
              <a:rPr b="1" i="0" lang="en-US" sz="1800" u="sng" cap="none" strike="noStrike">
                <a:solidFill>
                  <a:schemeClr val="hlink"/>
                </a:solidFill>
                <a:latin typeface="Cambria"/>
                <a:ea typeface="Cambria"/>
                <a:cs typeface="Cambria"/>
                <a:sym typeface="Cambria"/>
                <a:hlinkClick r:id="rId3"/>
              </a:rPr>
              <a:t>https://github.com/ashwin2947/PGRKAM-Smart-Assistant</a:t>
            </a:r>
            <a:endParaRPr b="1" i="0" sz="1800" u="none" cap="none" strike="noStrike">
              <a:solidFill>
                <a:srgbClr val="000000"/>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t/>
            </a:r>
            <a:endParaRPr b="0" i="0" sz="1800" u="none" cap="none" strike="noStrike">
              <a:solidFill>
                <a:srgbClr val="000000"/>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1800" u="none" cap="none" strike="noStrike">
              <a:solidFill>
                <a:srgbClr val="000000"/>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1800" u="none" cap="none" strike="noStrike">
              <a:solidFill>
                <a:srgbClr val="000000"/>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1800" u="none" cap="none" strike="noStrike">
              <a:solidFill>
                <a:srgbClr val="000000"/>
              </a:solidFill>
              <a:latin typeface="Cambria"/>
              <a:ea typeface="Cambria"/>
              <a:cs typeface="Cambria"/>
              <a:sym typeface="Cambria"/>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Timeline of the Project (Gantt Chart)</a:t>
            </a:r>
            <a:endParaRPr>
              <a:latin typeface="Cambria"/>
              <a:ea typeface="Cambria"/>
              <a:cs typeface="Cambria"/>
              <a:sym typeface="Cambria"/>
            </a:endParaRPr>
          </a:p>
        </p:txBody>
      </p:sp>
      <p:pic>
        <p:nvPicPr>
          <p:cNvPr id="347" name="Google Shape;347;p55" title="Online Gantt 20250928.png"/>
          <p:cNvPicPr preferRelativeResize="0"/>
          <p:nvPr/>
        </p:nvPicPr>
        <p:blipFill>
          <a:blip r:embed="rId3">
            <a:alphaModFix/>
          </a:blip>
          <a:stretch>
            <a:fillRect/>
          </a:stretch>
        </p:blipFill>
        <p:spPr>
          <a:xfrm>
            <a:off x="152400" y="1346350"/>
            <a:ext cx="11722450" cy="36142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6"/>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Autofit/>
          </a:bodyPr>
          <a:lstStyle/>
          <a:p>
            <a:pPr indent="0" lvl="0" marL="152400" rtl="0" algn="l">
              <a:lnSpc>
                <a:spcPct val="150000"/>
              </a:lnSpc>
              <a:spcBef>
                <a:spcPts val="0"/>
              </a:spcBef>
              <a:spcAft>
                <a:spcPts val="0"/>
              </a:spcAft>
              <a:buSzPts val="2400"/>
              <a:buNone/>
            </a:pPr>
            <a:r>
              <a:rPr lang="en-US" sz="1800">
                <a:latin typeface="Arial"/>
                <a:ea typeface="Arial"/>
                <a:cs typeface="Arial"/>
                <a:sym typeface="Arial"/>
              </a:rPr>
              <a:t>[1] Y. Xu et al., “LayoutLM: Pre-training of Text and Layout for Document Image Understanding,” ACL, 2020.</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rPr lang="en-US" sz="1800">
                <a:latin typeface="Arial"/>
                <a:ea typeface="Arial"/>
                <a:cs typeface="Arial"/>
                <a:sym typeface="Arial"/>
              </a:rPr>
              <a:t>[2] T. Powalski et al., “Going Full-TILT Boogie on Document Understanding with Text-Image-Layout Transformer,” NAACL, 2021.</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rPr lang="en-US" sz="1800">
                <a:latin typeface="Arial"/>
                <a:ea typeface="Arial"/>
                <a:cs typeface="Arial"/>
                <a:sym typeface="Arial"/>
              </a:rPr>
              <a:t>[3] M. Li et al., “TableBank: Table Benchmark for Image-based Table Detection and Recognition,” ICDAR, 2019.</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rPr lang="en-US" sz="1800">
                <a:latin typeface="Arial"/>
                <a:ea typeface="Arial"/>
                <a:cs typeface="Arial"/>
                <a:sym typeface="Arial"/>
              </a:rPr>
              <a:t>[4] V. Karpukhin et al., “Dense Passage Retrieval for Open-Domain Question Answering,” EMNLP, 2020.</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rPr lang="en-US" sz="1800">
                <a:latin typeface="Arial"/>
                <a:ea typeface="Arial"/>
                <a:cs typeface="Arial"/>
                <a:sym typeface="Arial"/>
              </a:rPr>
              <a:t>[5] P. Lewis et al., “Retrieval-Augmented Generation for Knowledge-Intensive NLP Tasks,” NeurIPS, 2020.</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rPr lang="en-US" sz="1800">
                <a:latin typeface="Arial"/>
                <a:ea typeface="Arial"/>
                <a:cs typeface="Arial"/>
                <a:sym typeface="Arial"/>
              </a:rPr>
              <a:t>[6] O. Khattab and M. Zaharia, “ColBERT: Efficient and Effective Passage Search via Contextualized Late Interaction over BERT,” SIGIR, 2020.</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t/>
            </a:r>
            <a:endParaRPr sz="1800">
              <a:latin typeface="Arial"/>
              <a:ea typeface="Arial"/>
              <a:cs typeface="Arial"/>
              <a:sym typeface="Arial"/>
            </a:endParaRPr>
          </a:p>
        </p:txBody>
      </p:sp>
      <p:sp>
        <p:nvSpPr>
          <p:cNvPr id="353" name="Google Shape;353;p5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References (IEEE Paper format)</a:t>
            </a:r>
            <a:endParaRPr>
              <a:latin typeface="Cambria"/>
              <a:ea typeface="Cambria"/>
              <a:cs typeface="Cambria"/>
              <a:sym typeface="Cambria"/>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References (IEEE Paper format)</a:t>
            </a:r>
            <a:endParaRPr>
              <a:latin typeface="Cambria"/>
              <a:ea typeface="Cambria"/>
              <a:cs typeface="Cambria"/>
              <a:sym typeface="Cambria"/>
            </a:endParaRPr>
          </a:p>
        </p:txBody>
      </p:sp>
      <p:sp>
        <p:nvSpPr>
          <p:cNvPr id="359" name="Google Shape;359;p57"/>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Autofit/>
          </a:bodyPr>
          <a:lstStyle/>
          <a:p>
            <a:pPr indent="0" lvl="0" marL="152400" rtl="0" algn="l">
              <a:lnSpc>
                <a:spcPct val="150000"/>
              </a:lnSpc>
              <a:spcBef>
                <a:spcPts val="0"/>
              </a:spcBef>
              <a:spcAft>
                <a:spcPts val="0"/>
              </a:spcAft>
              <a:buClr>
                <a:schemeClr val="dk1"/>
              </a:buClr>
              <a:buSzPts val="2220"/>
              <a:buFont typeface="Arial"/>
              <a:buNone/>
            </a:pPr>
            <a:r>
              <a:rPr lang="en-US" sz="1800">
                <a:latin typeface="Arial"/>
                <a:ea typeface="Arial"/>
                <a:cs typeface="Arial"/>
                <a:sym typeface="Arial"/>
              </a:rPr>
              <a:t>[7] P. Budzianowski et al., “MultiWOZ: A Large-Scale Multi-Domain Wizard-of-Oz Dataset for Task-Oriented Dialogue Modelling,” EMNLP, 2018.</a:t>
            </a:r>
            <a:endParaRPr sz="1800">
              <a:latin typeface="Arial"/>
              <a:ea typeface="Arial"/>
              <a:cs typeface="Arial"/>
              <a:sym typeface="Arial"/>
            </a:endParaRPr>
          </a:p>
          <a:p>
            <a:pPr indent="0" lvl="0" marL="152400" rtl="0" algn="l">
              <a:lnSpc>
                <a:spcPct val="150000"/>
              </a:lnSpc>
              <a:spcBef>
                <a:spcPts val="0"/>
              </a:spcBef>
              <a:spcAft>
                <a:spcPts val="0"/>
              </a:spcAft>
              <a:buSzPts val="2220"/>
              <a:buNone/>
            </a:pPr>
            <a:r>
              <a:rPr lang="en-US" sz="1800">
                <a:latin typeface="Arial"/>
                <a:ea typeface="Arial"/>
                <a:cs typeface="Arial"/>
                <a:sym typeface="Arial"/>
              </a:rPr>
              <a:t>[8] C. Wu et al., “Transferable Multi-Domain State Generator for Task-Oriented Dialogue Systems,” ACL, 2019.</a:t>
            </a:r>
            <a:endParaRPr sz="1800">
              <a:latin typeface="Arial"/>
              <a:ea typeface="Arial"/>
              <a:cs typeface="Arial"/>
              <a:sym typeface="Arial"/>
            </a:endParaRPr>
          </a:p>
          <a:p>
            <a:pPr indent="0" lvl="0" marL="152400" rtl="0" algn="l">
              <a:lnSpc>
                <a:spcPct val="150000"/>
              </a:lnSpc>
              <a:spcBef>
                <a:spcPts val="0"/>
              </a:spcBef>
              <a:spcAft>
                <a:spcPts val="0"/>
              </a:spcAft>
              <a:buSzPts val="2220"/>
              <a:buNone/>
            </a:pPr>
            <a:r>
              <a:rPr lang="en-US" sz="1800">
                <a:latin typeface="Arial"/>
                <a:ea typeface="Arial"/>
                <a:cs typeface="Arial"/>
                <a:sym typeface="Arial"/>
              </a:rPr>
              <a:t>[9] Q. Chen et al., “BERT for Joint Intent Classification and Slot Filling,” NAACL, 2019.</a:t>
            </a:r>
            <a:endParaRPr sz="1800">
              <a:latin typeface="Arial"/>
              <a:ea typeface="Arial"/>
              <a:cs typeface="Arial"/>
              <a:sym typeface="Arial"/>
            </a:endParaRPr>
          </a:p>
          <a:p>
            <a:pPr indent="0" lvl="0" marL="152400" rtl="0" algn="l">
              <a:lnSpc>
                <a:spcPct val="150000"/>
              </a:lnSpc>
              <a:spcBef>
                <a:spcPts val="0"/>
              </a:spcBef>
              <a:spcAft>
                <a:spcPts val="0"/>
              </a:spcAft>
              <a:buSzPts val="2220"/>
              <a:buNone/>
            </a:pPr>
            <a:r>
              <a:rPr lang="en-US" sz="1800">
                <a:latin typeface="Arial"/>
                <a:ea typeface="Arial"/>
                <a:cs typeface="Arial"/>
                <a:sym typeface="Arial"/>
              </a:rPr>
              <a:t>[10] Y. Lin et al., “A Survey on Named Entity Recognition: From Deep Learning to Low-Resource Languages,” TACL, 2020.</a:t>
            </a:r>
            <a:endParaRPr sz="1800">
              <a:latin typeface="Arial"/>
              <a:ea typeface="Arial"/>
              <a:cs typeface="Arial"/>
              <a:sym typeface="Arial"/>
            </a:endParaRPr>
          </a:p>
          <a:p>
            <a:pPr indent="0" lvl="0" marL="152400" rtl="0" algn="l">
              <a:lnSpc>
                <a:spcPct val="150000"/>
              </a:lnSpc>
              <a:spcBef>
                <a:spcPts val="0"/>
              </a:spcBef>
              <a:spcAft>
                <a:spcPts val="0"/>
              </a:spcAft>
              <a:buClr>
                <a:schemeClr val="dk1"/>
              </a:buClr>
              <a:buSzPts val="2220"/>
              <a:buFont typeface="Arial"/>
              <a:buNone/>
            </a:pPr>
            <a:r>
              <a:rPr lang="en-US" sz="1800">
                <a:latin typeface="Arial"/>
                <a:ea typeface="Arial"/>
                <a:cs typeface="Arial"/>
                <a:sym typeface="Arial"/>
              </a:rPr>
              <a:t>[11] P. Rajpurkar et al., “SQuAD: 100,000+ Questions for Machine Comprehension of Text,” EMNLP, 2016.</a:t>
            </a:r>
            <a:endParaRPr sz="1800">
              <a:latin typeface="Arial"/>
              <a:ea typeface="Arial"/>
              <a:cs typeface="Arial"/>
              <a:sym typeface="Arial"/>
            </a:endParaRPr>
          </a:p>
          <a:p>
            <a:pPr indent="0" lvl="0" marL="152400" rtl="0" algn="l">
              <a:lnSpc>
                <a:spcPct val="150000"/>
              </a:lnSpc>
              <a:spcBef>
                <a:spcPts val="0"/>
              </a:spcBef>
              <a:spcAft>
                <a:spcPts val="0"/>
              </a:spcAft>
              <a:buSzPts val="2220"/>
              <a:buNone/>
            </a:pPr>
            <a:r>
              <a:rPr lang="en-US" sz="1800">
                <a:latin typeface="Arial"/>
                <a:ea typeface="Arial"/>
                <a:cs typeface="Arial"/>
                <a:sym typeface="Arial"/>
              </a:rPr>
              <a:t>[12] Z. Yang et al., “HotpotQA: A Dataset for Diverse, Explainable Multi-hop Question Answering,” EMNLP, 2018.</a:t>
            </a:r>
            <a:endParaRPr sz="1800">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References (IEEE Paper format)</a:t>
            </a:r>
            <a:endParaRPr>
              <a:latin typeface="Cambria"/>
              <a:ea typeface="Cambria"/>
              <a:cs typeface="Cambria"/>
              <a:sym typeface="Cambria"/>
            </a:endParaRPr>
          </a:p>
        </p:txBody>
      </p:sp>
      <p:sp>
        <p:nvSpPr>
          <p:cNvPr id="365" name="Google Shape;365;p58"/>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0" lvl="0" marL="152400" rtl="0" algn="l">
              <a:lnSpc>
                <a:spcPct val="150000"/>
              </a:lnSpc>
              <a:spcBef>
                <a:spcPts val="0"/>
              </a:spcBef>
              <a:spcAft>
                <a:spcPts val="0"/>
              </a:spcAft>
              <a:buSzPts val="2400"/>
              <a:buNone/>
            </a:pPr>
            <a:r>
              <a:rPr lang="en-US" sz="1800">
                <a:latin typeface="Arial"/>
                <a:ea typeface="Arial"/>
                <a:cs typeface="Arial"/>
                <a:sym typeface="Arial"/>
              </a:rPr>
              <a:t>[13] A. Conneau et al., “Unsupervised Cross-lingual Representation Learning at Scale,” ACL, 2020.</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rPr lang="en-US" sz="1800">
                <a:latin typeface="Arial"/>
                <a:ea typeface="Arial"/>
                <a:cs typeface="Arial"/>
                <a:sym typeface="Arial"/>
              </a:rPr>
              <a:t>[14] K. Bali et al., “Challenges in Code-Mixed Indian Social Media Text,” ICON Workshop, 2014.</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rPr lang="en-US" sz="1800">
                <a:latin typeface="Arial"/>
                <a:ea typeface="Arial"/>
                <a:cs typeface="Arial"/>
                <a:sym typeface="Arial"/>
              </a:rPr>
              <a:t>[15] M. Lyu et al., “Differentially Private Language Models for Text Generation,” ICML, 2020.</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rPr lang="en-US" sz="1800">
                <a:latin typeface="Arial"/>
                <a:ea typeface="Arial"/>
                <a:cs typeface="Arial"/>
                <a:sym typeface="Arial"/>
              </a:rPr>
              <a:t>[16] B. Settles, “Active Learning Literature Survey,” University of Wisconsin-Madison, Tech. Report, 2009.</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t/>
            </a:r>
            <a:endParaRPr sz="1800">
              <a:latin typeface="Arial"/>
              <a:ea typeface="Arial"/>
              <a:cs typeface="Arial"/>
              <a:sym typeface="Arial"/>
            </a:endParaRPr>
          </a:p>
          <a:p>
            <a:pPr indent="0" lvl="0" marL="152400" rtl="0" algn="l">
              <a:lnSpc>
                <a:spcPct val="115000"/>
              </a:lnSpc>
              <a:spcBef>
                <a:spcPts val="0"/>
              </a:spcBef>
              <a:spcAft>
                <a:spcPts val="0"/>
              </a:spcAft>
              <a:buSzPts val="2400"/>
              <a:buNone/>
            </a:pPr>
            <a:r>
              <a:t/>
            </a:r>
            <a:endParaRPr sz="1800">
              <a:latin typeface="Arial"/>
              <a:ea typeface="Arial"/>
              <a:cs typeface="Arial"/>
              <a:sym typeface="Arial"/>
            </a:endParaRPr>
          </a:p>
          <a:p>
            <a:pPr indent="0" lvl="0" marL="152400" rtl="0" algn="l">
              <a:lnSpc>
                <a:spcPct val="115000"/>
              </a:lnSpc>
              <a:spcBef>
                <a:spcPts val="0"/>
              </a:spcBef>
              <a:spcAft>
                <a:spcPts val="0"/>
              </a:spcAft>
              <a:buSzPts val="2400"/>
              <a:buNone/>
            </a:pPr>
            <a:r>
              <a:t/>
            </a:r>
            <a:endParaRPr sz="1800">
              <a:latin typeface="Arial"/>
              <a:ea typeface="Arial"/>
              <a:cs typeface="Arial"/>
              <a:sym typeface="Arial"/>
            </a:endParaRPr>
          </a:p>
          <a:p>
            <a:pPr indent="0" lvl="0" marL="0" rtl="0" algn="l">
              <a:lnSpc>
                <a:spcPct val="115000"/>
              </a:lnSpc>
              <a:spcBef>
                <a:spcPts val="0"/>
              </a:spcBef>
              <a:spcAft>
                <a:spcPts val="0"/>
              </a:spcAft>
              <a:buSzPts val="2400"/>
              <a:buNone/>
            </a:pPr>
            <a:r>
              <a:t/>
            </a:r>
            <a:endParaRPr sz="1800">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pic>
        <p:nvPicPr>
          <p:cNvPr id="370" name="Google Shape;370;p59"/>
          <p:cNvPicPr preferRelativeResize="0"/>
          <p:nvPr/>
        </p:nvPicPr>
        <p:blipFill rotWithShape="1">
          <a:blip r:embed="rId3">
            <a:alphaModFix/>
          </a:blip>
          <a:srcRect b="0" l="0" r="0" t="0"/>
          <a:stretch/>
        </p:blipFill>
        <p:spPr>
          <a:xfrm>
            <a:off x="4082811" y="1441315"/>
            <a:ext cx="3893305" cy="393547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