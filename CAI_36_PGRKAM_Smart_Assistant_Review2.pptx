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F12EEC-94F0-4F71-809B-1FD4BA2E3223}">
  <a:tblStyle styleId="{99F12EEC-94F0-4F71-809B-1FD4BA2E3223}"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8DE071EA-CBD9-42B7-A245-114325697829}"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54ECD32-9E77-4681-9E0F-04F7D2921DDB}"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47793970e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847793970e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47793970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3847793970e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47793970e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847793970e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47793970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847793970e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47793970e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847793970e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847793970e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847793970e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47793970e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3847793970e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47793970e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847793970e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47793970e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847793970e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47793970e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847793970e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47793970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847793970e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47793970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847793970e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8a884f5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88a884f50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47793970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847793970e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847793970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847793970e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847793970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847793970e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47793970e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847793970e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47793970e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3847793970e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847793970e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g3847793970e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4779397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g3847793970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847793970e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g3847793970e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847793970e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3847793970e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github.com/ashwin2947/PGRKAM-Smart-Assistan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PGRKAM Smart Assistant: An LLM-Powered Conversational Platform for Job Seekers</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CAI_36</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Mr. Jai Kumar B</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Assistant Professor</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School of Computer Science and Engineering</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Presidency University</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{99F12EEC-94F0-4F71-809B-1FD4BA2E3223}</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CSE7101- Capstone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Review-2</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 </a:t>
            </a:r>
            <a:r>
              <a:rPr b="1" i="0" lang="en-US" sz="1800" u="none" cap="none" strike="noStrike">
                <a:solidFill>
                  <a:srgbClr val="FF0000"/>
                </a:solidFill>
                <a:latin typeface="Cambria"/>
                <a:ea typeface="Cambria"/>
                <a:cs typeface="Cambria"/>
                <a:sym typeface="Cambria"/>
              </a:rPr>
              <a:t>Dr. Afroz Pasha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{8DE071EA-CBD9-42B7-A245-114325697829}</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PSCS_17</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600">
                <a:latin typeface="Arial"/>
                <a:ea typeface="Arial"/>
                <a:cs typeface="Arial"/>
                <a:sym typeface="Arial"/>
              </a:rPr>
              <a:t>Organization:</a:t>
            </a:r>
            <a:r>
              <a:rPr lang="en-US" sz="1600">
                <a:latin typeface="Arial"/>
                <a:ea typeface="Arial"/>
                <a:cs typeface="Arial"/>
                <a:sym typeface="Arial"/>
              </a:rPr>
              <a:t> “Government of Punjab”</a:t>
            </a:r>
            <a:endParaRPr sz="1600">
              <a:latin typeface="Arial"/>
              <a:ea typeface="Arial"/>
              <a:cs typeface="Arial"/>
              <a:sym typeface="Arial"/>
            </a:endParaRPr>
          </a:p>
          <a:p>
            <a:pPr indent="-190500" lvl="0" marL="342900" rtl="0" algn="just">
              <a:lnSpc>
                <a:spcPct val="80000"/>
              </a:lnSpc>
              <a:spcBef>
                <a:spcPts val="0"/>
              </a:spcBef>
              <a:spcAft>
                <a:spcPts val="0"/>
              </a:spcAft>
              <a:buSzPts val="1680"/>
              <a:buNone/>
            </a:pPr>
            <a:r>
              <a:t/>
            </a:r>
            <a:endParaRPr b="1" sz="16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600">
                <a:latin typeface="Arial"/>
                <a:ea typeface="Arial"/>
                <a:cs typeface="Arial"/>
                <a:sym typeface="Arial"/>
              </a:rPr>
              <a:t>Category (Hardware / Software / Both) :</a:t>
            </a:r>
            <a:r>
              <a:rPr lang="en-US" sz="1600">
                <a:latin typeface="Arial"/>
                <a:ea typeface="Arial"/>
                <a:cs typeface="Arial"/>
                <a:sym typeface="Arial"/>
              </a:rPr>
              <a:t> “Software”</a:t>
            </a:r>
            <a:endParaRPr sz="16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600">
                <a:latin typeface="Arial"/>
                <a:ea typeface="Arial"/>
                <a:cs typeface="Arial"/>
                <a:sym typeface="Arial"/>
              </a:rPr>
              <a:t>Problem Description:</a:t>
            </a:r>
            <a:r>
              <a:rPr lang="en-US" sz="1600">
                <a:latin typeface="Arial"/>
                <a:ea typeface="Arial"/>
                <a:cs typeface="Arial"/>
                <a:sym typeface="Arial"/>
              </a:rPr>
              <a:t> “The Employment Department at present has a digital platform www.pgrkam.com and its mobile application to provide almost all services offered to job seekers and employers through digital means. The portal has multiple modules like private sector jobs, government jobs, self-employment avenues, foreign jobs, foreign study, counseling, guidance, induction into armed forces, job melas, etc. Currently, when a user visits the portal/app, there is no hand-holding mechanism to help the user get to the part of the digital platform which will resolve his queries. The user is required to navigate across multiple modules on the portal/ app to search for answers.”</a:t>
            </a:r>
            <a:endParaRPr sz="16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05" name="Google Shape;105;p1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80000"/>
              </a:lnSpc>
              <a:spcBef>
                <a:spcPts val="0"/>
              </a:spcBef>
              <a:spcAft>
                <a:spcPts val="0"/>
              </a:spcAft>
              <a:buSzPts val="1680"/>
              <a:buNone/>
            </a:pPr>
            <a:r>
              <a:rPr lang="en-US" sz="1600">
                <a:latin typeface="Arial"/>
                <a:ea typeface="Arial"/>
                <a:cs typeface="Arial"/>
                <a:sym typeface="Arial"/>
              </a:rPr>
              <a:t>The PGRKAM platform lacks an effective guidance system, making it difficult for users to find job notifications, skill programs, and career resources. This project develops an </a:t>
            </a:r>
            <a:r>
              <a:rPr b="1" lang="en-US" sz="1600">
                <a:latin typeface="Arial"/>
                <a:ea typeface="Arial"/>
                <a:cs typeface="Arial"/>
                <a:sym typeface="Arial"/>
              </a:rPr>
              <a:t>AI-powered conversational assistant</a:t>
            </a:r>
            <a:r>
              <a:rPr lang="en-US" sz="1600">
                <a:latin typeface="Arial"/>
                <a:ea typeface="Arial"/>
                <a:cs typeface="Arial"/>
                <a:sym typeface="Arial"/>
              </a:rPr>
              <a:t> to provide intelligent, task-oriented guidance. Using </a:t>
            </a:r>
            <a:r>
              <a:rPr b="1" lang="en-US" sz="1600">
                <a:latin typeface="Arial"/>
                <a:ea typeface="Arial"/>
                <a:cs typeface="Arial"/>
                <a:sym typeface="Arial"/>
              </a:rPr>
              <a:t>LLMs with retrieval-augmented generation (RAG)</a:t>
            </a:r>
            <a:r>
              <a:rPr lang="en-US" sz="1600">
                <a:latin typeface="Arial"/>
                <a:ea typeface="Arial"/>
                <a:cs typeface="Arial"/>
                <a:sym typeface="Arial"/>
              </a:rPr>
              <a:t>, the system delivers accurate, context-aware, and multilingual responses. The assistant integrates </a:t>
            </a:r>
            <a:r>
              <a:rPr b="1" lang="en-US" sz="1600">
                <a:latin typeface="Arial"/>
                <a:ea typeface="Arial"/>
                <a:cs typeface="Arial"/>
                <a:sym typeface="Arial"/>
              </a:rPr>
              <a:t>intent recognition, entity extraction, dialogue management, and knowledge retrieval</a:t>
            </a:r>
            <a:r>
              <a:rPr lang="en-US" sz="1600">
                <a:latin typeface="Arial"/>
                <a:ea typeface="Arial"/>
                <a:cs typeface="Arial"/>
                <a:sym typeface="Arial"/>
              </a:rPr>
              <a:t> to streamline information discovery and enhance user experience.</a:t>
            </a:r>
            <a:endParaRPr sz="16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11" name="Google Shape;111;p16"/>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152400" rtl="0" algn="l">
              <a:lnSpc>
                <a:spcPct val="115000"/>
              </a:lnSpc>
              <a:spcBef>
                <a:spcPts val="0"/>
              </a:spcBef>
              <a:spcAft>
                <a:spcPts val="0"/>
              </a:spcAft>
              <a:buSzPts val="2400"/>
              <a:buNone/>
            </a:pPr>
            <a:r>
              <a:rPr b="1" lang="en-US" sz="1600">
                <a:latin typeface="Arial"/>
                <a:ea typeface="Arial"/>
                <a:cs typeface="Arial"/>
                <a:sym typeface="Arial"/>
              </a:rPr>
              <a:t>Overview</a:t>
            </a:r>
            <a:endParaRPr b="1"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rPr lang="en-US" sz="1600">
                <a:latin typeface="Arial"/>
                <a:ea typeface="Arial"/>
                <a:cs typeface="Arial"/>
                <a:sym typeface="Arial"/>
              </a:rPr>
              <a:t>This section reviews existing research relevant to building intelligent conversational agents for government job portals. The focus is on document understanding, information retrieval, dialogue management, multilingual processing, and privacy—each addressing specific challenges in delivering accurate, accessible, and trustworthy services to citizens.</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rPr b="1" lang="en-US" sz="1600">
                <a:latin typeface="Arial"/>
                <a:ea typeface="Arial"/>
                <a:cs typeface="Arial"/>
                <a:sym typeface="Arial"/>
              </a:rPr>
              <a:t>1. Document Understanding for Job Notifications</a:t>
            </a:r>
            <a:endParaRPr b="1"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Research on layout-aware document models (LayoutLM, TILT).</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Importance of OCR + table extraction for structured data from scanned PDFs.</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Gap: most job notices are low-quality scans requiring robust preprocessing.</a:t>
            </a:r>
            <a:endParaRPr sz="16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17" name="Google Shape;117;p17"/>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2. Information Retrieval and Retrieval-Augmented Generation</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Dense Passage Retrieval (DPR) and ColBERT for semantic matching.</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RAG framework combining retrieval + generation to reduce hallucinations.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answering user queries with precise, source-backed content.</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b="1"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3. Task-Oriented Dialogue and State Tracking</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MultiWOZ dataset as benchmark for multi-domain dialogue systems.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Dialogue state tracking methods for intent slots (e.g., job role, deadline).</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enabling multi-turn flows like “Check eligibility → Apply → Track status.”</a:t>
            </a:r>
            <a:endParaRPr sz="16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23" name="Google Shape;123;p18"/>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4. Intent Classification and Entity Recognition</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Transformer-based joint intent + slot filling models.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NER for extracting job titles, dates, qualifications, and departments.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mapping user free-text queries into structured system actions.</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5. Question Answering Across Multiple Notices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Extractive QA methods (SQuAD) vs. multi-hop QA (HotpotQA).</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Need to consolidate conflicting or scattered job information.</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user asks “How many vacancies are open in Police Department 2025?”</a:t>
            </a:r>
            <a:endParaRPr sz="16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29" name="Google Shape;129;p19"/>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6. Multilingual and Code-Switched Queries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XLM-R and cross-lingual embeddings for multi-language handling.</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Code-switching challenges in Indian contexts (English + regional languages).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user query like “Punjab Police ki last date kya hai?”</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7. Privacy, Explainability, and Human-in-the-Loop Approaches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Differential privacy for protecting user PII.</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Provenance and explainability (showing document sources).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Active learning for iterative improvements from real user queries.</a:t>
            </a:r>
            <a:endParaRPr sz="16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35" name="Google Shape;135;p20"/>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50000"/>
              </a:lnSpc>
              <a:spcBef>
                <a:spcPts val="0"/>
              </a:spcBef>
              <a:spcAft>
                <a:spcPts val="0"/>
              </a:spcAft>
              <a:buNone/>
            </a:pPr>
            <a:r>
              <a:rPr b="1" lang="en-US" sz="1600">
                <a:latin typeface="Arial"/>
                <a:ea typeface="Arial"/>
                <a:cs typeface="Arial"/>
                <a:sym typeface="Arial"/>
              </a:rPr>
              <a:t>Summary of Gaps and Relevance</a:t>
            </a:r>
            <a:endParaRPr b="1" sz="1600">
              <a:latin typeface="Arial"/>
              <a:ea typeface="Arial"/>
              <a:cs typeface="Arial"/>
              <a:sym typeface="Arial"/>
            </a:endParaRPr>
          </a:p>
          <a:p>
            <a:pPr indent="0" lvl="0" marL="457200" rtl="0" algn="l">
              <a:lnSpc>
                <a:spcPct val="150000"/>
              </a:lnSpc>
              <a:spcBef>
                <a:spcPts val="0"/>
              </a:spcBef>
              <a:spcAft>
                <a:spcPts val="0"/>
              </a:spcAft>
              <a:buNone/>
            </a:pPr>
            <a:r>
              <a:t/>
            </a:r>
            <a:endParaRPr b="1" sz="1600">
              <a:latin typeface="Arial"/>
              <a:ea typeface="Arial"/>
              <a:cs typeface="Arial"/>
              <a:sym typeface="Arial"/>
            </a:endParaRPr>
          </a:p>
          <a:p>
            <a:pPr indent="0" lvl="0" marL="914400" rtl="0" algn="l">
              <a:lnSpc>
                <a:spcPct val="150000"/>
              </a:lnSpc>
              <a:spcBef>
                <a:spcPts val="0"/>
              </a:spcBef>
              <a:spcAft>
                <a:spcPts val="0"/>
              </a:spcAft>
              <a:buNone/>
            </a:pPr>
            <a:r>
              <a:rPr lang="en-US" sz="1600">
                <a:latin typeface="Arial"/>
                <a:ea typeface="Arial"/>
                <a:cs typeface="Arial"/>
                <a:sym typeface="Arial"/>
              </a:rPr>
              <a:t>While prior research provides strong foundations in retrieval, dialogue, and document understanding, few studies apply these techniques directly to government employment portals. Our approach builds on these methods, emphasizing factual accuracy, multilingual support, and explainability—key for citizen trust in e-governance systems.</a:t>
            </a:r>
            <a:endParaRPr sz="16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41" name="Google Shape;141;p21"/>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SzPts val="523"/>
              <a:buNone/>
            </a:pPr>
            <a:r>
              <a:rPr b="1" lang="en-US" sz="1600" u="sng">
                <a:latin typeface="Arial"/>
                <a:ea typeface="Arial"/>
                <a:cs typeface="Arial"/>
                <a:sym typeface="Arial"/>
              </a:rPr>
              <a:t>Problem Statement</a:t>
            </a:r>
            <a:endParaRPr sz="1600" u="sng">
              <a:latin typeface="Arial"/>
              <a:ea typeface="Arial"/>
              <a:cs typeface="Arial"/>
              <a:sym typeface="Arial"/>
            </a:endParaRPr>
          </a:p>
          <a:p>
            <a:pPr indent="0" lvl="0" marL="457200" rtl="0" algn="just">
              <a:lnSpc>
                <a:spcPct val="150000"/>
              </a:lnSpc>
              <a:spcBef>
                <a:spcPts val="0"/>
              </a:spcBef>
              <a:spcAft>
                <a:spcPts val="0"/>
              </a:spcAft>
              <a:buSzPts val="523"/>
              <a:buNone/>
            </a:pPr>
            <a:r>
              <a:rPr lang="en-US" sz="1600">
                <a:latin typeface="Arial"/>
                <a:ea typeface="Arial"/>
                <a:cs typeface="Arial"/>
                <a:sym typeface="Arial"/>
              </a:rPr>
              <a:t>	</a:t>
            </a:r>
            <a:r>
              <a:rPr lang="en-US" sz="1600">
                <a:latin typeface="Arial"/>
                <a:ea typeface="Arial"/>
                <a:cs typeface="Arial"/>
                <a:sym typeface="Arial"/>
              </a:rPr>
              <a:t>The current PGRKAM digital platform lacks an effective intelligent guidance system, forcing users to manually navigate multiple modules to locate information. This leads to poor user experience, inefficiency, and increased cognitive load. The platform does not provide a conversational interface that can assist users in real time, understand natural language queries (including multilingual and code-switched inputs), and streamline the discovery of relevant details about government jobs, skill development, or foreign counseling. Consequently, users spend excessive time and effort searching for information, highlighting the need for an AI-driven, interactive solution.</a:t>
            </a:r>
            <a:endParaRPr sz="1600">
              <a:latin typeface="Arial"/>
              <a:ea typeface="Arial"/>
              <a:cs typeface="Arial"/>
              <a:sym typeface="Arial"/>
            </a:endParaRPr>
          </a:p>
          <a:p>
            <a:pPr indent="0" lvl="0" marL="457200" rtl="0" algn="just">
              <a:lnSpc>
                <a:spcPct val="150000"/>
              </a:lnSpc>
              <a:spcBef>
                <a:spcPts val="0"/>
              </a:spcBef>
              <a:spcAft>
                <a:spcPts val="0"/>
              </a:spcAft>
              <a:buSzPts val="523"/>
              <a:buNone/>
            </a:pPr>
            <a:r>
              <a:t/>
            </a:r>
            <a:endParaRPr sz="1600">
              <a:latin typeface="Arial"/>
              <a:ea typeface="Arial"/>
              <a:cs typeface="Arial"/>
              <a:sym typeface="Arial"/>
            </a:endParaRPr>
          </a:p>
          <a:p>
            <a:pPr indent="0" lvl="0" marL="0" rtl="0" algn="l">
              <a:spcBef>
                <a:spcPts val="0"/>
              </a:spcBef>
              <a:spcAft>
                <a:spcPts val="0"/>
              </a:spcAft>
              <a:buSzPts val="1700"/>
              <a:buNone/>
            </a:pPr>
            <a:r>
              <a:rPr b="1" lang="en-US" sz="1600" u="sng">
                <a:latin typeface="Arial"/>
                <a:ea typeface="Arial"/>
                <a:cs typeface="Arial"/>
                <a:sym typeface="Arial"/>
              </a:rPr>
              <a:t>Goal</a:t>
            </a:r>
            <a:r>
              <a:rPr b="1" lang="en-US" sz="1600">
                <a:latin typeface="Arial"/>
                <a:ea typeface="Arial"/>
                <a:cs typeface="Arial"/>
                <a:sym typeface="Arial"/>
              </a:rPr>
              <a:t>: </a:t>
            </a:r>
            <a:endParaRPr b="1" sz="1600">
              <a:latin typeface="Arial"/>
              <a:ea typeface="Arial"/>
              <a:cs typeface="Arial"/>
              <a:sym typeface="Arial"/>
            </a:endParaRPr>
          </a:p>
          <a:p>
            <a:pPr indent="0" lvl="0" marL="0" rtl="0" algn="l">
              <a:spcBef>
                <a:spcPts val="0"/>
              </a:spcBef>
              <a:spcAft>
                <a:spcPts val="0"/>
              </a:spcAft>
              <a:buClr>
                <a:schemeClr val="dk1"/>
              </a:buClr>
              <a:buSzPts val="1700"/>
              <a:buFont typeface="Arial"/>
              <a:buNone/>
            </a:pPr>
            <a:r>
              <a:rPr b="1" lang="en-US" sz="1600">
                <a:latin typeface="Arial"/>
                <a:ea typeface="Arial"/>
                <a:cs typeface="Arial"/>
                <a:sym typeface="Arial"/>
              </a:rPr>
              <a:t>		</a:t>
            </a:r>
            <a:r>
              <a:rPr lang="en-US" sz="1600">
                <a:latin typeface="Arial"/>
                <a:ea typeface="Arial"/>
                <a:cs typeface="Arial"/>
                <a:sym typeface="Arial"/>
              </a:rPr>
              <a:t>Develop an AI-driven conversational assistant for the PGRKAM portal to improve user experience, efficiency, and accessibility.</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Objectives</a:t>
            </a:r>
            <a:endParaRPr>
              <a:latin typeface="Cambria"/>
              <a:ea typeface="Cambria"/>
              <a:cs typeface="Cambria"/>
              <a:sym typeface="Cambria"/>
            </a:endParaRPr>
          </a:p>
        </p:txBody>
      </p:sp>
      <p:sp>
        <p:nvSpPr>
          <p:cNvPr id="147" name="Google Shape;147;p22"/>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Intelligent Information Retrieval:</a:t>
            </a:r>
            <a:endParaRPr b="1"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Implement a hybrid search system combining semantic embeddings and keyword-based search to retrieve accurate and relevant information from job notices, skill development modules, and foreign counseling resources.</a:t>
            </a:r>
            <a:endParaRPr sz="1600">
              <a:solidFill>
                <a:schemeClr val="dk1"/>
              </a:solidFill>
            </a:endParaRPr>
          </a:p>
          <a:p>
            <a:pPr indent="0" lvl="0" marL="1828800" marR="0" rtl="0" algn="l">
              <a:lnSpc>
                <a:spcPct val="150000"/>
              </a:lnSpc>
              <a:spcBef>
                <a:spcPts val="0"/>
              </a:spcBef>
              <a:spcAft>
                <a:spcPts val="0"/>
              </a:spcAft>
              <a:buNone/>
            </a:pPr>
            <a:r>
              <a:t/>
            </a:r>
            <a:endParaRPr sz="1600">
              <a:solidFill>
                <a:schemeClr val="dk1"/>
              </a:solidFill>
            </a:endParaRPr>
          </a:p>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Conversational Guidance (Interactive Chatbot):</a:t>
            </a:r>
            <a:endParaRPr b="1"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Design a multi-turn dialogue system that maintains context, understands natural language queries (including multilingual and code-switched inputs), and guides users through tasks such as job application tracking or resource discovery.</a:t>
            </a:r>
            <a:endParaRPr sz="1600">
              <a:solidFill>
                <a:schemeClr val="dk1"/>
              </a:solidFill>
            </a:endParaRPr>
          </a:p>
          <a:p>
            <a:pPr indent="0" lvl="0" marL="914400" marR="0" rtl="0" algn="l">
              <a:lnSpc>
                <a:spcPct val="150000"/>
              </a:lnSpc>
              <a:spcBef>
                <a:spcPts val="0"/>
              </a:spcBef>
              <a:spcAft>
                <a:spcPts val="0"/>
              </a:spcAft>
              <a:buNone/>
            </a:pPr>
            <a:r>
              <a:t/>
            </a:r>
            <a:endParaRPr sz="1600">
              <a:solidFill>
                <a:schemeClr val="dk1"/>
              </a:solidFill>
            </a:endParaRPr>
          </a:p>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Task-Oriented Assistance:</a:t>
            </a:r>
            <a:endParaRPr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Enable users to complete goal-directed tasks efficiently, such as finding deadlines, eligibility criteria, or skill programs, reducing manual navigation across portal modules.</a:t>
            </a:r>
            <a:endParaRPr sz="1600">
              <a:solidFill>
                <a:schemeClr val="dk1"/>
              </a:solidFill>
            </a:endParaRPr>
          </a:p>
          <a:p>
            <a:pPr indent="0" lvl="0" marL="914400" marR="0" rtl="0" algn="l">
              <a:lnSpc>
                <a:spcPct val="150000"/>
              </a:lnSpc>
              <a:spcBef>
                <a:spcPts val="0"/>
              </a:spcBef>
              <a:spcAft>
                <a:spcPts val="0"/>
              </a:spcAft>
              <a:buNone/>
            </a:pPr>
            <a:r>
              <a:t/>
            </a:r>
            <a:endParaRPr sz="1600">
              <a:solidFill>
                <a:schemeClr val="dk1"/>
              </a:solidFill>
            </a:endParaRPr>
          </a:p>
          <a:p>
            <a:pPr indent="0" lvl="0" marL="1371600" marR="0" rtl="0" algn="l">
              <a:lnSpc>
                <a:spcPct val="150000"/>
              </a:lnSpc>
              <a:spcBef>
                <a:spcPts val="0"/>
              </a:spcBef>
              <a:spcAft>
                <a:spcPts val="0"/>
              </a:spcAft>
              <a:buNone/>
            </a:pPr>
            <a:r>
              <a:t/>
            </a:r>
            <a:endParaRPr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7620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Objectives</a:t>
            </a:r>
            <a:endParaRPr>
              <a:latin typeface="Cambria"/>
              <a:ea typeface="Cambria"/>
              <a:cs typeface="Cambria"/>
              <a:sym typeface="Cambria"/>
            </a:endParaRPr>
          </a:p>
        </p:txBody>
      </p:sp>
      <p:sp>
        <p:nvSpPr>
          <p:cNvPr id="153" name="Google Shape;153;p23"/>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t/>
            </a:r>
            <a:endParaRPr sz="1600">
              <a:solidFill>
                <a:schemeClr val="dk1"/>
              </a:solidFill>
            </a:endParaRPr>
          </a:p>
          <a:p>
            <a:pPr indent="0" lvl="0" marL="0" marR="0" rtl="0" algn="l">
              <a:lnSpc>
                <a:spcPct val="150000"/>
              </a:lnSpc>
              <a:spcBef>
                <a:spcPts val="0"/>
              </a:spcBef>
              <a:spcAft>
                <a:spcPts val="0"/>
              </a:spcAft>
              <a:buNone/>
            </a:pPr>
            <a:r>
              <a:rPr b="1" lang="en-US" sz="1600">
                <a:solidFill>
                  <a:schemeClr val="dk1"/>
                </a:solidFill>
              </a:rPr>
              <a:t>4. Explainability and Provenance:</a:t>
            </a:r>
            <a:endParaRPr b="1"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457200" lvl="0" marL="457200" marR="0" rtl="0" algn="l">
              <a:lnSpc>
                <a:spcPct val="150000"/>
              </a:lnSpc>
              <a:spcBef>
                <a:spcPts val="0"/>
              </a:spcBef>
              <a:spcAft>
                <a:spcPts val="0"/>
              </a:spcAft>
              <a:buNone/>
            </a:pPr>
            <a:r>
              <a:rPr lang="en-US" sz="1600">
                <a:solidFill>
                  <a:schemeClr val="dk1"/>
                </a:solidFill>
              </a:rPr>
              <a:t>Provide transparent responses with references to source documents or official notifications, ensuring user trust and compliance with government standards.</a:t>
            </a:r>
            <a:endParaRPr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0" lvl="0" marL="0" marR="0" rtl="0" algn="l">
              <a:lnSpc>
                <a:spcPct val="150000"/>
              </a:lnSpc>
              <a:spcBef>
                <a:spcPts val="0"/>
              </a:spcBef>
              <a:spcAft>
                <a:spcPts val="0"/>
              </a:spcAft>
              <a:buNone/>
            </a:pPr>
            <a:r>
              <a:rPr b="1" lang="en-US" sz="1600">
                <a:solidFill>
                  <a:schemeClr val="dk1"/>
                </a:solidFill>
              </a:rPr>
              <a:t>5. Continuous Learning &amp; Improvement:</a:t>
            </a:r>
            <a:endParaRPr b="1"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457200" lvl="0" marL="457200" marR="0" rtl="0" algn="l">
              <a:lnSpc>
                <a:spcPct val="150000"/>
              </a:lnSpc>
              <a:spcBef>
                <a:spcPts val="0"/>
              </a:spcBef>
              <a:spcAft>
                <a:spcPts val="0"/>
              </a:spcAft>
              <a:buNone/>
            </a:pPr>
            <a:r>
              <a:rPr lang="en-US" sz="1600">
                <a:solidFill>
                  <a:schemeClr val="dk1"/>
                </a:solidFill>
              </a:rPr>
              <a:t>Integrate a feedback loop where user interactions are logged (without compromising privacy) to improve retrieval accuracy, intent classification, and dialogue fluency over time.</a:t>
            </a:r>
            <a:endParaRPr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Background and Related work for title Selection</a:t>
            </a:r>
            <a:endParaRPr>
              <a:latin typeface="Cambria"/>
              <a:ea typeface="Cambria"/>
              <a:cs typeface="Cambria"/>
              <a:sym typeface="Cambria"/>
            </a:endParaRPr>
          </a:p>
        </p:txBody>
      </p:sp>
      <p:sp>
        <p:nvSpPr>
          <p:cNvPr id="159" name="Google Shape;159;p24"/>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0"/>
              </a:spcBef>
              <a:spcAft>
                <a:spcPts val="0"/>
              </a:spcAft>
              <a:buSzPts val="523"/>
              <a:buNone/>
            </a:pPr>
            <a:r>
              <a:rPr lang="en-US" sz="1600">
                <a:latin typeface="Arial"/>
                <a:ea typeface="Arial"/>
                <a:cs typeface="Arial"/>
                <a:sym typeface="Arial"/>
              </a:rPr>
              <a:t>The title, </a:t>
            </a:r>
            <a:r>
              <a:rPr b="1" lang="en-US" sz="1600">
                <a:latin typeface="Arial"/>
                <a:ea typeface="Arial"/>
                <a:cs typeface="Arial"/>
                <a:sym typeface="Arial"/>
              </a:rPr>
              <a:t>“PGRKAM Smart Assistant: An LLM-Powered Conversational Platform for Job Seekers”</a:t>
            </a:r>
            <a:r>
              <a:rPr lang="en-US" sz="1600">
                <a:latin typeface="Arial"/>
                <a:ea typeface="Arial"/>
                <a:cs typeface="Arial"/>
                <a:sym typeface="Arial"/>
              </a:rPr>
              <a:t> was carefully chosen to reflect both the technological foundation and the practical purpose of the project.</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Platform Context (PGRKAM): </a:t>
            </a:r>
            <a:r>
              <a:rPr lang="en-US" sz="1600">
                <a:latin typeface="Arial"/>
                <a:ea typeface="Arial"/>
                <a:cs typeface="Arial"/>
                <a:sym typeface="Arial"/>
              </a:rPr>
              <a:t>The project focuses on the PGRKAM digital platform, a government portal for job seekers, skill development, and career guidance. The inclusion of the platform name emphasizes the domain-specific applicability of the solution.</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Core Technology (LLM-Powered): </a:t>
            </a:r>
            <a:r>
              <a:rPr lang="en-US" sz="1600">
                <a:latin typeface="Arial"/>
                <a:ea typeface="Arial"/>
                <a:cs typeface="Arial"/>
                <a:sym typeface="Arial"/>
              </a:rPr>
              <a:t>The system leverages Large Language Models (LLMs), enabling natural language understanding, contextual dialogue management, and retrieval-augmented generation (RAG). This highlights the project’s reliance on state-of-the-art AI research for conversational interfaces.</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Purpose (Conversational Platform for Job Seekers): </a:t>
            </a:r>
            <a:r>
              <a:rPr lang="en-US" sz="1600">
                <a:latin typeface="Arial"/>
                <a:ea typeface="Arial"/>
                <a:cs typeface="Arial"/>
                <a:sym typeface="Arial"/>
              </a:rPr>
              <a:t>The solution is designed to provide task-oriented guidance, streamline information discovery, and enhance user experience for individuals navigating complex government resources.</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Background and Related work for title Selection</a:t>
            </a:r>
            <a:endParaRPr>
              <a:latin typeface="Cambria"/>
              <a:ea typeface="Cambria"/>
              <a:cs typeface="Cambria"/>
              <a:sym typeface="Cambria"/>
            </a:endParaRPr>
          </a:p>
        </p:txBody>
      </p:sp>
      <p:sp>
        <p:nvSpPr>
          <p:cNvPr id="165" name="Google Shape;165;p25"/>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457200" lvl="0" marL="0" rtl="0" algn="just">
              <a:lnSpc>
                <a:spcPct val="100000"/>
              </a:lnSpc>
              <a:spcBef>
                <a:spcPts val="0"/>
              </a:spcBef>
              <a:spcAft>
                <a:spcPts val="0"/>
              </a:spcAft>
              <a:buSzPts val="523"/>
              <a:buNone/>
            </a:pPr>
            <a:r>
              <a:rPr b="1" lang="en-US" sz="1600">
                <a:latin typeface="Arial"/>
                <a:ea typeface="Arial"/>
                <a:cs typeface="Arial"/>
                <a:sym typeface="Arial"/>
              </a:rPr>
              <a:t>Relation to Existing Work:</a:t>
            </a:r>
            <a:endParaRPr b="1" sz="1600">
              <a:latin typeface="Arial"/>
              <a:ea typeface="Arial"/>
              <a:cs typeface="Arial"/>
              <a:sym typeface="Arial"/>
            </a:endParaRPr>
          </a:p>
          <a:p>
            <a:pPr indent="0" lvl="0" marL="457200" rtl="0" algn="just">
              <a:lnSpc>
                <a:spcPct val="100000"/>
              </a:lnSpc>
              <a:spcBef>
                <a:spcPts val="0"/>
              </a:spcBef>
              <a:spcAft>
                <a:spcPts val="0"/>
              </a:spcAft>
              <a:buSzPts val="523"/>
              <a:buNone/>
            </a:pPr>
            <a:r>
              <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rPr lang="en-US" sz="1600">
                <a:latin typeface="Arial"/>
                <a:ea typeface="Arial"/>
                <a:cs typeface="Arial"/>
                <a:sym typeface="Arial"/>
              </a:rPr>
              <a:t>The title situates the project within current trends in AI-powered public service assistants, distinguishing it from traditional rule-based chatbots or general-purpose AI assistants like Siri and Alexa.</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rPr lang="en-US" sz="1600">
                <a:latin typeface="Arial"/>
                <a:ea typeface="Arial"/>
                <a:cs typeface="Arial"/>
                <a:sym typeface="Arial"/>
              </a:rPr>
              <a:t>It also reflects insights from prior research on domain-specific, multilingual, and task-oriented conversational agents, which emphasize accuracy, personalization, and accessibility for users in specialized domains.</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Related works</a:t>
            </a:r>
            <a:endParaRPr>
              <a:latin typeface="Cambria"/>
              <a:ea typeface="Cambria"/>
              <a:cs typeface="Cambria"/>
              <a:sym typeface="Cambria"/>
            </a:endParaRPr>
          </a:p>
        </p:txBody>
      </p:sp>
      <p:sp>
        <p:nvSpPr>
          <p:cNvPr id="171" name="Google Shape;171;p26"/>
          <p:cNvSpPr txBox="1"/>
          <p:nvPr>
            <p:ph idx="1" type="body"/>
          </p:nvPr>
        </p:nvSpPr>
        <p:spPr>
          <a:xfrm>
            <a:off x="762000" y="1091025"/>
            <a:ext cx="10668000" cy="5283600"/>
          </a:xfrm>
          <a:prstGeom prst="rect">
            <a:avLst/>
          </a:prstGeom>
          <a:noFill/>
          <a:ln>
            <a:noFill/>
          </a:ln>
        </p:spPr>
        <p:txBody>
          <a:bodyPr anchorCtr="0" anchor="t" bIns="45700" lIns="342900" spcFirstLastPara="1" rIns="91425" wrap="square" tIns="45700">
            <a:noAutofit/>
          </a:bodyPr>
          <a:lstStyle/>
          <a:p>
            <a:pPr indent="-330200" lvl="0" marL="457200" rtl="0" algn="just">
              <a:lnSpc>
                <a:spcPct val="150000"/>
              </a:lnSpc>
              <a:spcBef>
                <a:spcPts val="0"/>
              </a:spcBef>
              <a:spcAft>
                <a:spcPts val="0"/>
              </a:spcAft>
              <a:buSzPts val="1600"/>
              <a:buFont typeface="Arial"/>
              <a:buAutoNum type="arabicPeriod"/>
            </a:pPr>
            <a:r>
              <a:rPr b="1" lang="en-US" sz="1600">
                <a:latin typeface="Arial"/>
                <a:ea typeface="Arial"/>
                <a:cs typeface="Arial"/>
                <a:sym typeface="Arial"/>
              </a:rPr>
              <a:t>Rule-Based Chatbots</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Early FAQ or scripted bots.</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cannot handle multi-turn dialogues or unseen queries.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AI Assistants (Siri, Alexa, Google Assistant)</a:t>
            </a:r>
            <a:br>
              <a:rPr b="1" lang="en-US" sz="1600">
                <a:latin typeface="Arial"/>
                <a:ea typeface="Arial"/>
                <a:cs typeface="Arial"/>
                <a:sym typeface="Arial"/>
              </a:rPr>
            </a:b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General-purpose conversational AI.</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not domain-specific, may provide inaccurate answers for specialized content.</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Large Language Models (GPT-3, GPT-4, LLaMA)</a:t>
            </a:r>
            <a:br>
              <a:rPr b="1" lang="en-US" sz="1600">
                <a:latin typeface="Arial"/>
                <a:ea typeface="Arial"/>
                <a:cs typeface="Arial"/>
                <a:sym typeface="Arial"/>
              </a:rPr>
            </a:b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Human-like responses, summarization, semantic understanding.</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hallucinations; need grounding in official documents.</a:t>
            </a:r>
            <a:br>
              <a:rPr lang="en-US" sz="1600">
                <a:latin typeface="Arial"/>
                <a:ea typeface="Arial"/>
                <a:cs typeface="Arial"/>
                <a:sym typeface="Arial"/>
              </a:rPr>
            </a:br>
            <a:endParaRPr sz="1600">
              <a:latin typeface="Arial"/>
              <a:ea typeface="Arial"/>
              <a:cs typeface="Arial"/>
              <a:sym typeface="Arial"/>
            </a:endParaRPr>
          </a:p>
          <a:p>
            <a:pPr indent="0" lvl="0" marL="304800" rtl="0" algn="just">
              <a:lnSpc>
                <a:spcPct val="115000"/>
              </a:lnSpc>
              <a:spcBef>
                <a:spcPts val="120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Related Works</a:t>
            </a:r>
            <a:endParaRPr>
              <a:latin typeface="Cambria"/>
              <a:ea typeface="Cambria"/>
              <a:cs typeface="Cambria"/>
              <a:sym typeface="Cambria"/>
            </a:endParaRPr>
          </a:p>
        </p:txBody>
      </p:sp>
      <p:sp>
        <p:nvSpPr>
          <p:cNvPr id="177" name="Google Shape;177;p27"/>
          <p:cNvSpPr txBox="1"/>
          <p:nvPr>
            <p:ph idx="1" type="body"/>
          </p:nvPr>
        </p:nvSpPr>
        <p:spPr>
          <a:xfrm>
            <a:off x="762000" y="1091025"/>
            <a:ext cx="10668000" cy="4885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600">
                <a:latin typeface="Arial"/>
                <a:ea typeface="Arial"/>
                <a:cs typeface="Arial"/>
                <a:sym typeface="Arial"/>
              </a:rPr>
              <a:t>  	4. </a:t>
            </a:r>
            <a:r>
              <a:rPr b="1" lang="en-US" sz="1600">
                <a:latin typeface="Arial"/>
                <a:ea typeface="Arial"/>
                <a:cs typeface="Arial"/>
                <a:sym typeface="Arial"/>
              </a:rPr>
              <a:t>Domain-Specific Job/Recruitment Chatbots</a:t>
            </a:r>
            <a:br>
              <a:rPr b="1" lang="en-US" sz="1600">
                <a:latin typeface="Arial"/>
                <a:ea typeface="Arial"/>
                <a:cs typeface="Arial"/>
                <a:sym typeface="Arial"/>
              </a:rPr>
            </a:br>
            <a:endParaRPr b="1" sz="1600">
              <a:latin typeface="Arial"/>
              <a:ea typeface="Arial"/>
              <a:cs typeface="Arial"/>
              <a:sym typeface="Arial"/>
            </a:endParaRPr>
          </a:p>
          <a:p>
            <a:pPr indent="-330200" lvl="0" marL="1371600" rtl="0" algn="l">
              <a:lnSpc>
                <a:spcPct val="115000"/>
              </a:lnSpc>
              <a:spcBef>
                <a:spcPts val="1200"/>
              </a:spcBef>
              <a:spcAft>
                <a:spcPts val="0"/>
              </a:spcAft>
              <a:buSzPts val="1600"/>
              <a:buFont typeface="Arial"/>
              <a:buChar char="●"/>
            </a:pPr>
            <a:r>
              <a:rPr lang="en-US" sz="1600">
                <a:latin typeface="Arial"/>
                <a:ea typeface="Arial"/>
                <a:cs typeface="Arial"/>
                <a:sym typeface="Arial"/>
              </a:rPr>
              <a:t>Task-oriented systems for applications, eligibility, notifications.</a:t>
            </a:r>
            <a:br>
              <a:rPr lang="en-US" sz="1600">
                <a:latin typeface="Arial"/>
                <a:ea typeface="Arial"/>
                <a:cs typeface="Arial"/>
                <a:sym typeface="Arial"/>
              </a:rPr>
            </a:b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often lack multilingual support and structured document integration.</a:t>
            </a:r>
            <a:br>
              <a:rPr lang="en-US" sz="1600">
                <a:latin typeface="Arial"/>
                <a:ea typeface="Arial"/>
                <a:cs typeface="Arial"/>
                <a:sym typeface="Arial"/>
              </a:rPr>
            </a:br>
            <a:endParaRPr sz="1600">
              <a:latin typeface="Arial"/>
              <a:ea typeface="Arial"/>
              <a:cs typeface="Arial"/>
              <a:sym typeface="Arial"/>
            </a:endParaRPr>
          </a:p>
          <a:p>
            <a:pPr indent="457200" lvl="0" marL="0" rtl="0" algn="l">
              <a:lnSpc>
                <a:spcPct val="115000"/>
              </a:lnSpc>
              <a:spcBef>
                <a:spcPts val="1200"/>
              </a:spcBef>
              <a:spcAft>
                <a:spcPts val="0"/>
              </a:spcAft>
              <a:buNone/>
            </a:pPr>
            <a:r>
              <a:rPr b="1" lang="en-US" sz="1600">
                <a:latin typeface="Arial"/>
                <a:ea typeface="Arial"/>
                <a:cs typeface="Arial"/>
                <a:sym typeface="Arial"/>
              </a:rPr>
              <a:t>5. </a:t>
            </a:r>
            <a:r>
              <a:rPr b="1" lang="en-US" sz="1600">
                <a:latin typeface="Arial"/>
                <a:ea typeface="Arial"/>
                <a:cs typeface="Arial"/>
                <a:sym typeface="Arial"/>
              </a:rPr>
              <a:t>Document Understanding + QA Systems</a:t>
            </a:r>
            <a:br>
              <a:rPr b="1" lang="en-US" sz="1600">
                <a:latin typeface="Arial"/>
                <a:ea typeface="Arial"/>
                <a:cs typeface="Arial"/>
                <a:sym typeface="Arial"/>
              </a:rPr>
            </a:br>
            <a:r>
              <a:rPr b="1" lang="en-US" sz="1600">
                <a:latin typeface="Arial"/>
                <a:ea typeface="Arial"/>
                <a:cs typeface="Arial"/>
                <a:sym typeface="Arial"/>
              </a:rPr>
              <a:t>	</a:t>
            </a:r>
            <a:endParaRPr b="1" sz="1600">
              <a:latin typeface="Arial"/>
              <a:ea typeface="Arial"/>
              <a:cs typeface="Arial"/>
              <a:sym typeface="Arial"/>
            </a:endParaRPr>
          </a:p>
          <a:p>
            <a:pPr indent="-330200" lvl="0" marL="1371600" rtl="0" algn="l">
              <a:lnSpc>
                <a:spcPct val="115000"/>
              </a:lnSpc>
              <a:spcBef>
                <a:spcPts val="1200"/>
              </a:spcBef>
              <a:spcAft>
                <a:spcPts val="0"/>
              </a:spcAft>
              <a:buSzPts val="1600"/>
              <a:buFont typeface="Arial"/>
              <a:buChar char="●"/>
            </a:pPr>
            <a:r>
              <a:rPr lang="en-US" sz="1600">
                <a:latin typeface="Arial"/>
                <a:ea typeface="Arial"/>
                <a:cs typeface="Arial"/>
                <a:sym typeface="Arial"/>
              </a:rPr>
              <a:t>Models like LayoutLM, TILT, DPR, ColBERT.</a:t>
            </a:r>
            <a:br>
              <a:rPr lang="en-US" sz="1600">
                <a:latin typeface="Arial"/>
                <a:ea typeface="Arial"/>
                <a:cs typeface="Arial"/>
                <a:sym typeface="Arial"/>
              </a:rPr>
            </a:b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Enable retrieval of structured info from PDFs, tables, notices.</a:t>
            </a:r>
            <a:endParaRPr sz="1600">
              <a:latin typeface="Arial"/>
              <a:ea typeface="Arial"/>
              <a:cs typeface="Arial"/>
              <a:sym typeface="Arial"/>
            </a:endParaRPr>
          </a:p>
          <a:p>
            <a:pPr indent="0" lvl="0" marL="457200" rtl="0" algn="just">
              <a:lnSpc>
                <a:spcPct val="200000"/>
              </a:lnSpc>
              <a:spcBef>
                <a:spcPts val="1200"/>
              </a:spcBef>
              <a:spcAft>
                <a:spcPts val="0"/>
              </a:spcAft>
              <a:buNone/>
            </a:pPr>
            <a:r>
              <a:t/>
            </a:r>
            <a:endParaRPr sz="16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p>
        </p:txBody>
      </p:sp>
      <p:sp>
        <p:nvSpPr>
          <p:cNvPr id="183" name="Google Shape;183;p28"/>
          <p:cNvSpPr txBox="1"/>
          <p:nvPr>
            <p:ph idx="1" type="body"/>
          </p:nvPr>
        </p:nvSpPr>
        <p:spPr>
          <a:xfrm>
            <a:off x="812800" y="1014576"/>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Intelligent Search and Filtering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Uses advanced search algorithms and AI-powered filters to help users locate relevant information quickly.</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Irrelevant matches due to ambiguous queries.</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Inadequate personalization—cannot adapt to a user’s preferences or prior searches.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Font typeface="Arial"/>
              <a:buAutoNum type="arabicPeriod"/>
            </a:pPr>
            <a:r>
              <a:rPr b="1" lang="en-US" sz="1600">
                <a:latin typeface="Arial"/>
                <a:ea typeface="Arial"/>
                <a:cs typeface="Arial"/>
                <a:sym typeface="Arial"/>
              </a:rPr>
              <a:t>Interactive Chatbots and Virtual Assistants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Conversational systems provide “hand-holding” by guiding users through tasks via natural dialogue.</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Limited scope—may not cover all portal functionalities or updates.</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Poor user experience if responses are inaccurate or ungrounded in official sources.</a:t>
            </a:r>
            <a:endParaRPr sz="1600">
              <a:latin typeface="Arial"/>
              <a:ea typeface="Arial"/>
              <a:cs typeface="Arial"/>
              <a:sym typeface="Arial"/>
            </a:endParaRPr>
          </a:p>
          <a:p>
            <a:pPr indent="0" lvl="0" marL="45720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p>
        </p:txBody>
      </p:sp>
      <p:sp>
        <p:nvSpPr>
          <p:cNvPr id="189" name="Google Shape;189;p29"/>
          <p:cNvSpPr txBox="1"/>
          <p:nvPr>
            <p:ph idx="1" type="body"/>
          </p:nvPr>
        </p:nvSpPr>
        <p:spPr>
          <a:xfrm>
            <a:off x="812800" y="1014576"/>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480"/>
              </a:spcBef>
              <a:spcAft>
                <a:spcPts val="0"/>
              </a:spcAft>
              <a:buSzPts val="1600"/>
              <a:buFont typeface="Arial"/>
              <a:buAutoNum type="arabicPeriod" startAt="3"/>
            </a:pPr>
            <a:r>
              <a:rPr b="1" lang="en-US" sz="1600">
                <a:latin typeface="Arial"/>
                <a:ea typeface="Arial"/>
                <a:cs typeface="Arial"/>
                <a:sym typeface="Arial"/>
              </a:rPr>
              <a:t>Personalized Dashboards and Recommendations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Uses user profiles, past searches, or saved jobs to create a tailored interface.</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Privacy concerns due to storage of personal data.</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Data fragmentation—insights are often scattered across modules, reducing effectiveness.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Font typeface="Arial"/>
              <a:buAutoNum type="arabicPeriod" startAt="3"/>
            </a:pPr>
            <a:r>
              <a:rPr b="1" lang="en-US" sz="1600">
                <a:latin typeface="Arial"/>
                <a:ea typeface="Arial"/>
                <a:cs typeface="Arial"/>
                <a:sym typeface="Arial"/>
              </a:rPr>
              <a:t>Career Guidance and Upskilling Tools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Provides skill assessments and suggests learning pathways or courses to improve employability.</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Cost and accessibility—many tools are paid or require internet connectivity.</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Lack of standardization—recommendations may vary in quality and credibility.</a:t>
            </a:r>
            <a:endParaRPr sz="1600">
              <a:latin typeface="Arial"/>
              <a:ea typeface="Arial"/>
              <a:cs typeface="Arial"/>
              <a:sym typeface="Arial"/>
            </a:endParaRPr>
          </a:p>
          <a:p>
            <a:pPr indent="0" lvl="0" marL="1371600" rtl="0" algn="l">
              <a:lnSpc>
                <a:spcPct val="100000"/>
              </a:lnSpc>
              <a:spcBef>
                <a:spcPts val="1200"/>
              </a:spcBef>
              <a:spcAft>
                <a:spcPts val="0"/>
              </a:spcAft>
              <a:buNone/>
            </a:pPr>
            <a:r>
              <a:t/>
            </a:r>
            <a:endParaRPr b="1" sz="16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195" name="Google Shape;195;p30"/>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a:latin typeface="Arial"/>
                <a:ea typeface="Arial"/>
                <a:cs typeface="Arial"/>
                <a:sym typeface="Arial"/>
              </a:rPr>
              <a:t>Proposed Method: “ </a:t>
            </a:r>
            <a:r>
              <a:rPr b="1" lang="en-US" sz="1600">
                <a:latin typeface="Arial"/>
                <a:ea typeface="Arial"/>
                <a:cs typeface="Arial"/>
                <a:sym typeface="Arial"/>
              </a:rPr>
              <a:t>AI-Powered Conversational Assistant ”</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proposed solution for the PGRKAM digital platform is an </a:t>
            </a:r>
            <a:r>
              <a:rPr b="1" lang="en-US" sz="1600">
                <a:latin typeface="Arial"/>
                <a:ea typeface="Arial"/>
                <a:cs typeface="Arial"/>
                <a:sym typeface="Arial"/>
              </a:rPr>
              <a:t>AI-powered Conversational Assistant</a:t>
            </a:r>
            <a:r>
              <a:rPr lang="en-US" sz="1600">
                <a:latin typeface="Arial"/>
                <a:ea typeface="Arial"/>
                <a:cs typeface="Arial"/>
                <a:sym typeface="Arial"/>
              </a:rPr>
              <a:t> (chatbot) designed to provide </a:t>
            </a:r>
            <a:r>
              <a:rPr b="1" lang="en-US" sz="1600">
                <a:latin typeface="Arial"/>
                <a:ea typeface="Arial"/>
                <a:cs typeface="Arial"/>
                <a:sym typeface="Arial"/>
              </a:rPr>
              <a:t>intelligent guidance</a:t>
            </a:r>
            <a:r>
              <a:rPr lang="en-US" sz="1600">
                <a:latin typeface="Arial"/>
                <a:ea typeface="Arial"/>
                <a:cs typeface="Arial"/>
                <a:sym typeface="Arial"/>
              </a:rPr>
              <a:t> to users. Key features include:</a:t>
            </a:r>
            <a:endParaRPr sz="1600">
              <a:latin typeface="Arial"/>
              <a:ea typeface="Arial"/>
              <a:cs typeface="Arial"/>
              <a:sym typeface="Arial"/>
            </a:endParaRPr>
          </a:p>
          <a:p>
            <a:pPr indent="-330200" lvl="0" marL="457200" rtl="0" algn="l">
              <a:lnSpc>
                <a:spcPct val="115000"/>
              </a:lnSpc>
              <a:spcBef>
                <a:spcPts val="1200"/>
              </a:spcBef>
              <a:spcAft>
                <a:spcPts val="0"/>
              </a:spcAft>
              <a:buSzPts val="1600"/>
              <a:buAutoNum type="arabicPeriod"/>
            </a:pPr>
            <a:r>
              <a:rPr b="1" lang="en-US" sz="1600">
                <a:latin typeface="Arial"/>
                <a:ea typeface="Arial"/>
                <a:cs typeface="Arial"/>
                <a:sym typeface="Arial"/>
              </a:rPr>
              <a:t>Natural Language Understanding (NLU):</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The assistant uses </a:t>
            </a:r>
            <a:r>
              <a:rPr b="1" lang="en-US" sz="1600">
                <a:latin typeface="Arial"/>
                <a:ea typeface="Arial"/>
                <a:cs typeface="Arial"/>
                <a:sym typeface="Arial"/>
              </a:rPr>
              <a:t>NLP and machine learning</a:t>
            </a:r>
            <a:r>
              <a:rPr lang="en-US" sz="1600">
                <a:latin typeface="Arial"/>
                <a:ea typeface="Arial"/>
                <a:cs typeface="Arial"/>
                <a:sym typeface="Arial"/>
              </a:rPr>
              <a:t> to comprehend user queries in </a:t>
            </a:r>
            <a:r>
              <a:rPr b="1" lang="en-US" sz="1600">
                <a:latin typeface="Arial"/>
                <a:ea typeface="Arial"/>
                <a:cs typeface="Arial"/>
                <a:sym typeface="Arial"/>
              </a:rPr>
              <a:t>free-form, multilingual, or code-switched language</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This allows users to ask questions naturally without needing to know specific keywords or menu structures.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a:pPr>
            <a:r>
              <a:rPr b="1" lang="en-US" sz="1600">
                <a:latin typeface="Arial"/>
                <a:ea typeface="Arial"/>
                <a:cs typeface="Arial"/>
                <a:sym typeface="Arial"/>
              </a:rPr>
              <a:t>Retrieval-Augmented Generation (RAG):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Combines </a:t>
            </a:r>
            <a:r>
              <a:rPr b="1" lang="en-US" sz="1600">
                <a:latin typeface="Arial"/>
                <a:ea typeface="Arial"/>
                <a:cs typeface="Arial"/>
                <a:sym typeface="Arial"/>
              </a:rPr>
              <a:t>document retrieval</a:t>
            </a:r>
            <a:r>
              <a:rPr lang="en-US" sz="1600">
                <a:latin typeface="Arial"/>
                <a:ea typeface="Arial"/>
                <a:cs typeface="Arial"/>
                <a:sym typeface="Arial"/>
              </a:rPr>
              <a:t> from official notices, skill modules, and career resources with </a:t>
            </a:r>
            <a:r>
              <a:rPr b="1" lang="en-US" sz="1600">
                <a:latin typeface="Arial"/>
                <a:ea typeface="Arial"/>
                <a:cs typeface="Arial"/>
                <a:sym typeface="Arial"/>
              </a:rPr>
              <a:t>LLM-based response generation</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Ensures that responses are </a:t>
            </a:r>
            <a:r>
              <a:rPr b="1" lang="en-US" sz="1600">
                <a:latin typeface="Arial"/>
                <a:ea typeface="Arial"/>
                <a:cs typeface="Arial"/>
                <a:sym typeface="Arial"/>
              </a:rPr>
              <a:t>accurate, factual, and grounded in verified sources</a:t>
            </a:r>
            <a:r>
              <a:rPr lang="en-US" sz="1600">
                <a:latin typeface="Arial"/>
                <a:ea typeface="Arial"/>
                <a:cs typeface="Arial"/>
                <a:sym typeface="Arial"/>
              </a:rPr>
              <a:t>, addressing the hallucination problem of generic LLMs.</a:t>
            </a:r>
            <a:endParaRPr sz="1600">
              <a:latin typeface="Arial"/>
              <a:ea typeface="Arial"/>
              <a:cs typeface="Arial"/>
              <a:sym typeface="Arial"/>
            </a:endParaRPr>
          </a:p>
          <a:p>
            <a:pPr indent="0" lvl="0" marL="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201" name="Google Shape;201;p31"/>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200"/>
              </a:spcBef>
              <a:spcAft>
                <a:spcPts val="0"/>
              </a:spcAft>
              <a:buSzPts val="1600"/>
              <a:buAutoNum type="arabicPeriod" startAt="3"/>
            </a:pPr>
            <a:r>
              <a:rPr b="1" lang="en-US" sz="1600">
                <a:latin typeface="Arial"/>
                <a:ea typeface="Arial"/>
                <a:cs typeface="Arial"/>
                <a:sym typeface="Arial"/>
              </a:rPr>
              <a:t>Task-Oriented Guidance:</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Supports users in performing tasks such as </a:t>
            </a:r>
            <a:r>
              <a:rPr b="1" lang="en-US" sz="1600">
                <a:latin typeface="Arial"/>
                <a:ea typeface="Arial"/>
                <a:cs typeface="Arial"/>
                <a:sym typeface="Arial"/>
              </a:rPr>
              <a:t>finding deadlines, checking eligibility, tracking applications, or discovering skill programs</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Reduces the need for manual navigation, improving efficiency and user experience.</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startAt="3"/>
            </a:pPr>
            <a:r>
              <a:rPr b="1" lang="en-US" sz="1600">
                <a:latin typeface="Arial"/>
                <a:ea typeface="Arial"/>
                <a:cs typeface="Arial"/>
                <a:sym typeface="Arial"/>
              </a:rPr>
              <a:t>Personalization &amp; Context Management:</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Maintains </a:t>
            </a:r>
            <a:r>
              <a:rPr b="1" lang="en-US" sz="1600">
                <a:latin typeface="Arial"/>
                <a:ea typeface="Arial"/>
                <a:cs typeface="Arial"/>
                <a:sym typeface="Arial"/>
              </a:rPr>
              <a:t>conversation context</a:t>
            </a:r>
            <a:r>
              <a:rPr lang="en-US" sz="1600">
                <a:latin typeface="Arial"/>
                <a:ea typeface="Arial"/>
                <a:cs typeface="Arial"/>
                <a:sym typeface="Arial"/>
              </a:rPr>
              <a:t> and leverages </a:t>
            </a:r>
            <a:r>
              <a:rPr b="1" lang="en-US" sz="1600">
                <a:latin typeface="Arial"/>
                <a:ea typeface="Arial"/>
                <a:cs typeface="Arial"/>
                <a:sym typeface="Arial"/>
              </a:rPr>
              <a:t>user history/preferences</a:t>
            </a:r>
            <a:r>
              <a:rPr lang="en-US" sz="1600">
                <a:latin typeface="Arial"/>
                <a:ea typeface="Arial"/>
                <a:cs typeface="Arial"/>
                <a:sym typeface="Arial"/>
              </a:rPr>
              <a:t> (without compromising privacy) to provide relevant recommendations.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startAt="3"/>
            </a:pPr>
            <a:r>
              <a:rPr b="1" lang="en-US" sz="1600">
                <a:latin typeface="Arial"/>
                <a:ea typeface="Arial"/>
                <a:cs typeface="Arial"/>
                <a:sym typeface="Arial"/>
              </a:rPr>
              <a:t>Feedback-Driven Learning: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Integrates a feedback loop to </a:t>
            </a:r>
            <a:r>
              <a:rPr b="1" lang="en-US" sz="1600">
                <a:latin typeface="Arial"/>
                <a:ea typeface="Arial"/>
                <a:cs typeface="Arial"/>
                <a:sym typeface="Arial"/>
              </a:rPr>
              <a:t>continually improve accuracy, intent recognition, and response relevance</a:t>
            </a:r>
            <a:r>
              <a:rPr lang="en-US" sz="1600">
                <a:latin typeface="Arial"/>
                <a:ea typeface="Arial"/>
                <a:cs typeface="Arial"/>
                <a:sym typeface="Arial"/>
              </a:rPr>
              <a:t> based on real user interactions.</a:t>
            </a:r>
            <a:endParaRPr sz="1600">
              <a:latin typeface="Arial"/>
              <a:ea typeface="Arial"/>
              <a:cs typeface="Arial"/>
              <a:sym typeface="Arial"/>
            </a:endParaRPr>
          </a:p>
          <a:p>
            <a:pPr indent="0" lvl="0" marL="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07" name="Google Shape;207;p32"/>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80"/>
              </a:spcBef>
              <a:spcAft>
                <a:spcPts val="0"/>
              </a:spcAft>
              <a:buNone/>
            </a:pPr>
            <a:r>
              <a:rPr b="1" lang="en-US" sz="1600">
                <a:latin typeface="Arial"/>
                <a:ea typeface="Arial"/>
                <a:cs typeface="Arial"/>
                <a:sym typeface="Arial"/>
              </a:rPr>
              <a:t>Justification:</a:t>
            </a:r>
            <a:endParaRPr b="1" sz="1600">
              <a:latin typeface="Arial"/>
              <a:ea typeface="Arial"/>
              <a:cs typeface="Arial"/>
              <a:sym typeface="Arial"/>
            </a:endParaRPr>
          </a:p>
          <a:p>
            <a:pPr indent="0" lvl="0" marL="0" rtl="0" algn="l">
              <a:lnSpc>
                <a:spcPct val="115000"/>
              </a:lnSpc>
              <a:spcBef>
                <a:spcPts val="480"/>
              </a:spcBef>
              <a:spcAft>
                <a:spcPts val="0"/>
              </a:spcAft>
              <a:buNone/>
            </a:pPr>
            <a:r>
              <a:rPr lang="en-US" sz="1600">
                <a:latin typeface="Arial"/>
                <a:ea typeface="Arial"/>
                <a:cs typeface="Arial"/>
                <a:sym typeface="Arial"/>
              </a:rPr>
              <a:t>Implementing a conversational AI assistant addresses the core challenges of the PGRKAM platform:</a:t>
            </a:r>
            <a:endParaRPr sz="1600">
              <a:latin typeface="Arial"/>
              <a:ea typeface="Arial"/>
              <a:cs typeface="Arial"/>
              <a:sym typeface="Arial"/>
            </a:endParaRPr>
          </a:p>
          <a:p>
            <a:pPr indent="457200" lvl="0" marL="457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Enhanced User Experience:</a:t>
            </a:r>
            <a:r>
              <a:rPr lang="en-US" sz="1600">
                <a:latin typeface="Arial"/>
                <a:ea typeface="Arial"/>
                <a:cs typeface="Arial"/>
                <a:sym typeface="Arial"/>
              </a:rPr>
              <a:t> Users receive personalized, real-time guidance, reducing the need for</a:t>
            </a:r>
            <a:r>
              <a:rPr lang="en-US" sz="1600">
                <a:latin typeface="Arial"/>
                <a:ea typeface="Arial"/>
                <a:cs typeface="Arial"/>
                <a:sym typeface="Arial"/>
              </a:rPr>
              <a:t> </a:t>
            </a:r>
            <a:r>
              <a:rPr lang="en-US" sz="1600">
                <a:latin typeface="Arial"/>
                <a:ea typeface="Arial"/>
                <a:cs typeface="Arial"/>
                <a:sym typeface="Arial"/>
              </a:rPr>
              <a:t>manual navigation across multiple modules.</a:t>
            </a:r>
            <a:endParaRPr sz="1600">
              <a:latin typeface="Arial"/>
              <a:ea typeface="Arial"/>
              <a:cs typeface="Arial"/>
              <a:sym typeface="Arial"/>
            </a:endParaRPr>
          </a:p>
          <a:p>
            <a:pPr indent="0" lvl="0" marL="2743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Improved Efficiency:</a:t>
            </a:r>
            <a:r>
              <a:rPr lang="en-US" sz="1600">
                <a:latin typeface="Arial"/>
                <a:ea typeface="Arial"/>
                <a:cs typeface="Arial"/>
                <a:sym typeface="Arial"/>
              </a:rPr>
              <a:t> Automated responses streamline information retrieval, saving users time and effort.</a:t>
            </a:r>
            <a:endParaRPr sz="1600">
              <a:latin typeface="Arial"/>
              <a:ea typeface="Arial"/>
              <a:cs typeface="Arial"/>
              <a:sym typeface="Arial"/>
            </a:endParaRPr>
          </a:p>
          <a:p>
            <a:pPr indent="0" lvl="0" marL="457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Scalability:</a:t>
            </a:r>
            <a:r>
              <a:rPr lang="en-US" sz="1600">
                <a:latin typeface="Arial"/>
                <a:ea typeface="Arial"/>
                <a:cs typeface="Arial"/>
                <a:sym typeface="Arial"/>
              </a:rPr>
              <a:t> AI assistants can handle a large volume of queries simultaneously, ensuring consistent service availability.</a:t>
            </a:r>
            <a:endParaRPr sz="1600">
              <a:latin typeface="Arial"/>
              <a:ea typeface="Arial"/>
              <a:cs typeface="Arial"/>
              <a:sym typeface="Arial"/>
            </a:endParaRPr>
          </a:p>
          <a:p>
            <a:pPr indent="0" lvl="0" marL="1371600" rtl="0" algn="l">
              <a:lnSpc>
                <a:spcPct val="100000"/>
              </a:lnSpc>
              <a:spcBef>
                <a:spcPts val="480"/>
              </a:spcBef>
              <a:spcAft>
                <a:spcPts val="0"/>
              </a:spcAft>
              <a:buNone/>
            </a:pPr>
            <a:r>
              <a:t/>
            </a:r>
            <a:endParaRPr sz="1600">
              <a:latin typeface="Arial"/>
              <a:ea typeface="Arial"/>
              <a:cs typeface="Arial"/>
              <a:sym typeface="Arial"/>
            </a:endParaRPr>
          </a:p>
          <a:p>
            <a:pPr indent="457200" lvl="0" marL="457200" rtl="0" algn="l">
              <a:lnSpc>
                <a:spcPct val="100000"/>
              </a:lnSpc>
              <a:spcBef>
                <a:spcPts val="480"/>
              </a:spcBef>
              <a:spcAft>
                <a:spcPts val="0"/>
              </a:spcAft>
              <a:buNone/>
            </a:pPr>
            <a:r>
              <a:rPr lang="en-US" sz="1600">
                <a:latin typeface="Arial"/>
                <a:ea typeface="Arial"/>
                <a:cs typeface="Arial"/>
                <a:sym typeface="Arial"/>
              </a:rPr>
              <a:t>These benefits align with findings from various studies highlighting the effectiveness of AI assistants in public service platforms.</a:t>
            </a:r>
            <a:endParaRPr sz="1600">
              <a:latin typeface="Arial"/>
              <a:ea typeface="Arial"/>
              <a:cs typeface="Arial"/>
              <a:sym typeface="Arial"/>
            </a:endParaRPr>
          </a:p>
          <a:p>
            <a:pPr indent="0" lvl="0" marL="0" rtl="0" algn="l">
              <a:lnSpc>
                <a:spcPct val="100000"/>
              </a:lnSpc>
              <a:spcBef>
                <a:spcPts val="480"/>
              </a:spcBef>
              <a:spcAft>
                <a:spcPts val="0"/>
              </a:spcAft>
              <a:buNone/>
            </a:pPr>
            <a:r>
              <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13" name="Google Shape;213;p33"/>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u="sng">
                <a:latin typeface="Arial"/>
                <a:ea typeface="Arial"/>
                <a:cs typeface="Arial"/>
                <a:sym typeface="Arial"/>
              </a:rPr>
              <a:t>Technology Feasibility:</a:t>
            </a:r>
            <a:endParaRPr b="1" sz="1600" u="sng">
              <a:latin typeface="Arial"/>
              <a:ea typeface="Arial"/>
              <a:cs typeface="Arial"/>
              <a:sym typeface="Arial"/>
            </a:endParaRPr>
          </a:p>
          <a:p>
            <a:pPr indent="0" lvl="0" marL="0" rtl="0" algn="l">
              <a:lnSpc>
                <a:spcPct val="100000"/>
              </a:lnSpc>
              <a:spcBef>
                <a:spcPts val="480"/>
              </a:spcBef>
              <a:spcAft>
                <a:spcPts val="0"/>
              </a:spcAft>
              <a:buNone/>
            </a:pPr>
            <a:r>
              <a:t/>
            </a:r>
            <a:endParaRPr b="1" sz="1600">
              <a:latin typeface="Arial"/>
              <a:ea typeface="Arial"/>
              <a:cs typeface="Arial"/>
              <a:sym typeface="Arial"/>
            </a:endParaRPr>
          </a:p>
          <a:p>
            <a:pPr indent="0" lvl="0" marL="0" rtl="0" algn="l">
              <a:lnSpc>
                <a:spcPct val="100000"/>
              </a:lnSpc>
              <a:spcBef>
                <a:spcPts val="480"/>
              </a:spcBef>
              <a:spcAft>
                <a:spcPts val="0"/>
              </a:spcAft>
              <a:buNone/>
            </a:pPr>
            <a:r>
              <a:rPr lang="en-US" sz="1600">
                <a:latin typeface="Arial"/>
                <a:ea typeface="Arial"/>
                <a:cs typeface="Arial"/>
                <a:sym typeface="Arial"/>
              </a:rPr>
              <a:t>Key technologies essential for the AI assistant include: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Intent Recognition:</a:t>
            </a:r>
            <a:r>
              <a:rPr lang="en-US" sz="1600">
                <a:latin typeface="Arial"/>
                <a:ea typeface="Arial"/>
                <a:cs typeface="Arial"/>
                <a:sym typeface="Arial"/>
              </a:rPr>
              <a:t> Enables the system to understand user queries and determine the appropriate response.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Entity Extraction: </a:t>
            </a:r>
            <a:r>
              <a:rPr lang="en-US" sz="1600">
                <a:latin typeface="Arial"/>
                <a:ea typeface="Arial"/>
                <a:cs typeface="Arial"/>
                <a:sym typeface="Arial"/>
              </a:rPr>
              <a:t>Identifies specific data points within user inputs, such as job titles or deadlines.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Dialogue Management: </a:t>
            </a:r>
            <a:r>
              <a:rPr lang="en-US" sz="1600">
                <a:latin typeface="Arial"/>
                <a:ea typeface="Arial"/>
                <a:cs typeface="Arial"/>
                <a:sym typeface="Arial"/>
              </a:rPr>
              <a:t>Manages the flow of conversation, ensuring context is maintained throughout interactions.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0" lvl="0" marL="0" rtl="0" algn="l">
              <a:lnSpc>
                <a:spcPct val="100000"/>
              </a:lnSpc>
              <a:spcBef>
                <a:spcPts val="480"/>
              </a:spcBef>
              <a:spcAft>
                <a:spcPts val="0"/>
              </a:spcAft>
              <a:buNone/>
            </a:pPr>
            <a:r>
              <a:rPr lang="en-US" sz="1600">
                <a:latin typeface="Arial"/>
                <a:ea typeface="Arial"/>
                <a:cs typeface="Arial"/>
                <a:sym typeface="Arial"/>
              </a:rPr>
              <a:t>These technologies are foundational in creating a responsive and intelligent assistant capable of handling diverse user queries effectively.</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19" name="Google Shape;219;p34"/>
          <p:cNvSpPr txBox="1"/>
          <p:nvPr>
            <p:ph idx="1" type="body"/>
          </p:nvPr>
        </p:nvSpPr>
        <p:spPr>
          <a:xfrm>
            <a:off x="620300" y="1110925"/>
            <a:ext cx="10668000" cy="5175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u="sng">
                <a:latin typeface="Arial"/>
                <a:ea typeface="Arial"/>
                <a:cs typeface="Arial"/>
                <a:sym typeface="Arial"/>
              </a:rPr>
              <a:t>Cost and Resource Feasibility:</a:t>
            </a:r>
            <a:endParaRPr b="1" sz="1600" u="sng">
              <a:latin typeface="Arial"/>
              <a:ea typeface="Arial"/>
              <a:cs typeface="Arial"/>
              <a:sym typeface="Arial"/>
            </a:endParaRPr>
          </a:p>
          <a:p>
            <a:pPr indent="0" lvl="0" marL="0" rtl="0" algn="l">
              <a:lnSpc>
                <a:spcPct val="100000"/>
              </a:lnSpc>
              <a:spcBef>
                <a:spcPts val="480"/>
              </a:spcBef>
              <a:spcAft>
                <a:spcPts val="0"/>
              </a:spcAft>
              <a:buNone/>
            </a:pPr>
            <a:r>
              <a:t/>
            </a:r>
            <a:endParaRPr b="1" sz="1600" u="sng">
              <a:latin typeface="Arial"/>
              <a:ea typeface="Arial"/>
              <a:cs typeface="Arial"/>
              <a:sym typeface="Arial"/>
            </a:endParaRPr>
          </a:p>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Low-Cost Approach (Third-Party Platforms):</a:t>
            </a:r>
            <a:endParaRPr b="1" sz="1600">
              <a:latin typeface="Arial"/>
              <a:ea typeface="Arial"/>
              <a:cs typeface="Arial"/>
              <a:sym typeface="Arial"/>
            </a:endParaRPr>
          </a:p>
          <a:p>
            <a:pPr indent="0" lvl="0" marL="457200" rtl="0" algn="l">
              <a:lnSpc>
                <a:spcPct val="100000"/>
              </a:lnSpc>
              <a:spcBef>
                <a:spcPts val="480"/>
              </a:spcBef>
              <a:spcAft>
                <a:spcPts val="0"/>
              </a:spcAft>
              <a:buNone/>
            </a:pPr>
            <a:r>
              <a:t/>
            </a:r>
            <a:endParaRPr b="1"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Subscription-Based Models: </a:t>
            </a:r>
            <a:r>
              <a:rPr lang="en-US" sz="1600">
                <a:latin typeface="Arial"/>
                <a:ea typeface="Arial"/>
                <a:cs typeface="Arial"/>
                <a:sym typeface="Arial"/>
              </a:rPr>
              <a:t>Platforms like Convin.ai offer conversational AI services with pricing models ranging from $50 to $5,000 per month, depending on features and usage.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Pay-As-You-Go Models: </a:t>
            </a:r>
            <a:r>
              <a:rPr lang="en-US" sz="1600">
                <a:latin typeface="Arial"/>
                <a:ea typeface="Arial"/>
                <a:cs typeface="Arial"/>
                <a:sym typeface="Arial"/>
              </a:rPr>
              <a:t>Some services charge approximately $0.006 per interaction, providing flexibility for varying usage volumes.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High-Cost Approach (Custom Development):</a:t>
            </a:r>
            <a:endParaRPr b="1" sz="1600">
              <a:latin typeface="Arial"/>
              <a:ea typeface="Arial"/>
              <a:cs typeface="Arial"/>
              <a:sym typeface="Arial"/>
            </a:endParaRPr>
          </a:p>
          <a:p>
            <a:pPr indent="0" lvl="0" marL="457200" rtl="0" algn="l">
              <a:lnSpc>
                <a:spcPct val="100000"/>
              </a:lnSpc>
              <a:spcBef>
                <a:spcPts val="480"/>
              </a:spcBef>
              <a:spcAft>
                <a:spcPts val="0"/>
              </a:spcAft>
              <a:buNone/>
            </a:pPr>
            <a:r>
              <a:t/>
            </a:r>
            <a:endParaRPr b="1"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Development Costs: </a:t>
            </a:r>
            <a:r>
              <a:rPr lang="en-US" sz="1600">
                <a:latin typeface="Arial"/>
                <a:ea typeface="Arial"/>
                <a:cs typeface="Arial"/>
                <a:sym typeface="Arial"/>
              </a:rPr>
              <a:t>Building a custom AI assistant can range from $75,000 to over $500,000, influenced by factors such as complexity, scalability, and customization.</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Ongoing Maintenance: </a:t>
            </a:r>
            <a:r>
              <a:rPr lang="en-US" sz="1600">
                <a:latin typeface="Arial"/>
                <a:ea typeface="Arial"/>
                <a:cs typeface="Arial"/>
                <a:sym typeface="Arial"/>
              </a:rPr>
              <a:t>Custom solutions require continuous updates and support, contributing to long-term costs.</a:t>
            </a:r>
            <a:endParaRPr sz="1600">
              <a:latin typeface="Arial"/>
              <a:ea typeface="Arial"/>
              <a:cs typeface="Arial"/>
              <a:sym typeface="Arial"/>
            </a:endParaRPr>
          </a:p>
          <a:p>
            <a:pPr indent="0" lvl="0" marL="0" rtl="0" algn="l">
              <a:lnSpc>
                <a:spcPct val="100000"/>
              </a:lnSpc>
              <a:spcBef>
                <a:spcPts val="480"/>
              </a:spcBef>
              <a:spcAft>
                <a:spcPts val="0"/>
              </a:spcAft>
              <a:buNone/>
            </a:pPr>
            <a:r>
              <a:t/>
            </a:r>
            <a:endParaRPr b="1" sz="1600">
              <a:latin typeface="Arial"/>
              <a:ea typeface="Arial"/>
              <a:cs typeface="Arial"/>
              <a:sym typeface="Arial"/>
            </a:endParaRPr>
          </a:p>
          <a:p>
            <a:pPr indent="0" lvl="0" marL="0" rtl="0" algn="l">
              <a:lnSpc>
                <a:spcPct val="10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25" name="Google Shape;225;p35"/>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80"/>
              </a:spcBef>
              <a:spcAft>
                <a:spcPts val="0"/>
              </a:spcAft>
              <a:buNone/>
            </a:pPr>
            <a:r>
              <a:rPr lang="en-US" sz="1600">
                <a:latin typeface="Arial"/>
                <a:ea typeface="Arial"/>
                <a:cs typeface="Arial"/>
                <a:sym typeface="Arial"/>
              </a:rPr>
              <a:t>Considering the budget constraints typical of government projects, a hybrid approach utilizing third-party platforms for core functionalities, supplemented by custom development for specialized features, may offer an optimal balance between cost and functionality.</a:t>
            </a:r>
            <a:endParaRPr sz="1600">
              <a:latin typeface="Arial"/>
              <a:ea typeface="Arial"/>
              <a:cs typeface="Arial"/>
              <a:sym typeface="Arial"/>
            </a:endParaRPr>
          </a:p>
          <a:p>
            <a:pPr indent="0" lvl="0" marL="0" rtl="0" algn="l">
              <a:lnSpc>
                <a:spcPct val="115000"/>
              </a:lnSpc>
              <a:spcBef>
                <a:spcPts val="480"/>
              </a:spcBef>
              <a:spcAft>
                <a:spcPts val="0"/>
              </a:spcAft>
              <a:buNone/>
            </a:pPr>
            <a:r>
              <a:t/>
            </a:r>
            <a:endParaRPr sz="1600">
              <a:latin typeface="Arial"/>
              <a:ea typeface="Arial"/>
              <a:cs typeface="Arial"/>
              <a:sym typeface="Arial"/>
            </a:endParaRPr>
          </a:p>
          <a:p>
            <a:pPr indent="0" lvl="0" marL="0" rtl="0" algn="l">
              <a:lnSpc>
                <a:spcPct val="115000"/>
              </a:lnSpc>
              <a:spcBef>
                <a:spcPts val="480"/>
              </a:spcBef>
              <a:spcAft>
                <a:spcPts val="0"/>
              </a:spcAft>
              <a:buNone/>
            </a:pPr>
            <a:r>
              <a:rPr b="1" lang="en-US" sz="1600">
                <a:latin typeface="Arial"/>
                <a:ea typeface="Arial"/>
                <a:cs typeface="Arial"/>
                <a:sym typeface="Arial"/>
              </a:rPr>
              <a:t>Conclusion:</a:t>
            </a:r>
            <a:endParaRPr b="1" sz="1600">
              <a:latin typeface="Arial"/>
              <a:ea typeface="Arial"/>
              <a:cs typeface="Arial"/>
              <a:sym typeface="Arial"/>
            </a:endParaRPr>
          </a:p>
          <a:p>
            <a:pPr indent="0" lvl="0" marL="0" rtl="0" algn="l">
              <a:lnSpc>
                <a:spcPct val="115000"/>
              </a:lnSpc>
              <a:spcBef>
                <a:spcPts val="480"/>
              </a:spcBef>
              <a:spcAft>
                <a:spcPts val="0"/>
              </a:spcAft>
              <a:buNone/>
            </a:pPr>
            <a:r>
              <a:t/>
            </a:r>
            <a:endParaRPr sz="1600">
              <a:latin typeface="Arial"/>
              <a:ea typeface="Arial"/>
              <a:cs typeface="Arial"/>
              <a:sym typeface="Arial"/>
            </a:endParaRPr>
          </a:p>
          <a:p>
            <a:pPr indent="457200" lvl="0" marL="0" rtl="0" algn="l">
              <a:lnSpc>
                <a:spcPct val="115000"/>
              </a:lnSpc>
              <a:spcBef>
                <a:spcPts val="480"/>
              </a:spcBef>
              <a:spcAft>
                <a:spcPts val="0"/>
              </a:spcAft>
              <a:buClr>
                <a:schemeClr val="dk1"/>
              </a:buClr>
              <a:buSzPts val="1100"/>
              <a:buFont typeface="Arial"/>
              <a:buNone/>
            </a:pPr>
            <a:r>
              <a:rPr lang="en-US" sz="1600">
                <a:latin typeface="Arial"/>
                <a:ea typeface="Arial"/>
                <a:cs typeface="Arial"/>
                <a:sym typeface="Arial"/>
              </a:rPr>
              <a:t>The implementation of an AI-powered conversational assistant for the PGRKAM platform is both technologically feasible and cost-effective. By leveraging existing AI technologies and adopting a hybrid development approach, the platform can significantly enhance user experience, improve operational efficiency, and ensure scalability to meet future demands.</a:t>
            </a:r>
            <a:endParaRPr sz="16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Architecture Diagram</a:t>
            </a:r>
            <a:endParaRPr>
              <a:latin typeface="Cambria"/>
              <a:ea typeface="Cambria"/>
              <a:cs typeface="Cambria"/>
              <a:sym typeface="Cambria"/>
            </a:endParaRPr>
          </a:p>
        </p:txBody>
      </p:sp>
      <p:pic>
        <p:nvPicPr>
          <p:cNvPr id="231" name="Google Shape;231;p36" title="Architectural diagram.png"/>
          <p:cNvPicPr preferRelativeResize="0"/>
          <p:nvPr/>
        </p:nvPicPr>
        <p:blipFill>
          <a:blip r:embed="rId3">
            <a:alphaModFix/>
          </a:blip>
          <a:stretch>
            <a:fillRect/>
          </a:stretch>
        </p:blipFill>
        <p:spPr>
          <a:xfrm>
            <a:off x="3543300" y="1047900"/>
            <a:ext cx="4994899" cy="5131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Modules</a:t>
            </a:r>
            <a:endParaRPr>
              <a:latin typeface="Cambria"/>
              <a:ea typeface="Cambria"/>
              <a:cs typeface="Cambria"/>
              <a:sym typeface="Cambria"/>
            </a:endParaRPr>
          </a:p>
        </p:txBody>
      </p:sp>
      <p:graphicFrame>
        <p:nvGraphicFramePr>
          <p:cNvPr id="237" name="Google Shape;237;p37"/>
          <p:cNvGraphicFramePr/>
          <p:nvPr/>
        </p:nvGraphicFramePr>
        <p:xfrm>
          <a:off x="731520" y="1160890"/>
          <a:ext cx="3000000" cy="3000000"/>
        </p:xfrm>
        <a:graphic>
          <a:graphicData uri="http://schemas.openxmlformats.org/drawingml/2006/table">
            <a:tbl>
              <a:tblPr>
                <a:noFill/>
                <a:tableStyleId>{C54ECD32-9E77-4681-9E0F-04F7D2921DDB}</a:tableStyleId>
              </a:tblPr>
              <a:tblGrid>
                <a:gridCol w="5415275"/>
                <a:gridCol w="5334000"/>
              </a:tblGrid>
              <a:tr h="477075">
                <a:tc>
                  <a:txBody>
                    <a:bodyPr/>
                    <a:lstStyle/>
                    <a:p>
                      <a:pPr indent="0" lvl="0" marL="0" marR="0" rtl="0" algn="l">
                        <a:lnSpc>
                          <a:spcPct val="100000"/>
                        </a:lnSpc>
                        <a:spcBef>
                          <a:spcPts val="0"/>
                        </a:spcBef>
                        <a:spcAft>
                          <a:spcPts val="0"/>
                        </a:spcAft>
                        <a:buClr>
                          <a:srgbClr val="000000"/>
                        </a:buClr>
                        <a:buSzPts val="1400"/>
                        <a:buFont typeface="Arial"/>
                        <a:buNone/>
                      </a:pPr>
                      <a:r>
                        <a:rPr lang="en-US" sz="1600" u="sng" cap="none" strike="noStrike"/>
                        <a:t>Module Name</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sng" cap="none" strike="noStrike"/>
                        <a:t>Core Functionality</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050">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Private Sector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Listing and application portal for jobs in private companies.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Government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Provides information and application links for public sector and government positions.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Self-Employment Avenues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Offers resources and guidance for users interested in starting their own businesses.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Foreign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Details and application processes for employment opportunities abroad.</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Foreign Study</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Information related to international educational opportunities and courses.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243" name="Google Shape;243;p38"/>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00000"/>
              </a:lnSpc>
              <a:spcBef>
                <a:spcPts val="0"/>
              </a:spcBef>
              <a:spcAft>
                <a:spcPts val="0"/>
              </a:spcAft>
              <a:buClr>
                <a:schemeClr val="dk1"/>
              </a:buClr>
              <a:buSzPts val="2400"/>
              <a:buNone/>
            </a:pPr>
            <a:r>
              <a:rPr b="1" lang="en-US" sz="1600">
                <a:latin typeface="Arial"/>
                <a:ea typeface="Arial"/>
                <a:cs typeface="Arial"/>
                <a:sym typeface="Arial"/>
              </a:rPr>
              <a:t>Software:</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Programming Languages:</a:t>
            </a:r>
            <a:endParaRPr b="1" sz="1600">
              <a:latin typeface="Arial"/>
              <a:ea typeface="Arial"/>
              <a:cs typeface="Arial"/>
              <a:sym typeface="Arial"/>
            </a:endParaRPr>
          </a:p>
          <a:p>
            <a:pPr indent="0" lvl="0" marL="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Python: </a:t>
            </a:r>
            <a:r>
              <a:rPr lang="en-US" sz="1600">
                <a:latin typeface="Arial"/>
                <a:ea typeface="Arial"/>
                <a:cs typeface="Arial"/>
                <a:sym typeface="Arial"/>
              </a:rPr>
              <a:t>For AI model integration, NLP processing, and backend logic.</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JavaScript / TypeScript: </a:t>
            </a:r>
            <a:r>
              <a:rPr lang="en-US" sz="1600">
                <a:latin typeface="Arial"/>
                <a:ea typeface="Arial"/>
                <a:cs typeface="Arial"/>
                <a:sym typeface="Arial"/>
              </a:rPr>
              <a:t>For frontend development and interactivity.</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Web Frameworks: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Flask or FastAPI: </a:t>
            </a:r>
            <a:r>
              <a:rPr lang="en-US" sz="1600">
                <a:latin typeface="Arial"/>
                <a:ea typeface="Arial"/>
                <a:cs typeface="Arial"/>
                <a:sym typeface="Arial"/>
              </a:rPr>
              <a:t>Lightweight frameworks for API development and backend services.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AI / NLP Components: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LLM API: </a:t>
            </a:r>
            <a:r>
              <a:rPr lang="en-US" sz="1600">
                <a:latin typeface="Arial"/>
                <a:ea typeface="Arial"/>
                <a:cs typeface="Arial"/>
                <a:sym typeface="Arial"/>
              </a:rPr>
              <a:t>GPT-3, GPT-4, or LLaMA for language understanding and response generation.</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Retrieval Tools: </a:t>
            </a:r>
            <a:r>
              <a:rPr lang="en-US" sz="1600">
                <a:latin typeface="Arial"/>
                <a:ea typeface="Arial"/>
                <a:cs typeface="Arial"/>
                <a:sym typeface="Arial"/>
              </a:rPr>
              <a:t>BM25 or vector-based search libraries (e.g., FAISS, Pinecone) for document retrieval.</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NLP Libraries: </a:t>
            </a:r>
            <a:r>
              <a:rPr lang="en-US" sz="1600">
                <a:latin typeface="Arial"/>
                <a:ea typeface="Arial"/>
                <a:cs typeface="Arial"/>
                <a:sym typeface="Arial"/>
              </a:rPr>
              <a:t>spaCy, NLTK, or Hugging Face Transformers for entity extraction, intent recognition, and preprocessing.</a:t>
            </a:r>
            <a:endParaRPr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249" name="Google Shape;249;p39"/>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Database and Storage:</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MongoDB / PostgreSQL: </a:t>
            </a:r>
            <a:r>
              <a:rPr lang="en-US" sz="1600">
                <a:latin typeface="Arial"/>
                <a:ea typeface="Arial"/>
                <a:cs typeface="Arial"/>
                <a:sym typeface="Arial"/>
              </a:rPr>
              <a:t>To store structured and unstructured data, user sessions, and logs.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Optional: </a:t>
            </a:r>
            <a:r>
              <a:rPr lang="en-US" sz="1600">
                <a:latin typeface="Arial"/>
                <a:ea typeface="Arial"/>
                <a:cs typeface="Arial"/>
                <a:sym typeface="Arial"/>
              </a:rPr>
              <a:t>Vector databases for embeddings storage (e.g., Pinecone, Weaviate).</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Version Control &amp; Collaboration:</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Git / GitHub / GitLab: </a:t>
            </a:r>
            <a:r>
              <a:rPr lang="en-US" sz="1600">
                <a:latin typeface="Arial"/>
                <a:ea typeface="Arial"/>
                <a:cs typeface="Arial"/>
                <a:sym typeface="Arial"/>
              </a:rPr>
              <a:t>For source control, collaboration, and CI/CD pipelines.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Other Tools: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Docker: </a:t>
            </a:r>
            <a:r>
              <a:rPr lang="en-US" sz="1600">
                <a:latin typeface="Arial"/>
                <a:ea typeface="Arial"/>
                <a:cs typeface="Arial"/>
                <a:sym typeface="Arial"/>
              </a:rPr>
              <a:t>For containerization and easier deployment.</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Cloud Platforms: </a:t>
            </a:r>
            <a:r>
              <a:rPr lang="en-US" sz="1600">
                <a:latin typeface="Arial"/>
                <a:ea typeface="Arial"/>
                <a:cs typeface="Arial"/>
                <a:sym typeface="Arial"/>
              </a:rPr>
              <a:t>AWS, GCP, or Azure for hosting, scalability, and GPU access.</a:t>
            </a:r>
            <a:endParaRPr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8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255" name="Google Shape;255;p40"/>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00000"/>
              </a:lnSpc>
              <a:spcBef>
                <a:spcPts val="0"/>
              </a:spcBef>
              <a:spcAft>
                <a:spcPts val="0"/>
              </a:spcAft>
              <a:buClr>
                <a:schemeClr val="dk1"/>
              </a:buClr>
              <a:buSzPts val="2400"/>
              <a:buNone/>
            </a:pPr>
            <a:r>
              <a:rPr b="1" lang="en-US" sz="1600">
                <a:latin typeface="Arial"/>
                <a:ea typeface="Arial"/>
                <a:cs typeface="Arial"/>
                <a:sym typeface="Arial"/>
              </a:rPr>
              <a:t>Hardware Requirements:</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Development Machines: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Standard laptops/desktops with 8–16 GB RAM, modern CPU, and internet access for testing and development.</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Server / Deployment Requirements: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Cloud-based server with sufficient CPU cores (4–8 cores recommended) and 16–32 GB RAM for backend and API hosting.</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GPU (Optional but recommended): NVIDIA GPU with at least 8–16 GB VRAM for running embedding models, fine-tuning, or local LLM inference.</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Storage:</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Sufficient disk space for logs, user data, PDFs, and embeddings, typically 100 GB+ depending on dataset size.</a:t>
            </a:r>
            <a:endParaRPr sz="1600">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261" name="Google Shape;261;p41"/>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262" name="Google Shape;262;p41"/>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263" name="Google Shape;263;p41"/>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lang="en-US" sz="1800">
                <a:solidFill>
                  <a:srgbClr val="953734"/>
                </a:solidFill>
                <a:latin typeface="Cambria"/>
                <a:ea typeface="Cambria"/>
                <a:cs typeface="Cambria"/>
                <a:sym typeface="Cambria"/>
              </a:rPr>
              <a:t>G</a:t>
            </a:r>
            <a:r>
              <a:rPr b="1" i="0" lang="en-US" sz="1800" u="none" cap="none" strike="noStrike">
                <a:solidFill>
                  <a:srgbClr val="953734"/>
                </a:solidFill>
                <a:latin typeface="Cambria"/>
                <a:ea typeface="Cambria"/>
                <a:cs typeface="Cambria"/>
                <a:sym typeface="Cambria"/>
              </a:rPr>
              <a:t>ithub Link:</a:t>
            </a:r>
            <a:endParaRPr b="1" i="0" sz="18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i="0" lang="en-US" sz="1800" u="none" cap="none" strike="noStrike">
                <a:solidFill>
                  <a:srgbClr val="000000"/>
                </a:solidFill>
                <a:latin typeface="Cambria"/>
                <a:ea typeface="Cambria"/>
                <a:cs typeface="Cambria"/>
                <a:sym typeface="Cambria"/>
              </a:rPr>
              <a:t>	</a:t>
            </a:r>
            <a:r>
              <a:rPr b="1" i="0" lang="en-US" sz="1800" u="sng" cap="none" strike="noStrike">
                <a:solidFill>
                  <a:schemeClr val="hlink"/>
                </a:solidFill>
                <a:latin typeface="Cambria"/>
                <a:ea typeface="Cambria"/>
                <a:cs typeface="Cambria"/>
                <a:sym typeface="Cambria"/>
                <a:hlinkClick r:id="rId3"/>
              </a:rPr>
              <a:t>https://github.com/ashwin2947/PGRKAM-Smart-Assistant</a:t>
            </a:r>
            <a:endParaRPr b="1" i="0" sz="18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pic>
        <p:nvPicPr>
          <p:cNvPr id="269" name="Google Shape;269;p42" title="Online Gantt 20250928.png"/>
          <p:cNvPicPr preferRelativeResize="0"/>
          <p:nvPr/>
        </p:nvPicPr>
        <p:blipFill>
          <a:blip r:embed="rId3">
            <a:alphaModFix/>
          </a:blip>
          <a:stretch>
            <a:fillRect/>
          </a:stretch>
        </p:blipFill>
        <p:spPr>
          <a:xfrm>
            <a:off x="152400" y="1346350"/>
            <a:ext cx="11722450" cy="36142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0" lvl="0" marL="152400" rtl="0" algn="l">
              <a:lnSpc>
                <a:spcPct val="150000"/>
              </a:lnSpc>
              <a:spcBef>
                <a:spcPts val="0"/>
              </a:spcBef>
              <a:spcAft>
                <a:spcPts val="0"/>
              </a:spcAft>
              <a:buSzPts val="2400"/>
              <a:buNone/>
            </a:pPr>
            <a:r>
              <a:rPr lang="en-US" sz="1800">
                <a:latin typeface="Arial"/>
                <a:ea typeface="Arial"/>
                <a:cs typeface="Arial"/>
                <a:sym typeface="Arial"/>
              </a:rPr>
              <a:t>[1] Y. Xu et al., “LayoutLM: Pre-training of Text and Layout for Document Image Understanding,” ACL,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[2] T. Powalski et al., “Going Full-TILT Boogie on Document Understanding with Text-Image-Layout Transformer,” NAACL, 2021.</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[3] M. Li et al., “TableBank: Table Benchmark for Image-based Table Detection and Recognition,” ICDAR, 2019.</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[4] V. Karpukhin et al., “Dense Passage Retrieval for Open-Domain Question Answering,” EMNLP,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[5] P. Lewis et al., “Retrieval-Augmented Generation for Knowledge-Intensive NLP Tasks,” NeurIPS,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[6] O. Khattab and M. Zaharia, “ColBERT: Efficient and Effective Passage Search via Contextualized Late Interaction over BERT,” SIGIR,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t/>
            </a:r>
            <a:endParaRPr sz="1800">
              <a:latin typeface="Arial"/>
              <a:ea typeface="Arial"/>
              <a:cs typeface="Arial"/>
              <a:sym typeface="Arial"/>
            </a:endParaRPr>
          </a:p>
        </p:txBody>
      </p:sp>
      <p:sp>
        <p:nvSpPr>
          <p:cNvPr id="275" name="Google Shape;275;p4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281" name="Google Shape;281;p4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0" lvl="0" marL="152400" rtl="0" algn="l">
              <a:lnSpc>
                <a:spcPct val="150000"/>
              </a:lnSpc>
              <a:spcBef>
                <a:spcPts val="0"/>
              </a:spcBef>
              <a:spcAft>
                <a:spcPts val="0"/>
              </a:spcAft>
              <a:buClr>
                <a:schemeClr val="dk1"/>
              </a:buClr>
              <a:buSzPts val="2220"/>
              <a:buFont typeface="Arial"/>
              <a:buNone/>
            </a:pPr>
            <a:r>
              <a:rPr lang="en-US" sz="1800">
                <a:latin typeface="Arial"/>
                <a:ea typeface="Arial"/>
                <a:cs typeface="Arial"/>
                <a:sym typeface="Arial"/>
              </a:rPr>
              <a:t>[7] P. Budzianowski et al., “MultiWOZ: A Large-Scale Multi-Domain Wizard-of-Oz Dataset for Task-Oriented Dialogue Modelling,” EMNLP, 2018.</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[8] C. Wu et al., “Transferable Multi-Domain State Generator for Task-Oriented Dialogue Systems,” ACL, 2019.</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[9] Q. Chen et al., “BERT for Joint Intent Classification and Slot Filling,” NAACL, 2019.</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[10] Y. Lin et al., “A Survey on Named Entity Recognition: From Deep Learning to Low-Resource Languages,” TACL, 2020.</a:t>
            </a:r>
            <a:endParaRPr sz="1800">
              <a:latin typeface="Arial"/>
              <a:ea typeface="Arial"/>
              <a:cs typeface="Arial"/>
              <a:sym typeface="Arial"/>
            </a:endParaRPr>
          </a:p>
          <a:p>
            <a:pPr indent="0" lvl="0" marL="152400" rtl="0" algn="l">
              <a:lnSpc>
                <a:spcPct val="150000"/>
              </a:lnSpc>
              <a:spcBef>
                <a:spcPts val="0"/>
              </a:spcBef>
              <a:spcAft>
                <a:spcPts val="0"/>
              </a:spcAft>
              <a:buClr>
                <a:schemeClr val="dk1"/>
              </a:buClr>
              <a:buSzPts val="2220"/>
              <a:buFont typeface="Arial"/>
              <a:buNone/>
            </a:pPr>
            <a:r>
              <a:rPr lang="en-US" sz="1800">
                <a:latin typeface="Arial"/>
                <a:ea typeface="Arial"/>
                <a:cs typeface="Arial"/>
                <a:sym typeface="Arial"/>
              </a:rPr>
              <a:t>[11] P. Rajpurkar et al., “SQuAD: 100,000+ Questions for Machine Comprehension of Text,” EMNLP, 2016.</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[12] Z. Yang et al., “HotpotQA: A Dataset for Diverse, Explainable Multi-hop Question Answering,” EMNLP, 2018.</a:t>
            </a:r>
            <a:endParaRPr sz="1800">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287" name="Google Shape;287;p4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152400" rtl="0" algn="l">
              <a:lnSpc>
                <a:spcPct val="150000"/>
              </a:lnSpc>
              <a:spcBef>
                <a:spcPts val="0"/>
              </a:spcBef>
              <a:spcAft>
                <a:spcPts val="0"/>
              </a:spcAft>
              <a:buSzPts val="2400"/>
              <a:buNone/>
            </a:pPr>
            <a:r>
              <a:rPr lang="en-US" sz="1800">
                <a:latin typeface="Arial"/>
                <a:ea typeface="Arial"/>
                <a:cs typeface="Arial"/>
                <a:sym typeface="Arial"/>
              </a:rPr>
              <a:t>[13] A. Conneau et al., “Unsupervised Cross-lingual Representation Learning at Scale,” ACL,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[14] K. Bali et al., “Challenges in Code-Mixed Indian Social Media Text,” ICON Workshop, 2014.</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[15] M. Lyu et al., “Differentially Private Language Models for Text Generation,” ICML,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[16] B. Settles, “Active Learning Literature Survey,” University of Wisconsin-Madison, Tech. Report, 2009.</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t/>
            </a:r>
            <a:endParaRPr sz="18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8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800">
              <a:latin typeface="Arial"/>
              <a:ea typeface="Arial"/>
              <a:cs typeface="Arial"/>
              <a:sym typeface="Arial"/>
            </a:endParaRPr>
          </a:p>
          <a:p>
            <a:pPr indent="0" lvl="0" marL="0" rtl="0" algn="l">
              <a:lnSpc>
                <a:spcPct val="115000"/>
              </a:lnSpc>
              <a:spcBef>
                <a:spcPts val="0"/>
              </a:spcBef>
              <a:spcAft>
                <a:spcPts val="0"/>
              </a:spcAft>
              <a:buSzPts val="2400"/>
              <a:buNone/>
            </a:pPr>
            <a:r>
              <a:t/>
            </a:r>
            <a:endParaRPr sz="1800">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46"/>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