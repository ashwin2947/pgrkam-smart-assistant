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Raleway Medium"/>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30A096-BD7F-43C1-9324-DCBB831D89B9}">
  <a:tblStyle styleId="{4A30A096-BD7F-43C1-9324-DCBB831D89B9}"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3FAE537-4F74-4339-8C20-19F2AF37D2D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aleway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Medium-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Medium-italic.fntdata"/><Relationship Id="rId6" Type="http://schemas.openxmlformats.org/officeDocument/2006/relationships/slide" Target="slides/slide1.xml"/><Relationship Id="rId18" Type="http://schemas.openxmlformats.org/officeDocument/2006/relationships/font" Target="fonts/RalewayMedium-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47e1c2c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847e1c2c7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ashwin2947/PGRKAM-Smart-Assistan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PGRKAM Smart Assistant: An LLM-Powered Conversational Platform for Job Seekers</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CAI_36</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Mr. Jai Kumar B</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{4A30A096-BD7F-43C1-9324-DCBB831D89B9}</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CSE7101- Capstone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Review-1</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i="0" lang="en-US" sz="1800" u="none" cap="none" strike="noStrike">
                <a:solidFill>
                  <a:srgbClr val="FF0000"/>
                </a:solidFill>
                <a:latin typeface="Cambria"/>
                <a:ea typeface="Cambria"/>
                <a:cs typeface="Cambria"/>
                <a:sym typeface="Cambria"/>
              </a:rPr>
              <a:t>Dr. Afroz Pasha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{F3FAE537-4F74-4339-8C20-19F2AF37D2D8}</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PSCS_17</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600">
                <a:latin typeface="Arial"/>
                <a:ea typeface="Arial"/>
                <a:cs typeface="Arial"/>
                <a:sym typeface="Arial"/>
              </a:rPr>
              <a:t>Organization:</a:t>
            </a:r>
            <a:r>
              <a:rPr lang="en-US" sz="1600">
                <a:latin typeface="Arial"/>
                <a:ea typeface="Arial"/>
                <a:cs typeface="Arial"/>
                <a:sym typeface="Arial"/>
              </a:rPr>
              <a:t> “Government of Punjab”</a:t>
            </a:r>
            <a:endParaRPr sz="16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Category (Hardware / Software / Both) :</a:t>
            </a:r>
            <a:r>
              <a:rPr lang="en-US" sz="1600">
                <a:latin typeface="Arial"/>
                <a:ea typeface="Arial"/>
                <a:cs typeface="Arial"/>
                <a:sym typeface="Arial"/>
              </a:rPr>
              <a:t> “Software”</a:t>
            </a:r>
            <a:endParaRPr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Problem Description:</a:t>
            </a:r>
            <a:r>
              <a:rPr lang="en-US" sz="1600">
                <a:latin typeface="Arial"/>
                <a:ea typeface="Arial"/>
                <a:cs typeface="Arial"/>
                <a:sym typeface="Arial"/>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endParaRPr sz="16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05" name="Google Shape;105;p15"/>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740" u="sng">
                <a:latin typeface="Cambria"/>
                <a:ea typeface="Cambria"/>
                <a:cs typeface="Cambria"/>
                <a:sym typeface="Cambria"/>
              </a:rPr>
              <a:t>Problem Statement</a:t>
            </a:r>
            <a:endParaRPr sz="1740" u="sng">
              <a:latin typeface="Cambria"/>
              <a:ea typeface="Cambria"/>
              <a:cs typeface="Cambria"/>
              <a:sym typeface="Cambria"/>
            </a:endParaRPr>
          </a:p>
          <a:p>
            <a:pPr indent="0" lvl="0" marL="457200" rtl="0" algn="just">
              <a:lnSpc>
                <a:spcPct val="150000"/>
              </a:lnSpc>
              <a:spcBef>
                <a:spcPts val="0"/>
              </a:spcBef>
              <a:spcAft>
                <a:spcPts val="0"/>
              </a:spcAft>
              <a:buSzPts val="523"/>
              <a:buNone/>
            </a:pPr>
            <a:r>
              <a:rPr lang="en-US" sz="1540">
                <a:latin typeface="Cambria"/>
                <a:ea typeface="Cambria"/>
                <a:cs typeface="Cambria"/>
                <a:sym typeface="Cambria"/>
              </a:rPr>
              <a:t>	</a:t>
            </a:r>
            <a:r>
              <a:rPr lang="en-US" sz="1640">
                <a:latin typeface="Cambria"/>
                <a:ea typeface="Cambria"/>
                <a:cs typeface="Cambria"/>
                <a:sym typeface="Cambria"/>
              </a:rPr>
              <a:t>The current PGRKAM digital platform lacks an effective user guidance system, forcing users to manually navigate multiple modules to find information. This results in a poor user experience and inefficiency. The core problem is the absence of a "hand-holding mechanism" that can intelligently assist users, streamline the information discovery process, and reduce the time and effort required to find relevant details about jobs, skill development, or foreign counseling.</a:t>
            </a:r>
            <a:endParaRPr sz="1640">
              <a:latin typeface="Cambria"/>
              <a:ea typeface="Cambria"/>
              <a:cs typeface="Cambria"/>
              <a:sym typeface="Cambria"/>
            </a:endParaRPr>
          </a:p>
          <a:p>
            <a:pPr indent="-190500" lvl="0" marL="495300" rtl="0" algn="just">
              <a:lnSpc>
                <a:spcPct val="200000"/>
              </a:lnSpc>
              <a:spcBef>
                <a:spcPts val="0"/>
              </a:spcBef>
              <a:spcAft>
                <a:spcPts val="0"/>
              </a:spcAft>
              <a:buClr>
                <a:schemeClr val="dk1"/>
              </a:buClr>
              <a:buSzPts val="1629"/>
              <a:buFont typeface="Noto Sans Symbols"/>
              <a:buNone/>
            </a:pPr>
            <a:r>
              <a:t/>
            </a:r>
            <a:endParaRPr sz="1540">
              <a:latin typeface="Cambria"/>
              <a:ea typeface="Cambria"/>
              <a:cs typeface="Cambria"/>
              <a:sym typeface="Cambria"/>
            </a:endParaRPr>
          </a:p>
          <a:p>
            <a:pPr indent="-190500" lvl="0" marL="495300" rtl="0" algn="just">
              <a:lnSpc>
                <a:spcPct val="200000"/>
              </a:lnSpc>
              <a:spcBef>
                <a:spcPts val="0"/>
              </a:spcBef>
              <a:spcAft>
                <a:spcPts val="0"/>
              </a:spcAft>
              <a:buClr>
                <a:schemeClr val="dk1"/>
              </a:buClr>
              <a:buSzPts val="1629"/>
              <a:buFont typeface="Noto Sans Symbols"/>
              <a:buNone/>
            </a:pPr>
            <a:r>
              <a:t/>
            </a:r>
            <a:endParaRPr sz="1540">
              <a:latin typeface="Cambria"/>
              <a:ea typeface="Cambria"/>
              <a:cs typeface="Cambria"/>
              <a:sym typeface="Cambria"/>
            </a:endParaRPr>
          </a:p>
          <a:p>
            <a:pPr indent="-190500" lvl="0" marL="495300" rtl="0" algn="just">
              <a:lnSpc>
                <a:spcPct val="200000"/>
              </a:lnSpc>
              <a:spcBef>
                <a:spcPts val="0"/>
              </a:spcBef>
              <a:spcAft>
                <a:spcPts val="0"/>
              </a:spcAft>
              <a:buClr>
                <a:schemeClr val="dk1"/>
              </a:buClr>
              <a:buSzPts val="1629"/>
              <a:buFont typeface="Noto Sans Symbols"/>
              <a:buNone/>
            </a:pPr>
            <a:r>
              <a:t/>
            </a:r>
            <a:endParaRPr sz="1540">
              <a:latin typeface="Cambria"/>
              <a:ea typeface="Cambria"/>
              <a:cs typeface="Cambria"/>
              <a:sym typeface="Cambria"/>
            </a:endParaRPr>
          </a:p>
        </p:txBody>
      </p:sp>
      <p:sp>
        <p:nvSpPr>
          <p:cNvPr id="106" name="Google Shape;106;p15"/>
          <p:cNvSpPr txBox="1"/>
          <p:nvPr/>
        </p:nvSpPr>
        <p:spPr>
          <a:xfrm>
            <a:off x="855250" y="3556125"/>
            <a:ext cx="10583100" cy="24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chemeClr val="dk1"/>
                </a:solidFill>
                <a:latin typeface="Cambria"/>
                <a:ea typeface="Cambria"/>
                <a:cs typeface="Cambria"/>
                <a:sym typeface="Cambria"/>
              </a:rPr>
              <a:t>Objectives</a:t>
            </a:r>
            <a:endParaRPr b="1" i="0" sz="1700" u="sng"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ambria"/>
                <a:ea typeface="Cambria"/>
                <a:cs typeface="Cambria"/>
                <a:sym typeface="Cambria"/>
              </a:rPr>
              <a:t>	</a:t>
            </a:r>
            <a:endParaRPr b="1" i="0" sz="1500" u="none" cap="none" strike="noStrike">
              <a:solidFill>
                <a:schemeClr val="dk1"/>
              </a:solidFill>
              <a:latin typeface="Cambria"/>
              <a:ea typeface="Cambria"/>
              <a:cs typeface="Cambria"/>
              <a:sym typeface="Cambria"/>
            </a:endParaRPr>
          </a:p>
          <a:p>
            <a:pPr indent="-330200" lvl="0" marL="914400" marR="0" rtl="0" algn="l">
              <a:lnSpc>
                <a:spcPct val="150000"/>
              </a:lnSpc>
              <a:spcBef>
                <a:spcPts val="0"/>
              </a:spcBef>
              <a:spcAft>
                <a:spcPts val="0"/>
              </a:spcAft>
              <a:buClr>
                <a:schemeClr val="dk1"/>
              </a:buClr>
              <a:buSzPts val="1600"/>
              <a:buFont typeface="Cambria"/>
              <a:buAutoNum type="arabicPeriod"/>
            </a:pPr>
            <a:r>
              <a:rPr b="0" i="0" lang="en-US" sz="1600" u="none" cap="none" strike="noStrike">
                <a:solidFill>
                  <a:schemeClr val="dk1"/>
                </a:solidFill>
                <a:latin typeface="Cambria"/>
                <a:ea typeface="Cambria"/>
                <a:cs typeface="Cambria"/>
                <a:sym typeface="Cambria"/>
              </a:rPr>
              <a:t>Develop a smart chat-bot.</a:t>
            </a:r>
            <a:endParaRPr b="0" i="0" sz="1600" u="none" cap="none" strike="noStrike">
              <a:solidFill>
                <a:schemeClr val="dk1"/>
              </a:solidFill>
              <a:latin typeface="Cambria"/>
              <a:ea typeface="Cambria"/>
              <a:cs typeface="Cambria"/>
              <a:sym typeface="Cambria"/>
            </a:endParaRPr>
          </a:p>
          <a:p>
            <a:pPr indent="-330200" lvl="0" marL="914400" marR="0" rtl="0" algn="l">
              <a:lnSpc>
                <a:spcPct val="150000"/>
              </a:lnSpc>
              <a:spcBef>
                <a:spcPts val="0"/>
              </a:spcBef>
              <a:spcAft>
                <a:spcPts val="0"/>
              </a:spcAft>
              <a:buClr>
                <a:schemeClr val="dk1"/>
              </a:buClr>
              <a:buSzPts val="1600"/>
              <a:buFont typeface="Cambria"/>
              <a:buAutoNum type="arabicPeriod"/>
            </a:pPr>
            <a:r>
              <a:rPr b="0" i="0" lang="en-US" sz="1600" u="none" cap="none" strike="noStrike">
                <a:solidFill>
                  <a:schemeClr val="dk1"/>
                </a:solidFill>
                <a:latin typeface="Cambria"/>
                <a:ea typeface="Cambria"/>
                <a:cs typeface="Cambria"/>
                <a:sym typeface="Cambria"/>
              </a:rPr>
              <a:t>Enhance User Accessibility</a:t>
            </a:r>
            <a:endParaRPr b="0" i="0" sz="1600" u="none" cap="none" strike="noStrike">
              <a:solidFill>
                <a:schemeClr val="dk1"/>
              </a:solidFill>
              <a:latin typeface="Cambria"/>
              <a:ea typeface="Cambria"/>
              <a:cs typeface="Cambria"/>
              <a:sym typeface="Cambria"/>
            </a:endParaRPr>
          </a:p>
          <a:p>
            <a:pPr indent="-330200" lvl="0" marL="914400" marR="0" rtl="0" algn="l">
              <a:lnSpc>
                <a:spcPct val="150000"/>
              </a:lnSpc>
              <a:spcBef>
                <a:spcPts val="0"/>
              </a:spcBef>
              <a:spcAft>
                <a:spcPts val="0"/>
              </a:spcAft>
              <a:buClr>
                <a:schemeClr val="dk1"/>
              </a:buClr>
              <a:buSzPts val="1600"/>
              <a:buFont typeface="Cambria"/>
              <a:buAutoNum type="arabicPeriod"/>
            </a:pPr>
            <a:r>
              <a:rPr b="0" i="0" lang="en-US" sz="1600" u="none" cap="none" strike="noStrike">
                <a:solidFill>
                  <a:schemeClr val="dk1"/>
                </a:solidFill>
                <a:latin typeface="Cambria"/>
                <a:ea typeface="Cambria"/>
                <a:cs typeface="Cambria"/>
                <a:sym typeface="Cambria"/>
              </a:rPr>
              <a:t>Provide Personalized Assistance</a:t>
            </a:r>
            <a:endParaRPr b="0" i="0" sz="1600" u="none" cap="none" strike="noStrike">
              <a:solidFill>
                <a:schemeClr val="dk1"/>
              </a:solidFill>
              <a:latin typeface="Cambria"/>
              <a:ea typeface="Cambria"/>
              <a:cs typeface="Cambria"/>
              <a:sym typeface="Cambria"/>
            </a:endParaRPr>
          </a:p>
          <a:p>
            <a:pPr indent="-330200" lvl="0" marL="914400" marR="0" rtl="0" algn="l">
              <a:lnSpc>
                <a:spcPct val="150000"/>
              </a:lnSpc>
              <a:spcBef>
                <a:spcPts val="0"/>
              </a:spcBef>
              <a:spcAft>
                <a:spcPts val="0"/>
              </a:spcAft>
              <a:buClr>
                <a:schemeClr val="dk1"/>
              </a:buClr>
              <a:buSzPts val="1600"/>
              <a:buFont typeface="Cambria"/>
              <a:buAutoNum type="arabicPeriod"/>
            </a:pPr>
            <a:r>
              <a:rPr b="0" i="0" lang="en-US" sz="1600" u="none" cap="none" strike="noStrike">
                <a:solidFill>
                  <a:schemeClr val="dk1"/>
                </a:solidFill>
                <a:latin typeface="Cambria"/>
                <a:ea typeface="Cambria"/>
                <a:cs typeface="Cambria"/>
                <a:sym typeface="Cambria"/>
              </a:rPr>
              <a:t>Improve Information Retrieval</a:t>
            </a:r>
            <a:endParaRPr b="0" i="0" sz="1600" u="none" cap="none" strike="noStrike">
              <a:solidFill>
                <a:schemeClr val="dk1"/>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12" name="Google Shape;112;p16"/>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600" u="sng">
                <a:latin typeface="Arial"/>
                <a:ea typeface="Arial"/>
                <a:cs typeface="Arial"/>
                <a:sym typeface="Arial"/>
              </a:rPr>
              <a:t>Background and Related work for title Selection</a:t>
            </a:r>
            <a:endParaRPr b="1" sz="1600" u="sng">
              <a:latin typeface="Arial"/>
              <a:ea typeface="Arial"/>
              <a:cs typeface="Arial"/>
              <a:sym typeface="Arial"/>
            </a:endParaRPr>
          </a:p>
          <a:p>
            <a:pPr indent="0" lvl="0" marL="457200" rtl="0" algn="just">
              <a:lnSpc>
                <a:spcPct val="150000"/>
              </a:lnSpc>
              <a:spcBef>
                <a:spcPts val="0"/>
              </a:spcBef>
              <a:spcAft>
                <a:spcPts val="0"/>
              </a:spcAft>
              <a:buSzPts val="523"/>
              <a:buNone/>
            </a:pPr>
            <a:r>
              <a:rPr lang="en-US" sz="1600">
                <a:latin typeface="Arial"/>
                <a:ea typeface="Arial"/>
                <a:cs typeface="Arial"/>
                <a:sym typeface="Arial"/>
              </a:rPr>
              <a:t>The project's title, "PGRKAM Smart Assistant: An LLM-Powered Conversational Platform for Job Seekers," is derived from an analysis of existing and related technologies. It combines key aspects of the project: the platform name (PGRKAM), the core technology (LLM-Powered), and the purpose (Conversational Platform for Job Seekers).</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
        <p:nvSpPr>
          <p:cNvPr id="113" name="Google Shape;113;p16"/>
          <p:cNvSpPr txBox="1"/>
          <p:nvPr/>
        </p:nvSpPr>
        <p:spPr>
          <a:xfrm>
            <a:off x="855250" y="3556125"/>
            <a:ext cx="10583100" cy="24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US" sz="1600" u="sng" cap="none" strike="noStrike">
                <a:solidFill>
                  <a:schemeClr val="dk1"/>
                </a:solidFill>
              </a:rPr>
              <a:t>Related Work:</a:t>
            </a:r>
            <a:endParaRPr b="1" i="0" sz="1600" u="sng" cap="none" strike="noStrike">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b="1" i="0" lang="en-US" sz="1600" u="none" cap="none" strike="noStrike">
                <a:solidFill>
                  <a:schemeClr val="dk1"/>
                </a:solidFill>
              </a:rPr>
              <a:t>	</a:t>
            </a:r>
            <a:endParaRPr b="1" i="0" sz="1600" u="none" cap="none" strike="noStrike">
              <a:solidFill>
                <a:schemeClr val="dk1"/>
              </a:solidFill>
            </a:endParaRPr>
          </a:p>
          <a:p>
            <a:pPr indent="-330200" lvl="0" marL="914400" marR="0" rtl="0" algn="l">
              <a:lnSpc>
                <a:spcPct val="150000"/>
              </a:lnSpc>
              <a:spcBef>
                <a:spcPts val="0"/>
              </a:spcBef>
              <a:spcAft>
                <a:spcPts val="0"/>
              </a:spcAft>
              <a:buClr>
                <a:schemeClr val="dk1"/>
              </a:buClr>
              <a:buSzPts val="1600"/>
              <a:buAutoNum type="arabicPeriod"/>
            </a:pPr>
            <a:r>
              <a:rPr i="0" lang="en-US" sz="1600" u="none" cap="none" strike="noStrike">
                <a:solidFill>
                  <a:schemeClr val="dk1"/>
                </a:solidFill>
              </a:rPr>
              <a:t>Rule-Based Chatbots</a:t>
            </a:r>
            <a:endParaRPr i="0" sz="1600" u="none" cap="none" strike="noStrike">
              <a:solidFill>
                <a:schemeClr val="dk1"/>
              </a:solidFill>
            </a:endParaRPr>
          </a:p>
          <a:p>
            <a:pPr indent="-330200" lvl="0" marL="914400" marR="0" rtl="0" algn="l">
              <a:lnSpc>
                <a:spcPct val="150000"/>
              </a:lnSpc>
              <a:spcBef>
                <a:spcPts val="0"/>
              </a:spcBef>
              <a:spcAft>
                <a:spcPts val="0"/>
              </a:spcAft>
              <a:buClr>
                <a:schemeClr val="dk1"/>
              </a:buClr>
              <a:buSzPts val="1600"/>
              <a:buAutoNum type="arabicPeriod"/>
            </a:pPr>
            <a:r>
              <a:rPr i="0" lang="en-US" sz="1600" u="none" cap="none" strike="noStrike">
                <a:solidFill>
                  <a:schemeClr val="dk1"/>
                </a:solidFill>
              </a:rPr>
              <a:t>AI Assistants (e.g., Siri, Alexa)</a:t>
            </a:r>
            <a:endParaRPr i="0" sz="1600" u="none" cap="none" strike="noStrike">
              <a:solidFill>
                <a:schemeClr val="dk1"/>
              </a:solidFill>
            </a:endParaRPr>
          </a:p>
          <a:p>
            <a:pPr indent="-330200" lvl="0" marL="914400" marR="0" rtl="0" algn="l">
              <a:lnSpc>
                <a:spcPct val="150000"/>
              </a:lnSpc>
              <a:spcBef>
                <a:spcPts val="0"/>
              </a:spcBef>
              <a:spcAft>
                <a:spcPts val="0"/>
              </a:spcAft>
              <a:buClr>
                <a:schemeClr val="dk1"/>
              </a:buClr>
              <a:buSzPts val="1600"/>
              <a:buAutoNum type="arabicPeriod"/>
            </a:pPr>
            <a:r>
              <a:rPr i="0" lang="en-US" sz="1600" u="none" cap="none" strike="noStrike">
                <a:solidFill>
                  <a:schemeClr val="dk1"/>
                </a:solidFill>
              </a:rPr>
              <a:t>LLMs (e.g., GPT-3, GPT-4)</a:t>
            </a:r>
            <a:endParaRPr i="0" sz="1600" u="none" cap="none" strike="noStrike">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119" name="Google Shape;119;p17"/>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rPr b="1" lang="en-US" sz="1600">
                <a:latin typeface="Arial"/>
                <a:ea typeface="Arial"/>
                <a:cs typeface="Arial"/>
                <a:sym typeface="Arial"/>
              </a:rPr>
              <a:t>Technology Stack Components:</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sz="1600">
              <a:latin typeface="Arial"/>
              <a:ea typeface="Arial"/>
              <a:cs typeface="Arial"/>
              <a:sym typeface="Arial"/>
            </a:endParaRPr>
          </a:p>
          <a:p>
            <a:pPr indent="-190500" lvl="0" marL="1257300" rtl="0" algn="just">
              <a:lnSpc>
                <a:spcPct val="150000"/>
              </a:lnSpc>
              <a:spcBef>
                <a:spcPts val="0"/>
              </a:spcBef>
              <a:spcAft>
                <a:spcPts val="0"/>
              </a:spcAft>
              <a:buClr>
                <a:schemeClr val="dk1"/>
              </a:buClr>
              <a:buSzPts val="2400"/>
              <a:buNone/>
            </a:pPr>
            <a:r>
              <a:rPr lang="en-US" sz="1600">
                <a:latin typeface="Arial"/>
                <a:ea typeface="Arial"/>
                <a:cs typeface="Arial"/>
                <a:sym typeface="Arial"/>
              </a:rPr>
              <a:t>Front-End: 	JavaScript / Typescript</a:t>
            </a:r>
            <a:endParaRPr sz="1600">
              <a:latin typeface="Arial"/>
              <a:ea typeface="Arial"/>
              <a:cs typeface="Arial"/>
              <a:sym typeface="Arial"/>
            </a:endParaRPr>
          </a:p>
          <a:p>
            <a:pPr indent="-190500" lvl="0" marL="1257300" rtl="0" algn="just">
              <a:lnSpc>
                <a:spcPct val="150000"/>
              </a:lnSpc>
              <a:spcBef>
                <a:spcPts val="0"/>
              </a:spcBef>
              <a:spcAft>
                <a:spcPts val="0"/>
              </a:spcAft>
              <a:buClr>
                <a:schemeClr val="dk1"/>
              </a:buClr>
              <a:buSzPts val="2400"/>
              <a:buNone/>
            </a:pPr>
            <a:r>
              <a:rPr lang="en-US" sz="1600">
                <a:latin typeface="Arial"/>
                <a:ea typeface="Arial"/>
                <a:cs typeface="Arial"/>
                <a:sym typeface="Arial"/>
              </a:rPr>
              <a:t>Back-End: 	Flask</a:t>
            </a:r>
            <a:endParaRPr sz="1600">
              <a:latin typeface="Arial"/>
              <a:ea typeface="Arial"/>
              <a:cs typeface="Arial"/>
              <a:sym typeface="Arial"/>
            </a:endParaRPr>
          </a:p>
          <a:p>
            <a:pPr indent="-190500" lvl="0" marL="1257300" rtl="0" algn="just">
              <a:lnSpc>
                <a:spcPct val="150000"/>
              </a:lnSpc>
              <a:spcBef>
                <a:spcPts val="0"/>
              </a:spcBef>
              <a:spcAft>
                <a:spcPts val="0"/>
              </a:spcAft>
              <a:buClr>
                <a:schemeClr val="dk1"/>
              </a:buClr>
              <a:buSzPts val="2400"/>
              <a:buNone/>
            </a:pPr>
            <a:r>
              <a:rPr lang="en-US" sz="1600">
                <a:latin typeface="Arial"/>
                <a:ea typeface="Arial"/>
                <a:cs typeface="Arial"/>
                <a:sym typeface="Arial"/>
              </a:rPr>
              <a:t>Core-AI Engine: 	GPT-3/ GPT-4/ LLaMA</a:t>
            </a:r>
            <a:endParaRPr sz="1600">
              <a:latin typeface="Arial"/>
              <a:ea typeface="Arial"/>
              <a:cs typeface="Arial"/>
              <a:sym typeface="Arial"/>
            </a:endParaRPr>
          </a:p>
          <a:p>
            <a:pPr indent="-190500" lvl="0" marL="1257300" rtl="0" algn="just">
              <a:lnSpc>
                <a:spcPct val="150000"/>
              </a:lnSpc>
              <a:spcBef>
                <a:spcPts val="0"/>
              </a:spcBef>
              <a:spcAft>
                <a:spcPts val="0"/>
              </a:spcAft>
              <a:buClr>
                <a:schemeClr val="dk1"/>
              </a:buClr>
              <a:buSzPts val="2400"/>
              <a:buNone/>
            </a:pPr>
            <a:r>
              <a:rPr lang="en-US" sz="1600">
                <a:latin typeface="Arial"/>
                <a:ea typeface="Arial"/>
                <a:cs typeface="Arial"/>
                <a:sym typeface="Arial"/>
              </a:rPr>
              <a:t>Database: 	MongoDB/Pinecone</a:t>
            </a:r>
            <a:endParaRPr sz="1600">
              <a:latin typeface="Arial"/>
              <a:ea typeface="Arial"/>
              <a:cs typeface="Arial"/>
              <a:sym typeface="Arial"/>
            </a:endParaRPr>
          </a:p>
          <a:p>
            <a:pPr indent="-190500" lvl="0" marL="342900" rtl="0" algn="just">
              <a:lnSpc>
                <a:spcPct val="200000"/>
              </a:lnSpc>
              <a:spcBef>
                <a:spcPts val="0"/>
              </a:spcBef>
              <a:spcAft>
                <a:spcPts val="0"/>
              </a:spcAft>
              <a:buClr>
                <a:schemeClr val="dk1"/>
              </a:buClr>
              <a:buSzPts val="2400"/>
              <a:buNone/>
            </a:pPr>
            <a:r>
              <a:t/>
            </a:r>
            <a:endParaRPr sz="1600">
              <a:latin typeface="Arial"/>
              <a:ea typeface="Arial"/>
              <a:cs typeface="Arial"/>
              <a:sym typeface="Arial"/>
            </a:endParaRPr>
          </a:p>
          <a:p>
            <a:pPr indent="0" lvl="0" marL="0" rtl="0" algn="just">
              <a:lnSpc>
                <a:spcPct val="200000"/>
              </a:lnSpc>
              <a:spcBef>
                <a:spcPts val="0"/>
              </a:spcBef>
              <a:spcAft>
                <a:spcPts val="0"/>
              </a:spcAft>
              <a:buClr>
                <a:schemeClr val="dk1"/>
              </a:buClr>
              <a:buSzPts val="2400"/>
              <a:buNone/>
            </a:pPr>
            <a:r>
              <a:t/>
            </a:r>
            <a:endParaRPr sz="1600">
              <a:latin typeface="Arial"/>
              <a:ea typeface="Arial"/>
              <a:cs typeface="Arial"/>
              <a:sym typeface="Arial"/>
            </a:endParaRPr>
          </a:p>
          <a:p>
            <a:pPr indent="-190500" lvl="0" marL="342900" rtl="0" algn="just">
              <a:lnSpc>
                <a:spcPct val="200000"/>
              </a:lnSpc>
              <a:spcBef>
                <a:spcPts val="0"/>
              </a:spcBef>
              <a:spcAft>
                <a:spcPts val="0"/>
              </a:spcAft>
              <a:buClr>
                <a:schemeClr val="dk1"/>
              </a:buClr>
              <a:buSzPts val="2400"/>
              <a:buNone/>
            </a:pPr>
            <a:r>
              <a:t/>
            </a:r>
            <a:endParaRPr sz="1600">
              <a:latin typeface="Arial"/>
              <a:ea typeface="Arial"/>
              <a:cs typeface="Arial"/>
              <a:sym typeface="Arial"/>
            </a:endParaRPr>
          </a:p>
          <a:p>
            <a:pPr indent="-190500" lvl="0" marL="342900" rtl="0" algn="just">
              <a:lnSpc>
                <a:spcPct val="200000"/>
              </a:lnSpc>
              <a:spcBef>
                <a:spcPts val="0"/>
              </a:spcBef>
              <a:spcAft>
                <a:spcPts val="0"/>
              </a:spcAft>
              <a:buClr>
                <a:schemeClr val="dk1"/>
              </a:buClr>
              <a:buSzPts val="2400"/>
              <a:buNone/>
            </a:pPr>
            <a:r>
              <a:t/>
            </a:r>
            <a:endParaRPr sz="16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25" name="Google Shape;125;p18"/>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200000"/>
              </a:lnSpc>
              <a:spcBef>
                <a:spcPts val="0"/>
              </a:spcBef>
              <a:spcAft>
                <a:spcPts val="0"/>
              </a:spcAft>
              <a:buClr>
                <a:schemeClr val="dk1"/>
              </a:buClr>
              <a:buSzPts val="2400"/>
              <a:buNone/>
            </a:pPr>
            <a:r>
              <a:rPr b="1" lang="en-US" sz="1600">
                <a:latin typeface="Arial"/>
                <a:ea typeface="Arial"/>
                <a:cs typeface="Arial"/>
                <a:sym typeface="Arial"/>
              </a:rPr>
              <a:t>Software and Hardware Requirements:</a:t>
            </a:r>
            <a:r>
              <a:rPr lang="en-US" sz="1600">
                <a:latin typeface="Arial"/>
                <a:ea typeface="Arial"/>
                <a:cs typeface="Arial"/>
                <a:sym typeface="Arial"/>
              </a:rPr>
              <a:t> </a:t>
            </a:r>
            <a:endParaRPr sz="1600">
              <a:latin typeface="Arial"/>
              <a:ea typeface="Arial"/>
              <a:cs typeface="Arial"/>
              <a:sym typeface="Arial"/>
            </a:endParaRPr>
          </a:p>
          <a:p>
            <a:pPr indent="-190500" lvl="0" marL="342900" rtl="0" algn="just">
              <a:lnSpc>
                <a:spcPct val="150000"/>
              </a:lnSpc>
              <a:spcBef>
                <a:spcPts val="0"/>
              </a:spcBef>
              <a:spcAft>
                <a:spcPts val="0"/>
              </a:spcAft>
              <a:buClr>
                <a:schemeClr val="dk1"/>
              </a:buClr>
              <a:buSzPts val="2400"/>
              <a:buNone/>
            </a:pPr>
            <a:r>
              <a:rPr lang="en-US" sz="1600">
                <a:latin typeface="Arial"/>
                <a:ea typeface="Arial"/>
                <a:cs typeface="Arial"/>
                <a:sym typeface="Arial"/>
              </a:rPr>
              <a:t>		</a:t>
            </a:r>
            <a:r>
              <a:rPr b="1" lang="en-US" sz="1600">
                <a:latin typeface="Arial"/>
                <a:ea typeface="Arial"/>
                <a:cs typeface="Arial"/>
                <a:sym typeface="Arial"/>
              </a:rPr>
              <a:t>Software:</a:t>
            </a:r>
            <a:r>
              <a:rPr lang="en-US" sz="1600">
                <a:latin typeface="Arial"/>
                <a:ea typeface="Arial"/>
                <a:cs typeface="Arial"/>
                <a:sym typeface="Arial"/>
              </a:rPr>
              <a:t> Python, JavaScript, a web framework (e.g., Flask), an LLM API, a database (e.g., MongoDB), and version control (e.g., Git).</a:t>
            </a:r>
            <a:endParaRPr sz="1600">
              <a:latin typeface="Arial"/>
              <a:ea typeface="Arial"/>
              <a:cs typeface="Arial"/>
              <a:sym typeface="Arial"/>
            </a:endParaRPr>
          </a:p>
          <a:p>
            <a:pPr indent="0" lvl="0" marL="457200" rtl="0" algn="just">
              <a:lnSpc>
                <a:spcPct val="150000"/>
              </a:lnSpc>
              <a:spcBef>
                <a:spcPts val="0"/>
              </a:spcBef>
              <a:spcAft>
                <a:spcPts val="0"/>
              </a:spcAft>
              <a:buClr>
                <a:schemeClr val="dk1"/>
              </a:buClr>
              <a:buSzPts val="1100"/>
              <a:buFont typeface="Arial"/>
              <a:buNone/>
            </a:pPr>
            <a:r>
              <a:rPr b="1" lang="en-US" sz="1600">
                <a:latin typeface="Arial"/>
                <a:ea typeface="Arial"/>
                <a:cs typeface="Arial"/>
                <a:sym typeface="Arial"/>
              </a:rPr>
              <a:t>Hardware:</a:t>
            </a:r>
            <a:r>
              <a:rPr lang="en-US" sz="1600">
                <a:latin typeface="Arial"/>
                <a:ea typeface="Arial"/>
                <a:cs typeface="Arial"/>
                <a:sym typeface="Arial"/>
              </a:rPr>
              <a:t> Standard development machines, and a cloud-based server with sufficient CPU and RAM for deployment.</a:t>
            </a:r>
            <a:endParaRPr sz="1600">
              <a:latin typeface="Arial"/>
              <a:ea typeface="Arial"/>
              <a:cs typeface="Arial"/>
              <a:sym typeface="Arial"/>
            </a:endParaRPr>
          </a:p>
          <a:p>
            <a:pPr indent="-190500" lvl="0" marL="342900" rtl="0" algn="just">
              <a:lnSpc>
                <a:spcPct val="150000"/>
              </a:lnSpc>
              <a:spcBef>
                <a:spcPts val="0"/>
              </a:spcBef>
              <a:spcAft>
                <a:spcPts val="0"/>
              </a:spcAft>
              <a:buClr>
                <a:schemeClr val="dk1"/>
              </a:buClr>
              <a:buSzPts val="2400"/>
              <a:buNone/>
            </a:pPr>
            <a:r>
              <a:t/>
            </a:r>
            <a:endParaRPr sz="16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Innovation &amp; Novel Contributions</a:t>
            </a:r>
            <a:endParaRPr>
              <a:latin typeface="Cambria"/>
              <a:ea typeface="Cambria"/>
              <a:cs typeface="Cambria"/>
              <a:sym typeface="Cambria"/>
            </a:endParaRPr>
          </a:p>
        </p:txBody>
      </p:sp>
      <p:sp>
        <p:nvSpPr>
          <p:cNvPr id="131" name="Google Shape;131;p19"/>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200"/>
              </a:spcBef>
              <a:spcAft>
                <a:spcPts val="0"/>
              </a:spcAft>
              <a:buNone/>
            </a:pPr>
            <a:r>
              <a:t/>
            </a:r>
            <a:endParaRPr sz="1600">
              <a:latin typeface="Arial"/>
              <a:ea typeface="Arial"/>
              <a:cs typeface="Arial"/>
              <a:sym typeface="Arial"/>
            </a:endParaRPr>
          </a:p>
          <a:p>
            <a:pPr indent="-330200" lvl="0" marL="457200" rtl="0" algn="l">
              <a:lnSpc>
                <a:spcPct val="150000"/>
              </a:lnSpc>
              <a:spcBef>
                <a:spcPts val="0"/>
              </a:spcBef>
              <a:spcAft>
                <a:spcPts val="0"/>
              </a:spcAft>
              <a:buSzPts val="1600"/>
              <a:buChar char="●"/>
            </a:pPr>
            <a:r>
              <a:rPr b="1" lang="en-US" sz="1600">
                <a:latin typeface="Arial"/>
                <a:ea typeface="Arial"/>
                <a:cs typeface="Arial"/>
                <a:sym typeface="Arial"/>
              </a:rPr>
              <a:t>Multilingual Support:</a:t>
            </a:r>
            <a:r>
              <a:rPr lang="en-US" sz="1600">
                <a:latin typeface="Arial"/>
                <a:ea typeface="Arial"/>
                <a:cs typeface="Arial"/>
                <a:sym typeface="Arial"/>
              </a:rPr>
              <a:t> The system handles text and voice queries in Punjabi, English, and Hindi, making it highly accessible.</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en-US" sz="1600">
                <a:latin typeface="Arial"/>
                <a:ea typeface="Arial"/>
                <a:cs typeface="Arial"/>
                <a:sym typeface="Arial"/>
              </a:rPr>
              <a:t>The PGRKAM Smart Assistant innovates by using LLMs with retrieval-augmented generation (RAG) for task-oriented guidance.</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en-US" sz="1600">
                <a:latin typeface="Arial"/>
                <a:ea typeface="Arial"/>
                <a:cs typeface="Arial"/>
                <a:sym typeface="Arial"/>
              </a:rPr>
              <a:t>This approach combines document retrieval with LLM-based response generation, ensuring accurate and factual responses.</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en-US" sz="1600">
                <a:latin typeface="Arial"/>
                <a:ea typeface="Arial"/>
                <a:cs typeface="Arial"/>
                <a:sym typeface="Arial"/>
              </a:rPr>
              <a:t>Traditional rule-based chatbots cannot handle multi-turn dialogues or unseen queries effectively.</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en-US" sz="1600">
                <a:latin typeface="Arial"/>
                <a:ea typeface="Arial"/>
                <a:cs typeface="Arial"/>
                <a:sym typeface="Arial"/>
              </a:rPr>
              <a:t>General-purpose AI assistants lack domain-specific knowledge, leading to inaccurate answers for specialized content.</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en-US" sz="1600">
                <a:latin typeface="Arial"/>
                <a:ea typeface="Arial"/>
                <a:cs typeface="Arial"/>
                <a:sym typeface="Arial"/>
              </a:rPr>
              <a:t>The proposed method offers multilingual support and structured document integration, which is often missing in domain-specific chatbots.</a:t>
            </a:r>
            <a:endParaRPr sz="1600">
              <a:latin typeface="Arial"/>
              <a:ea typeface="Arial"/>
              <a:cs typeface="Arial"/>
              <a:sym typeface="Arial"/>
            </a:endParaRPr>
          </a:p>
          <a:p>
            <a:pPr indent="-190500" lvl="0" marL="342900" rtl="0" algn="just">
              <a:lnSpc>
                <a:spcPct val="200000"/>
              </a:lnSpc>
              <a:spcBef>
                <a:spcPts val="1200"/>
              </a:spcBef>
              <a:spcAft>
                <a:spcPts val="0"/>
              </a:spcAft>
              <a:buClr>
                <a:schemeClr val="dk1"/>
              </a:buClr>
              <a:buSzPts val="2400"/>
              <a:buNone/>
            </a:pPr>
            <a:r>
              <a:t/>
            </a:r>
            <a:endParaRPr sz="16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137" name="Google Shape;137;p20"/>
          <p:cNvPicPr preferRelativeResize="0"/>
          <p:nvPr/>
        </p:nvPicPr>
        <p:blipFill rotWithShape="1">
          <a:blip r:embed="rId3">
            <a:alphaModFix/>
          </a:blip>
          <a:srcRect b="0" l="0" r="0" t="0"/>
          <a:stretch/>
        </p:blipFill>
        <p:spPr>
          <a:xfrm>
            <a:off x="912050" y="1210875"/>
            <a:ext cx="10568750" cy="4495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143" name="Google Shape;143;p21"/>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44" name="Google Shape;144;p21"/>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45" name="Google Shape;145;p21"/>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0" i="0" lang="en-US" sz="2400" u="none" cap="none" strike="noStrike">
                <a:solidFill>
                  <a:srgbClr val="000000"/>
                </a:solidFill>
                <a:latin typeface="Cambria"/>
                <a:ea typeface="Cambria"/>
                <a:cs typeface="Cambria"/>
                <a:sym typeface="Cambria"/>
              </a:rPr>
              <a:t>The Github link provided should have public access permission.</a:t>
            </a:r>
            <a:endParaRPr b="0" i="0" sz="1400" u="none" cap="none" strike="noStrike">
              <a:solidFill>
                <a:srgbClr val="000000"/>
              </a:solidFill>
              <a:latin typeface="Arial"/>
              <a:ea typeface="Arial"/>
              <a:cs typeface="Arial"/>
              <a:sym typeface="Arial"/>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i="0" lang="en-US" sz="2400" u="none" cap="none" strike="noStrike">
                <a:solidFill>
                  <a:srgbClr val="953734"/>
                </a:solidFill>
                <a:latin typeface="Cambria"/>
                <a:ea typeface="Cambria"/>
                <a:cs typeface="Cambria"/>
                <a:sym typeface="Cambria"/>
              </a:rPr>
              <a:t>Github Link:</a:t>
            </a:r>
            <a:endParaRPr b="1" i="0" sz="2400" u="none" cap="none" strike="noStrike">
              <a:solidFill>
                <a:srgbClr val="953734"/>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i="0" lang="en-US" sz="2400" u="none" cap="none" strike="noStrike">
                <a:solidFill>
                  <a:srgbClr val="000000"/>
                </a:solidFill>
                <a:latin typeface="Cambria"/>
                <a:ea typeface="Cambria"/>
                <a:cs typeface="Cambria"/>
                <a:sym typeface="Cambria"/>
              </a:rPr>
              <a:t>	</a:t>
            </a:r>
            <a:r>
              <a:rPr b="1" i="0" lang="en-US" sz="2400" u="sng" cap="none" strike="noStrike">
                <a:solidFill>
                  <a:schemeClr val="hlink"/>
                </a:solidFill>
                <a:latin typeface="Cambria"/>
                <a:ea typeface="Cambria"/>
                <a:cs typeface="Cambria"/>
                <a:sym typeface="Cambria"/>
                <a:hlinkClick r:id="rId3"/>
              </a:rPr>
              <a:t>https://github.com/ashwin2947/PGRKAM-Smart-Assistant</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151" name="Google Shape;151;p22"/>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152400" rtl="0" algn="l">
              <a:lnSpc>
                <a:spcPct val="115000"/>
              </a:lnSpc>
              <a:spcBef>
                <a:spcPts val="0"/>
              </a:spcBef>
              <a:spcAft>
                <a:spcPts val="0"/>
              </a:spcAft>
              <a:buSzPts val="2400"/>
              <a:buNone/>
            </a:pPr>
            <a:r>
              <a:rPr lang="en-US" sz="1500">
                <a:latin typeface="Raleway Medium"/>
                <a:ea typeface="Raleway Medium"/>
                <a:cs typeface="Raleway Medium"/>
                <a:sym typeface="Raleway Medium"/>
              </a:rPr>
              <a:t>[1]. A. Vaswani et al., "Attention Is All You Need," in </a:t>
            </a:r>
            <a:r>
              <a:rPr i="1" lang="en-US" sz="1500">
                <a:latin typeface="Raleway Medium"/>
                <a:ea typeface="Raleway Medium"/>
                <a:cs typeface="Raleway Medium"/>
                <a:sym typeface="Raleway Medium"/>
              </a:rPr>
              <a:t>Advances in Neural Information Processing Systems</a:t>
            </a:r>
            <a:r>
              <a:rPr lang="en-US" sz="1500">
                <a:latin typeface="Raleway Medium"/>
                <a:ea typeface="Raleway Medium"/>
                <a:cs typeface="Raleway Medium"/>
                <a:sym typeface="Raleway Medium"/>
              </a:rPr>
              <a:t>, vol. 30, pp. 5998–6008, 2017.</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rPr lang="en-US" sz="1500">
                <a:latin typeface="Raleway Medium"/>
                <a:ea typeface="Raleway Medium"/>
                <a:cs typeface="Raleway Medium"/>
                <a:sym typeface="Raleway Medium"/>
              </a:rPr>
              <a:t>[2]. S. F. Chen and G. D. Chen, "Smart Chatbot to Assist Users of Employment Websites in Job Search, Skill Development, and Networking Opportunities," in </a:t>
            </a:r>
            <a:r>
              <a:rPr i="1" lang="en-US" sz="1500">
                <a:latin typeface="Raleway Medium"/>
                <a:ea typeface="Raleway Medium"/>
                <a:cs typeface="Raleway Medium"/>
                <a:sym typeface="Raleway Medium"/>
              </a:rPr>
              <a:t>International Journal for Research in Applied Science &amp; Engineering Technology</a:t>
            </a:r>
            <a:r>
              <a:rPr lang="en-US" sz="1500">
                <a:latin typeface="Raleway Medium"/>
                <a:ea typeface="Raleway Medium"/>
                <a:cs typeface="Raleway Medium"/>
                <a:sym typeface="Raleway Medium"/>
              </a:rPr>
              <a:t>, vol. 12, no. 4, Apr. 2024.</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rPr lang="en-US" sz="1500">
                <a:latin typeface="Raleway Medium"/>
                <a:ea typeface="Raleway Medium"/>
                <a:cs typeface="Raleway Medium"/>
                <a:sym typeface="Raleway Medium"/>
              </a:rPr>
              <a:t>[3]. G. B. Satrya, P. T. Daely, and S. Y. Shin, “AI Based Multilingual College Enquiry Voice Bot Using Python,” </a:t>
            </a:r>
            <a:r>
              <a:rPr i="1" lang="en-US" sz="1500">
                <a:latin typeface="Raleway Medium"/>
                <a:ea typeface="Raleway Medium"/>
                <a:cs typeface="Raleway Medium"/>
                <a:sym typeface="Raleway Medium"/>
              </a:rPr>
              <a:t>ResearchGate</a:t>
            </a:r>
            <a:r>
              <a:rPr lang="en-US" sz="1500">
                <a:latin typeface="Raleway Medium"/>
                <a:ea typeface="Raleway Medium"/>
                <a:cs typeface="Raleway Medium"/>
                <a:sym typeface="Raleway Medium"/>
              </a:rPr>
              <a:t>, May 2024.</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rPr lang="en-US" sz="1500">
                <a:latin typeface="Raleway Medium"/>
                <a:ea typeface="Raleway Medium"/>
                <a:cs typeface="Raleway Medium"/>
                <a:sym typeface="Raleway Medium"/>
              </a:rPr>
              <a:t>[4]. V. Sharma and P. K. Gupta, "Recommendation System using NLP and Collaborative Filtering," </a:t>
            </a:r>
            <a:r>
              <a:rPr i="1" lang="en-US" sz="1500">
                <a:latin typeface="Raleway Medium"/>
                <a:ea typeface="Raleway Medium"/>
                <a:cs typeface="Raleway Medium"/>
                <a:sym typeface="Raleway Medium"/>
              </a:rPr>
              <a:t>ResearchGate</a:t>
            </a:r>
            <a:r>
              <a:rPr lang="en-US" sz="1500">
                <a:latin typeface="Raleway Medium"/>
                <a:ea typeface="Raleway Medium"/>
                <a:cs typeface="Raleway Medium"/>
                <a:sym typeface="Raleway Medium"/>
              </a:rPr>
              <a:t>, May 2023.</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t/>
            </a:r>
            <a:endParaRPr sz="1500">
              <a:latin typeface="Raleway Medium"/>
              <a:ea typeface="Raleway Medium"/>
              <a:cs typeface="Raleway Medium"/>
              <a:sym typeface="Raleway Medium"/>
            </a:endParaRPr>
          </a:p>
          <a:p>
            <a:pPr indent="0" lvl="0" marL="152400" rtl="0" algn="l">
              <a:lnSpc>
                <a:spcPct val="115000"/>
              </a:lnSpc>
              <a:spcBef>
                <a:spcPts val="0"/>
              </a:spcBef>
              <a:spcAft>
                <a:spcPts val="0"/>
              </a:spcAft>
              <a:buSzPts val="2400"/>
              <a:buNone/>
            </a:pPr>
            <a:r>
              <a:rPr lang="en-US" sz="1500">
                <a:latin typeface="Raleway Medium"/>
                <a:ea typeface="Raleway Medium"/>
                <a:cs typeface="Raleway Medium"/>
                <a:sym typeface="Raleway Medium"/>
              </a:rPr>
              <a:t>[5]. G. K. Jain and P. Sravanthi, “Smart Career Advisor: A Machine Learning based Recommendation System,” in </a:t>
            </a:r>
            <a:r>
              <a:rPr i="1" lang="en-US" sz="1500">
                <a:latin typeface="Raleway Medium"/>
                <a:ea typeface="Raleway Medium"/>
                <a:cs typeface="Raleway Medium"/>
                <a:sym typeface="Raleway Medium"/>
              </a:rPr>
              <a:t>IEEE Xplore</a:t>
            </a:r>
            <a:r>
              <a:rPr lang="en-US" sz="1500">
                <a:latin typeface="Raleway Medium"/>
                <a:ea typeface="Raleway Medium"/>
                <a:cs typeface="Raleway Medium"/>
                <a:sym typeface="Raleway Medium"/>
              </a:rPr>
              <a:t>, Mar. 2024.</a:t>
            </a:r>
            <a:endParaRPr sz="1500">
              <a:latin typeface="Raleway Medium"/>
              <a:ea typeface="Raleway Medium"/>
              <a:cs typeface="Raleway Medium"/>
              <a:sym typeface="Raleway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3"/>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